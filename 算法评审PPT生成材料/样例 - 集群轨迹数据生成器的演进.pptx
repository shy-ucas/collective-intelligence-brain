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一句话：为了得到“集群轨迹 + 意图 + 语言描述”三者齐备的数据，先后做了三代生成器。按行对比：任务从哪来、航线怎么规划、运动怎么仿真、标签怎么得到、为什么换。 关键转折：第一代到第二代是为了可信度；第二代到第三代是为了速度；第三代内部从“每种意图各写一套规划器”重构为统一规划器。 可能被问：为什么从简化运动学绕到真实飞控又回到运动学？答：第一代的运动模型没校准、速度受航点间距支配；真实飞控提供可信参照；现在的快速仿真虽是运动学，但参数用真实飞控结果校准过，判定全部一致。这是螺旋上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这是我最早自己实现的原型，包括上游的自然语言任务编排。底层用 SPADE 多智能体平台和它的 BDI 扩展：每架无人机是一个 BDI 智能体，任务阶段的切换由 AgentSpeak 计划控制，飞机之间通过 Redis 共享状态。 航迹规划按动作类型套几何模板：绕行沿设施外接多边形走一段弧，突防是带横向摆动的直线，侦察是绕目标 80 米的盘旋圆；编队成员在沿航线的局部坐标系里按队形偏移。 如果被问 BDI 推理具体用在哪：主要用于任务阶段的切换控制，轨迹本身由规划库生成；主链路没有在线避障。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右图是 13 架飞机的飞行阶段时间线。两个机制：一是全局锁步，所有飞机共享一个仿真时钟，每 0.5 秒前进一步，前提是所有智能体都写完了这一步；二是航段起点的两阶段放行，同一编队全员到齐后，由编队长机写入放行标志，下一步全员同时出发，避免先到的先走、队形散开。 注意：同步发生在编队内部，三个编队的出发时刻并不相同。 局限直接引出后续设计：标签改为从实测轨迹计算、加入可复现机制、场景改为随机生成。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第二代每架飞机都跑真实飞控固件（ArduCopter 软件在环仿真）。规划方式是按任务生成航点模板：侦察是往返或回字形扫描，巡逻是沿区域外缘的闭合环线绕圈，多机在同一环上错开起点；航点作为任务下发给飞控连续执行，再从遥测里提取轨迹、按模板生成中文描述。 产出了第一批可用数据：两种意图、252 条合格轨迹、1008 条描述，已冻结，算法线会先用它打通链路。 问题是慢：单次约 4.5 分钟，只能实时跑；串行生产 1000 条约 74 小时。不要说成“ArduPilot 太慢”，它本身支持加速，是我们的时钟对齐检查在高负载下不稳定，只能实时运行。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仿真不模拟姿态、电机和传感器，只模拟飞机质心怎么沿航线运动。流程是：拿到航点和巡航速度；在每个航点插入圆角，让转弯连续；按巡航速度、转弯曲率、最大加速度和加加速度规划速度；再用两个响应时间常数模拟飞控跟踪的滞后；最后在统一的仿真时钟下以 10 Hz 输出位置和速度，多机按各自出发延迟叠加。 它“像真飞控”靠的是校准：让快速仿真按真实飞控跑过的同一份规划再飞一遍，只调 4 个参数，冻结后在没参与调参的 122 条上复查。判定结果全部一致，总时长误差中位数从 6% 降到 1.6%，留出集几乎一样，说明没有过拟合。 后来又做了一次转弯修正：原来每个转角几乎刹停，会留下假的“停留”，改成按转角自适应的圆角后，低速事件从 243 次降到 9 次。 如实说明：校准数据只有 2–3 m/s，4–10 m/s 是外推。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首版生成器给每种意图各写一套规划器，规则越补越多，60 个任务骨架只成功 31 个，修订一轮后反而降到 16 个，诊断指向架构问题，于是重构。 统一规划器的思路：每种意图只说明“要做什么”（目标、角色、作业形态），由同一个规划器求解“怎么飞”。先把限制区按安全距离膨胀得到自由空间，按意图随机抽取作业模板并在可行范围内随机参数，然后用可见图加最短路把起点、作业段和撤离连起来，检查整条航线。时刻层先单机预演，再按出发延迟叠加预测多机间距，同步版和递次版分别求解出发时刻。最后多机联合仿真，标签只从实测轨迹判定，并由不调用生产代码的独立审计复核。 左图是场景生成时的可达性检查，展示了可见图最短路和可行进场方向这两种几何要素。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第三代把研究要回答的问题写成了数据设计：给定一段多机轨迹和公开地图，能否找出空间上分散、但有共同任务的飞机，识别它们的目标、行为，以及组内是同时还是先后行动。 场景是随机生成的抽象几何：每个设施有三层区域，另有必须绕行的限制区。五种意图的判定都只看实测轨迹，比如突防必须到达设施附近，佯动不得到达且必须撤出圈层。 这些示例来自首版生成器，场景和意图定义在后来的重构中保持不变，所以可以用来说明设计；不是同一张地图，不用于说明对照。 项目性质：防御方视角的意图识别研究，生成器只产出带标签的合成轨迹，不控制任何真实无人机。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左边是数据集里最有特色的设计：同一个任务骨架生成同步、递次两个版本，航线、机数、场景都相同，只改组内的时间组织。图中颜色是时间：同步版各机开始核心作业相差 4 秒，递次版相差近 5 分钟。模型如果能区分两者，靠的只能是时间关系。 右边是一个工程判断：首版生成器失败很多，诊断发现约七成拒绝来自非目标设施挤在一起，和意图本身无关。所以先改场景布局规则：内层互不侵入，外层预警圈允许少量重叠。同一种子改版前后对比，改版后这类失败降为 0。 还有一条贯穿始终的防捷径规则：同一场景下五种意图共享同一次公共条件抽签，五种全部成功才保留，避免模型靠场景条件猜意图。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现在的状态：在统一规划器和场景改版的基础上，又补了几处突出问题并提速。试点 30 个任务骨架同步、递次全部配对成功；多向侦察的可行方案从 104 个增加到 1222 个；仿真器转角伪停留从 243 次降到 9 次。目前在做最后的整体验证。 近期：验证通过后加中文描述（每句都绑定实测事实字段）、按场景组导出，小批量试产，确认各意图特征分布均衡，然后冻结第一版，后台批量生产。 再下一步是规划器升级：现在进场、撤离这些衔接段是写死的规则，一处不通整条作废；改成从入口集合和撤离区域里做多目标最短路搜索，失败局部回溯，并从可行解里均匀随机选，提高成功率和多样性，也减轻只保留容易成功的配置带来的偏差。 算法线不等数据线，先用已冻结的小数据集打通链路。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784861"/>
            <a:ext cx="109728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624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480821"/>
            <a:ext cx="10769600" cy="456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784861"/>
            <a:ext cx="109728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624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480821"/>
            <a:ext cx="10769600" cy="456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数据集构建 · 生成器演进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轨迹数据生成器：三代演进与下一步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5400"/>
            <a:ext cx="109728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680" y="1290320"/>
            <a:ext cx="0" cy="4054475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4060" y="1389380"/>
          <a:ext cx="10734040" cy="3866515"/>
        </p:xfrm>
        <a:graphic>
          <a:graphicData uri="http://schemas.openxmlformats.org/drawingml/2006/table">
            <a:tbl>
              <a:tblPr/>
              <a:tblGrid>
                <a:gridCol w="1288085"/>
                <a:gridCol w="2361489"/>
                <a:gridCol w="2361489"/>
                <a:gridCol w="2361489"/>
                <a:gridCol w="2361489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第一代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SPADE-BDI 任务编排原型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第二代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真实飞控软件在环仿真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B9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第三代（当前）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B9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快速仿真 + 统一规划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下一步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5F1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规划器升级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任务来源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 / 自然语言编排的航段图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按任务自动生成航点（单区域）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随机抽象场景 + 意图任务规格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同左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航线规划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按动作类型套用固定几何（绕行多边形、摆动直线、盘旋圆），编队按队形偏移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任务驱动航点模板（往返 / 回字形扫描、同环盘旋）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统一集群规划器：作业模板 + 可见图最短路 + 时刻安排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衔接段改为多目标搜索，可回溯，在可行解中随机取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84391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运动仿真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多智能体锁步推进（0.5 s / 步），运动模型未校准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每架机运行真实飞控软件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点质量运动学（限加速度、加加速度），以真实飞控结果校准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同左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标签来源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取自任务设计，未经轨迹核验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从实测轨迹判定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从实测轨迹判定 + 独立审计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同左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4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转向原因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标签不可信、不可复现、场景靠人工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太慢：生产 1000 条约需 74 小时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固定衔接规则一处失败，整条作废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653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600" y="6339840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运动仿真“简化 → 真实飞控 → 校准后的快速仿真”：真实飞控一代保留为校准基准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23600" y="6339840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第一代 · 自研原型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0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基于 SPADE-BDI 多智能体框架的任务编排式轨迹生成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0320"/>
            <a:ext cx="6413500" cy="4495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第一代全局航迹总览：三个设施及其三层圈层，三个编队的航迹">    </p:cNvPr>
          <p:cNvPicPr>
            <a:picLocks noChangeAspect="1"/>
          </p:cNvPicPr>
          <p:nvPr/>
        </p:nvPicPr>
        <p:blipFill>
          <a:blip r:embed="rId1"/>
          <a:srcRect l="-102" r="-102" t="0" b="0"/>
          <a:stretch/>
        </p:blipFill>
        <p:spPr>
          <a:xfrm>
            <a:off x="615950" y="1296670"/>
            <a:ext cx="6400800" cy="4483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775" y="1293495"/>
            <a:ext cx="6407150" cy="44894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382395"/>
            <a:ext cx="3295650" cy="318770"/>
          </a:xfrm>
          <a:prstGeom prst="roundRect">
            <a:avLst>
              <a:gd name="adj" fmla="val 14940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  <p:txBody>
          <a:bodyPr wrap="square" lIns="76856" tIns="38756" rIns="0" bIns="13356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架 · 3 个编队：蓝、红绕行，绿突防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51700" y="1290320"/>
            <a:ext cx="44606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框架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51700" y="1557020"/>
            <a:ext cx="446062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SPADE 多智能体平台，每架无人机是一个 BDI（信念—愿望—意图）智能体，用 AgentSpeak 计划控制任务阶段切换；Redis 作为共享状态黑板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51700" y="2344420"/>
            <a:ext cx="44606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航迹规划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51700" y="2611120"/>
            <a:ext cx="446062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按动作类型套用几何：绕行沿设施外接多边形、突防为带横向摆动的直线、侦察为 80 m 盘旋圆；编队成员在 Frenet 坐标系中按队形偏移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51700" y="3398520"/>
            <a:ext cx="44606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链路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51700" y="3665220"/>
            <a:ext cx="446062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自然语言任务 → 任务图 → 航段图 → 每机航线 → 锁步仿真 → 轨迹与任务语义导出，已接入下游态势分析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23600" y="633984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第一代 · 多机同步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全局锁步时钟 + 编队到齐后统一放行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0320"/>
            <a:ext cx="8191500" cy="434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13 架无人机的飞行阶段时间线：初始化、飞向起点、到齐等待、任务飞行">    </p:cNvPr>
          <p:cNvPicPr>
            <a:picLocks noChangeAspect="1"/>
          </p:cNvPicPr>
          <p:nvPr/>
        </p:nvPicPr>
        <p:blipFill>
          <a:blip r:embed="rId1"/>
          <a:srcRect l="-27" r="-27" t="0" b="0"/>
          <a:stretch/>
        </p:blipFill>
        <p:spPr>
          <a:xfrm>
            <a:off x="615950" y="1296670"/>
            <a:ext cx="8178800" cy="4330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775" y="1293495"/>
            <a:ext cx="8185150" cy="43370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29700" y="1290320"/>
            <a:ext cx="26292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锁步时钟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29700" y="1557020"/>
            <a:ext cx="262928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每步 0.5 s，全部智能体写完本步才前进，多机轨迹可逐帧对齐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29700" y="2128520"/>
            <a:ext cx="26292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到齐放行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029700" y="2395220"/>
            <a:ext cx="262928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橙色为等待，绿色为任务飞行：同一编队全员到达起点后，下一步同时出发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029700" y="3195320"/>
            <a:ext cx="2552700" cy="1102360"/>
          </a:xfrm>
          <a:prstGeom prst="roundRect">
            <a:avLst>
              <a:gd name="adj" fmla="val 6912"/>
            </a:avLst>
          </a:prstGeom>
          <a:solidFill>
            <a:srgbClr val="FBFBF8"/>
          </a:solidFill>
          <a:ln/>
        </p:spPr>
      </p:sp>
      <p:sp>
        <p:nvSpPr>
          <p:cNvPr id="12" name="Text 9"/>
          <p:cNvSpPr/>
          <p:nvPr/>
        </p:nvSpPr>
        <p:spPr>
          <a:xfrm>
            <a:off x="9156700" y="3296920"/>
            <a:ext cx="236766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局限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56700" y="3533141"/>
            <a:ext cx="2367661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标签取自任务设计，未经轨迹核验；运动未校准；无随机种子，不可复现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23600" y="6339841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第二代 · 真实飞控仿真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每架机运行真实飞控软件：数据可信，但产量上不去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0320"/>
            <a:ext cx="3683000" cy="4224020"/>
          </a:xfrm>
          <a:prstGeom prst="roundRect">
            <a:avLst>
              <a:gd name="adj" fmla="val 2759"/>
            </a:avLst>
          </a:prstGeom>
          <a:solidFill>
            <a:srgbClr val="FBFBF8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290320"/>
            <a:ext cx="3683000" cy="4224020"/>
          </a:xfrm>
          <a:custGeom>
            <a:avLst/>
            <a:gdLst/>
            <a:ahLst/>
            <a:cxnLst/>
            <a:rect l="l" t="t" r="r" b="b"/>
            <a:pathLst>
              <a:path w="3683000" h="4224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581400" y="0"/>
                </a:lnTo>
                <a:arcTo hR="101600" wR="101600" stAng="16200000" swAng="5400000"/>
                <a:lnTo>
                  <a:pt x="3683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1529080"/>
            <a:ext cx="33748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规划与执行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8906" y="1846580"/>
            <a:ext cx="3281172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按任务生成航点模板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侦察：往返扫描或回字形扫描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巡逻：沿区域外缘闭合环线绕圈，多机同环错开起点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航点作为任务下发给飞控（ArduCopter），在软件在环仿真中连续执行，再从遥测提取轨迹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5000" y="1290320"/>
            <a:ext cx="3683000" cy="4224020"/>
          </a:xfrm>
          <a:prstGeom prst="roundRect">
            <a:avLst>
              <a:gd name="adj" fmla="val 2759"/>
            </a:avLst>
          </a:prstGeom>
          <a:solidFill>
            <a:srgbClr val="FBFBF8"/>
          </a:solidFill>
          <a:ln/>
        </p:spPr>
      </p:sp>
      <p:sp>
        <p:nvSpPr>
          <p:cNvPr id="9" name="Shape 7"/>
          <p:cNvSpPr/>
          <p:nvPr/>
        </p:nvSpPr>
        <p:spPr>
          <a:xfrm>
            <a:off x="4445000" y="1290320"/>
            <a:ext cx="3683000" cy="4224020"/>
          </a:xfrm>
          <a:custGeom>
            <a:avLst/>
            <a:gdLst/>
            <a:ahLst/>
            <a:cxnLst/>
            <a:rect l="l" t="t" r="r" b="b"/>
            <a:pathLst>
              <a:path w="3683000" h="4224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581400" y="0"/>
                </a:lnTo>
                <a:arcTo hR="101600" wR="101600" stAng="16200000" swAng="5400000"/>
                <a:lnTo>
                  <a:pt x="3683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10" name="Text 8"/>
          <p:cNvSpPr/>
          <p:nvPr/>
        </p:nvSpPr>
        <p:spPr>
          <a:xfrm>
            <a:off x="4648200" y="1529080"/>
            <a:ext cx="33748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4306" y="1846580"/>
            <a:ext cx="3281172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侦察、巡逻两种意图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 260 次，合格 252 条（96.9%）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中文描述 1008 条，训练 / 测试模板分开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按场景组划分训练 / 测试，防止场景泄漏</a:t>
            </a:r>
            <a:endParaRPr lang="en-US" sz="1200" dirty="0"/>
          </a:p>
          <a:p>
            <a:pPr algn="l" marL="167894" indent="-167894">
              <a:lnSpc>
                <a:spcPts val="1860"/>
              </a:lnSpc>
              <a:buSzPct val="100000"/>
              <a:buChar char="•"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已冻结，作为算法链路的首批数据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0400" y="1290320"/>
            <a:ext cx="3302000" cy="2035810"/>
          </a:xfrm>
          <a:prstGeom prst="roundRect">
            <a:avLst>
              <a:gd name="adj" fmla="val 4991"/>
            </a:avLst>
          </a:prstGeom>
          <a:solidFill>
            <a:srgbClr val="FBFB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80400" y="1290320"/>
            <a:ext cx="3302000" cy="2035810"/>
          </a:xfrm>
          <a:custGeom>
            <a:avLst/>
            <a:gdLst/>
            <a:ahLst/>
            <a:cxnLst/>
            <a:rect l="l" t="t" r="r" b="b"/>
            <a:pathLst>
              <a:path w="3302000" h="20358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00400" y="0"/>
                </a:lnTo>
                <a:arcTo hR="101600" wR="101600" stAng="16200000" swAng="5400000"/>
                <a:lnTo>
                  <a:pt x="3302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B85A1E"/>
          </a:solidFill>
          <a:ln/>
        </p:spPr>
      </p:sp>
      <p:sp>
        <p:nvSpPr>
          <p:cNvPr id="14" name="Text 12"/>
          <p:cNvSpPr/>
          <p:nvPr/>
        </p:nvSpPr>
        <p:spPr>
          <a:xfrm>
            <a:off x="8483600" y="1503680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3600" y="1755141"/>
            <a:ext cx="298246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约 4.5 分钟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83600" y="2240280"/>
            <a:ext cx="298246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单次运行只能实时进行，四成以上时间花在起飞、降落等与数据无关的环节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80400" y="3478530"/>
            <a:ext cx="3302000" cy="2035810"/>
          </a:xfrm>
          <a:prstGeom prst="roundRect">
            <a:avLst>
              <a:gd name="adj" fmla="val 4991"/>
            </a:avLst>
          </a:prstGeom>
          <a:solidFill>
            <a:srgbClr val="FBFB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80400" y="3478530"/>
            <a:ext cx="3302000" cy="2035810"/>
          </a:xfrm>
          <a:custGeom>
            <a:avLst/>
            <a:gdLst/>
            <a:ahLst/>
            <a:cxnLst/>
            <a:rect l="l" t="t" r="r" b="b"/>
            <a:pathLst>
              <a:path w="3302000" h="20358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00400" y="0"/>
                </a:lnTo>
                <a:arcTo hR="101600" wR="101600" stAng="16200000" swAng="5400000"/>
                <a:lnTo>
                  <a:pt x="3302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B85A1E"/>
          </a:solidFill>
          <a:ln/>
        </p:spPr>
      </p:sp>
      <p:sp>
        <p:nvSpPr>
          <p:cNvPr id="19" name="Text 17"/>
          <p:cNvSpPr/>
          <p:nvPr/>
        </p:nvSpPr>
        <p:spPr>
          <a:xfrm>
            <a:off x="8483600" y="3691891"/>
            <a:ext cx="29824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83600" y="3943350"/>
            <a:ext cx="298246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约 74 小时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83600" y="4428491"/>
            <a:ext cx="30988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串行生产 1000 条所需时间，无法扩大规模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5628639"/>
            <a:ext cx="10972800" cy="416560"/>
          </a:xfrm>
          <a:prstGeom prst="roundRect">
            <a:avLst>
              <a:gd name="adj" fmla="val 18293"/>
            </a:avLst>
          </a:prstGeom>
          <a:solidFill>
            <a:srgbClr val="D6E6E5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研究只需平面位置与速度轨迹，用不到姿态、电机、传感器细节 → 改用自研快速仿真，真实飞控运行保留为校准基准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23600" y="6339839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第三代 · 快速仿真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点质量运动学 + 用真实飞控数据校准参数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293496"/>
            <a:ext cx="1883410" cy="1431290"/>
          </a:xfrm>
          <a:prstGeom prst="roundRect">
            <a:avLst>
              <a:gd name="adj" fmla="val 5989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380" y="1435100"/>
            <a:ext cx="1651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航点序列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4380" y="1699261"/>
            <a:ext cx="16510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规划器输出的航点与巡航速度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75560" y="1945639"/>
            <a:ext cx="2286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83535" y="1293496"/>
            <a:ext cx="1883410" cy="1431290"/>
          </a:xfrm>
          <a:prstGeom prst="roundRect">
            <a:avLst>
              <a:gd name="adj" fmla="val 5989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25140" y="1435100"/>
            <a:ext cx="1651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拐角平滑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25140" y="1699261"/>
            <a:ext cx="16510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航点处插入圆角曲线，圆角大小随转角自适应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945639"/>
            <a:ext cx="2286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54295" y="1293496"/>
            <a:ext cx="1883410" cy="1431290"/>
          </a:xfrm>
          <a:prstGeom prst="roundRect">
            <a:avLst>
              <a:gd name="adj" fmla="val 5989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95900" y="1435100"/>
            <a:ext cx="1651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速度规划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95900" y="1699261"/>
            <a:ext cx="1651000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巡航速度、转弯曲率、加速度 ≤ 3.75 m/s²、加加速度 ≤ 14 m/s³ 共同限速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17080" y="1945639"/>
            <a:ext cx="2286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25055" y="1293496"/>
            <a:ext cx="1883410" cy="1431290"/>
          </a:xfrm>
          <a:prstGeom prst="roundRect">
            <a:avLst>
              <a:gd name="adj" fmla="val 5989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66660" y="1435100"/>
            <a:ext cx="1651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响应跟踪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566660" y="1699261"/>
            <a:ext cx="165100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两个响应时间常数（0.10 s / 0.475 s）刻画飞控跟踪滞后</a:t>
            </a:r>
            <a:endParaRPr lang="en-US" sz="12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87840" y="1945639"/>
            <a:ext cx="228600" cy="127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95815" y="1293496"/>
            <a:ext cx="1883410" cy="1431290"/>
          </a:xfrm>
          <a:prstGeom prst="roundRect">
            <a:avLst>
              <a:gd name="adj" fmla="val 5989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37420" y="1435100"/>
            <a:ext cx="1651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⑤ 10 Hz 输出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837420" y="1699261"/>
            <a:ext cx="165100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统一仿真时钟下输出位置与速度，多机按出发延迟叠加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09600" y="2842261"/>
            <a:ext cx="3556000" cy="3202940"/>
          </a:xfrm>
          <a:prstGeom prst="roundRect">
            <a:avLst>
              <a:gd name="adj" fmla="val 3172"/>
            </a:avLst>
          </a:prstGeom>
          <a:solidFill>
            <a:srgbClr val="FBFBF8"/>
          </a:solidFill>
          <a:ln/>
        </p:spPr>
      </p:sp>
      <p:sp>
        <p:nvSpPr>
          <p:cNvPr id="24" name="Shape 18"/>
          <p:cNvSpPr/>
          <p:nvPr/>
        </p:nvSpPr>
        <p:spPr>
          <a:xfrm>
            <a:off x="609600" y="2842261"/>
            <a:ext cx="3556000" cy="3202940"/>
          </a:xfrm>
          <a:custGeom>
            <a:avLst/>
            <a:gdLst/>
            <a:ahLst/>
            <a:cxnLst/>
            <a:rect l="l" t="t" r="r" b="b"/>
            <a:pathLst>
              <a:path w="3556000" h="3202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454400" y="0"/>
                </a:lnTo>
                <a:arcTo hR="101600" wR="101600" stAng="16200000" swAng="5400000"/>
                <a:lnTo>
                  <a:pt x="3556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6243A"/>
          </a:solidFill>
          <a:ln/>
        </p:spPr>
      </p:sp>
      <p:sp>
        <p:nvSpPr>
          <p:cNvPr id="25" name="Text 19"/>
          <p:cNvSpPr/>
          <p:nvPr/>
        </p:nvSpPr>
        <p:spPr>
          <a:xfrm>
            <a:off x="812800" y="3068321"/>
            <a:ext cx="32440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怎么校准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12800" y="3373121"/>
            <a:ext cx="3244088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让快速仿真按真实飞控跑过的同一份规划再飞一遍，对比判定结果、运动模式和各阶段时长。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只调 4 个参数：最大加速度、加加速度上限、两个响应时间；有界坐标搜索至多 25 组，按总时长误差选优后冻结。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282 条用于调参，另留 122 条检查过拟合。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18000" y="2842261"/>
            <a:ext cx="2319814" cy="3202940"/>
          </a:xfrm>
          <a:prstGeom prst="roundRect">
            <a:avLst>
              <a:gd name="adj" fmla="val 4380"/>
            </a:avLst>
          </a:prstGeom>
          <a:solidFill>
            <a:srgbClr val="FBFBF8"/>
          </a:solidFill>
          <a:ln/>
        </p:spPr>
      </p:sp>
      <p:sp>
        <p:nvSpPr>
          <p:cNvPr id="28" name="Shape 22"/>
          <p:cNvSpPr/>
          <p:nvPr/>
        </p:nvSpPr>
        <p:spPr>
          <a:xfrm>
            <a:off x="4318000" y="2842261"/>
            <a:ext cx="2319814" cy="3202940"/>
          </a:xfrm>
          <a:custGeom>
            <a:avLst/>
            <a:gdLst/>
            <a:ahLst/>
            <a:cxnLst/>
            <a:rect l="l" t="t" r="r" b="b"/>
            <a:pathLst>
              <a:path w="2319814" h="3202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218214" y="0"/>
                </a:lnTo>
                <a:arcTo hR="101600" wR="101600" stAng="16200000" swAng="5400000"/>
                <a:lnTo>
                  <a:pt x="231981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29" name="Text 23"/>
          <p:cNvSpPr/>
          <p:nvPr/>
        </p:nvSpPr>
        <p:spPr>
          <a:xfrm>
            <a:off x="4495800" y="3055621"/>
            <a:ext cx="20231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判定一致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495800" y="3307082"/>
            <a:ext cx="20231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282/282</a:t>
            </a:r>
            <a:endParaRPr lang="en-US" sz="3200" dirty="0"/>
          </a:p>
        </p:txBody>
      </p:sp>
      <p:sp>
        <p:nvSpPr>
          <p:cNvPr id="31" name="Text 25"/>
          <p:cNvSpPr/>
          <p:nvPr/>
        </p:nvSpPr>
        <p:spPr>
          <a:xfrm>
            <a:off x="4495800" y="3792221"/>
            <a:ext cx="202314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留出集 122 / 122，可识别的运动模式全部一致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790214" y="2842261"/>
            <a:ext cx="2319893" cy="3202940"/>
          </a:xfrm>
          <a:prstGeom prst="roundRect">
            <a:avLst>
              <a:gd name="adj" fmla="val 4380"/>
            </a:avLst>
          </a:prstGeom>
          <a:solidFill>
            <a:srgbClr val="FBFBF8"/>
          </a:solidFill>
          <a:ln/>
        </p:spPr>
      </p:sp>
      <p:sp>
        <p:nvSpPr>
          <p:cNvPr id="33" name="Shape 27"/>
          <p:cNvSpPr/>
          <p:nvPr/>
        </p:nvSpPr>
        <p:spPr>
          <a:xfrm>
            <a:off x="6790214" y="2842261"/>
            <a:ext cx="2319893" cy="3202940"/>
          </a:xfrm>
          <a:custGeom>
            <a:avLst/>
            <a:gdLst/>
            <a:ahLst/>
            <a:cxnLst/>
            <a:rect l="l" t="t" r="r" b="b"/>
            <a:pathLst>
              <a:path w="2319893" h="3202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218293" y="0"/>
                </a:lnTo>
                <a:arcTo hR="101600" wR="101600" stAng="16200000" swAng="5400000"/>
                <a:lnTo>
                  <a:pt x="23198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34" name="Text 28"/>
          <p:cNvSpPr/>
          <p:nvPr/>
        </p:nvSpPr>
        <p:spPr>
          <a:xfrm>
            <a:off x="6968014" y="3055621"/>
            <a:ext cx="20232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时长误差中位数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68014" y="3307082"/>
            <a:ext cx="202322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1.6%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6968014" y="3792221"/>
            <a:ext cx="2023222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调参前 6.3%；留出集 6.4% → 1.6%，没有过拟合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9262507" y="2842261"/>
            <a:ext cx="2319893" cy="3202940"/>
          </a:xfrm>
          <a:prstGeom prst="roundRect">
            <a:avLst>
              <a:gd name="adj" fmla="val 4380"/>
            </a:avLst>
          </a:prstGeom>
          <a:solidFill>
            <a:srgbClr val="FBFBF8"/>
          </a:solidFill>
          <a:ln/>
        </p:spPr>
      </p:sp>
      <p:sp>
        <p:nvSpPr>
          <p:cNvPr id="38" name="Shape 32"/>
          <p:cNvSpPr/>
          <p:nvPr/>
        </p:nvSpPr>
        <p:spPr>
          <a:xfrm>
            <a:off x="9262507" y="2842261"/>
            <a:ext cx="2319893" cy="3202940"/>
          </a:xfrm>
          <a:custGeom>
            <a:avLst/>
            <a:gdLst/>
            <a:ahLst/>
            <a:cxnLst/>
            <a:rect l="l" t="t" r="r" b="b"/>
            <a:pathLst>
              <a:path w="2319893" h="3202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218293" y="0"/>
                </a:lnTo>
                <a:arcTo hR="101600" wR="101600" stAng="16200000" swAng="5400000"/>
                <a:lnTo>
                  <a:pt x="231989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39" name="Text 33"/>
          <p:cNvSpPr/>
          <p:nvPr/>
        </p:nvSpPr>
        <p:spPr>
          <a:xfrm>
            <a:off x="9440307" y="3055621"/>
            <a:ext cx="202322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速度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440307" y="3307082"/>
            <a:ext cx="202322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几十倍速</a:t>
            </a:r>
            <a:endParaRPr lang="en-US" sz="3200" dirty="0"/>
          </a:p>
        </p:txBody>
      </p:sp>
      <p:sp>
        <p:nvSpPr>
          <p:cNvPr id="41" name="Text 35"/>
          <p:cNvSpPr/>
          <p:nvPr/>
        </p:nvSpPr>
        <p:spPr>
          <a:xfrm>
            <a:off x="9440307" y="3792221"/>
            <a:ext cx="2023222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飞行 33 分钟的任务，一两分钟算完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09600" y="63398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已知限制：校准数据速度为 2–3 m/s，4–10 m/s 段属外推，仅用合成航线做过高速检查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1023600" y="6339839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第三代 · 统一集群规划器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意图只描述“要做什么”，由统一规划器求解“怎么飞”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0321"/>
            <a:ext cx="4699000" cy="45021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场景可达性检查示例：三个设施，可行进场方向弧，绕开障碍的最短路与被阻挡的直线">    </p:cNvPr>
          <p:cNvPicPr>
            <a:picLocks noChangeAspect="1"/>
          </p:cNvPicPr>
          <p:nvPr/>
        </p:nvPicPr>
        <p:blipFill>
          <a:blip r:embed="rId1"/>
          <a:srcRect l="-18" r="-18" t="0" b="0"/>
          <a:stretch/>
        </p:blipFill>
        <p:spPr>
          <a:xfrm>
            <a:off x="615950" y="1296671"/>
            <a:ext cx="4686300" cy="4489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775" y="1293496"/>
            <a:ext cx="4692650" cy="449580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401" y="1290321"/>
            <a:ext cx="6132735" cy="216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任务规格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：意图、目标设施、任务组与角色，不规定航线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自由空间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：限制区按安全距离向外膨胀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作业形态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：按意图随机抽取模板（扫描带、环线、抵近—折返、穿越线），参数在可行范围内随机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连接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：可见图 + 最短路，连接起点、作业段与撤离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整航线检查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：禁区、可飞性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时刻安排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：先单机预演，再按出发延迟叠加；同步版、递次版分别求解，保证机间距 ≥ 2 m</a:t>
            </a:r>
            <a:endParaRPr lang="en-US" sz="1250" dirty="0"/>
          </a:p>
          <a:p>
            <a:pPr algn="l" marL="167799" indent="-167799">
              <a:lnSpc>
                <a:spcPts val="1875"/>
              </a:lnSpc>
              <a:buSzPct val="100000"/>
              <a:buFontTx/>
              <a:buAutoNum type="arabicPeriod" startAt="1"/>
            </a:pPr>
            <a:r>
              <a:rPr lang="en-US" sz="125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联合仿真</a:t>
            </a: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：多机一起飞，标签从实测轨迹判定，独立审计复核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537200" y="3535046"/>
            <a:ext cx="622655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左图：场景可达性检查示例。绿色弧为可行进场方向，实线为绕开障碍的最短路，红色点线为被障碍阻挡的直线。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7200" y="4078607"/>
            <a:ext cx="6045200" cy="619760"/>
          </a:xfrm>
          <a:prstGeom prst="roundRect">
            <a:avLst>
              <a:gd name="adj" fmla="val 12295"/>
            </a:avLst>
          </a:prstGeom>
          <a:solidFill>
            <a:srgbClr val="ECEFF1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首版每种意图各写一套规划器，规则越补越多，骨架成功数反而从 31/60 降到 16/60，因此重构为统一规划器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023600" y="6339839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第三代 · 场景与意图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多设施抽象场景下的五种意图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90321"/>
            <a:ext cx="11301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1–3 个设施（各含外层预警、中层警戒、内层禁入三层区域）· 1–3 个限制区 · 每次 4–12 架 · 巡航 4–10 m/s</a:t>
            </a:r>
            <a:endParaRPr lang="en-US" sz="1300" dirty="0"/>
          </a:p>
        </p:txBody>
      </p:sp>
      <p:pic>
        <p:nvPicPr>
          <p:cNvPr id="5" name="Image 0" descr="过境示例：两个任务组穿越设施区域后离开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615950" y="1642111"/>
            <a:ext cx="2076450" cy="2311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775" y="1638936"/>
            <a:ext cx="2082800" cy="23177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4010661"/>
            <a:ext cx="2151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9600" y="4290061"/>
            <a:ext cx="2151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进入后穿越离开，途中不停留</a:t>
            </a:r>
            <a:endParaRPr lang="en-US" sz="1200" dirty="0"/>
          </a:p>
        </p:txBody>
      </p:sp>
      <p:pic>
        <p:nvPicPr>
          <p:cNvPr id="9" name="Image 1" descr="侦察示例：设施外围的往返扫描航迹">    </p:cNvPr>
          <p:cNvPicPr>
            <a:picLocks noChangeAspect="1"/>
          </p:cNvPicPr>
          <p:nvPr/>
        </p:nvPicPr>
        <p:blipFill>
          <a:blip r:embed="rId2"/>
          <a:srcRect l="128" r="128" t="0" b="0"/>
          <a:stretch/>
        </p:blipFill>
        <p:spPr>
          <a:xfrm>
            <a:off x="2832100" y="1642111"/>
            <a:ext cx="2076450" cy="2311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28925" y="1638936"/>
            <a:ext cx="2082800" cy="23177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25750" y="4010661"/>
            <a:ext cx="2151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侦察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825750" y="4290061"/>
            <a:ext cx="215182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区域往返扫描，或抵近停留观察</a:t>
            </a:r>
            <a:endParaRPr lang="en-US" sz="1200" dirty="0"/>
          </a:p>
        </p:txBody>
      </p:sp>
      <p:pic>
        <p:nvPicPr>
          <p:cNvPr id="13" name="Image 2" descr="游弋监视示例：绕设施的环形巡视航迹">    </p:cNvPr>
          <p:cNvPicPr>
            <a:picLocks noChangeAspect="1"/>
          </p:cNvPicPr>
          <p:nvPr/>
        </p:nvPicPr>
        <p:blipFill>
          <a:blip r:embed="rId3"/>
          <a:srcRect l="171" r="171" t="0" b="0"/>
          <a:stretch/>
        </p:blipFill>
        <p:spPr>
          <a:xfrm>
            <a:off x="5048250" y="1642111"/>
            <a:ext cx="2076450" cy="2311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45075" y="1638936"/>
            <a:ext cx="2082800" cy="23177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41900" y="4010661"/>
            <a:ext cx="2151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游弋监视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041900" y="4290061"/>
            <a:ext cx="2151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绕设施持续巡视、多次重访</a:t>
            </a:r>
            <a:endParaRPr lang="en-US" sz="1200" dirty="0"/>
          </a:p>
        </p:txBody>
      </p:sp>
      <p:pic>
        <p:nvPicPr>
          <p:cNvPr id="17" name="Image 3" descr="佯动示例：抵近警戒区后折返撤出">    </p:cNvPr>
          <p:cNvPicPr>
            <a:picLocks noChangeAspect="1"/>
          </p:cNvPicPr>
          <p:nvPr/>
        </p:nvPicPr>
        <p:blipFill>
          <a:blip r:embed="rId4"/>
          <a:srcRect l="72" r="72" t="0" b="0"/>
          <a:stretch/>
        </p:blipFill>
        <p:spPr>
          <a:xfrm>
            <a:off x="7264400" y="1642111"/>
            <a:ext cx="2076450" cy="23114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61225" y="1638936"/>
            <a:ext cx="2082800" cy="23177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258050" y="4010661"/>
            <a:ext cx="2151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佯动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258050" y="4290061"/>
            <a:ext cx="2151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抵近警戒区后折返，撤出圈层</a:t>
            </a:r>
            <a:endParaRPr lang="en-US" sz="1200" dirty="0"/>
          </a:p>
        </p:txBody>
      </p:sp>
      <p:pic>
        <p:nvPicPr>
          <p:cNvPr id="21" name="Image 4" descr="突防示例：一个任务组进入内层抵达设施附近">    </p:cNvPr>
          <p:cNvPicPr>
            <a:picLocks noChangeAspect="1"/>
          </p:cNvPicPr>
          <p:nvPr/>
        </p:nvPicPr>
        <p:blipFill>
          <a:blip r:embed="rId5"/>
          <a:srcRect l="59" r="59" t="0" b="0"/>
          <a:stretch/>
        </p:blipFill>
        <p:spPr>
          <a:xfrm>
            <a:off x="9480550" y="1642111"/>
            <a:ext cx="2076450" cy="2311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477375" y="1638936"/>
            <a:ext cx="2082800" cy="231775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474200" y="4010661"/>
            <a:ext cx="21518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突防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474200" y="4290061"/>
            <a:ext cx="21518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进入内层区域，抵达设施附近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09600" y="4831082"/>
            <a:ext cx="1158240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一个集群可含多个任务组，同组成员共享目标与角色，空间上可以分散。线为 10 Hz 仿真轨迹，三角为实测开始核心作业的位置，星为撤离终点，斜线区为限制区。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09600" y="63398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示例图来自首版生成器输出，分属不同场景，已放大到作业区域；抽象合成场景，仅用于意图识别研究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023600" y="6339839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第三代 · 两项关键设计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1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严格配对的时序对照，先消除与意图无关的失败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775" y="1293496"/>
            <a:ext cx="5403850" cy="3776980"/>
          </a:xfrm>
          <a:prstGeom prst="roundRect">
            <a:avLst>
              <a:gd name="adj" fmla="val 2606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1680" y="143510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同一任务骨架，只改组内时间组织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1680" y="1727200"/>
            <a:ext cx="2527300" cy="2444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游弋监视同步版：各机几乎同时开始绕设施巡视">    </p:cNvPr>
          <p:cNvPicPr>
            <a:picLocks noChangeAspect="1"/>
          </p:cNvPicPr>
          <p:nvPr/>
        </p:nvPicPr>
        <p:blipFill>
          <a:blip r:embed="rId1"/>
          <a:srcRect l="0" r="0" t="-9650" b="-9650"/>
          <a:stretch/>
        </p:blipFill>
        <p:spPr>
          <a:xfrm>
            <a:off x="748030" y="1733550"/>
            <a:ext cx="2514600" cy="2432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4855" y="1730375"/>
            <a:ext cx="2520950" cy="243840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1680" y="4210050"/>
            <a:ext cx="2597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同步版</a:t>
            </a: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：开始核心作业相差 4.1 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65500" y="1727200"/>
            <a:ext cx="2527300" cy="2444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游弋监视递次版：各机先后开始绕设施巡视">    </p:cNvPr>
          <p:cNvPicPr>
            <a:picLocks noChangeAspect="1"/>
          </p:cNvPicPr>
          <p:nvPr/>
        </p:nvPicPr>
        <p:blipFill>
          <a:blip r:embed="rId2"/>
          <a:srcRect l="0" r="0" t="-9650" b="-9650"/>
          <a:stretch/>
        </p:blipFill>
        <p:spPr>
          <a:xfrm>
            <a:off x="3371850" y="1733550"/>
            <a:ext cx="2514600" cy="24320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68675" y="1730375"/>
            <a:ext cx="2520950" cy="243840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65500" y="4210050"/>
            <a:ext cx="2597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递次版</a:t>
            </a: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：开始核心作业相差 283.6 秒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1680" y="4486914"/>
            <a:ext cx="5300421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航线、机数、场景完全相同（颜色为仿真时间），可直接检验模型能否区分“同时”与“先后”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5375" y="1293496"/>
            <a:ext cx="5403850" cy="3776980"/>
          </a:xfrm>
          <a:prstGeom prst="roundRect">
            <a:avLst>
              <a:gd name="adj" fmla="val 2606"/>
            </a:avLst>
          </a:prstGeom>
          <a:solidFill>
            <a:srgbClr val="FBFBF8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4280" y="143510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场景布局改版（同一场景种子）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304280" y="1727200"/>
            <a:ext cx="2527300" cy="2444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2" descr="改版前：三个设施的圈层互相压叠">    </p:cNvPr>
          <p:cNvPicPr>
            <a:picLocks noChangeAspect="1"/>
          </p:cNvPicPr>
          <p:nvPr/>
        </p:nvPicPr>
        <p:blipFill>
          <a:blip r:embed="rId3"/>
          <a:srcRect l="0" r="0" t="-461" b="-461"/>
          <a:stretch/>
        </p:blipFill>
        <p:spPr>
          <a:xfrm>
            <a:off x="6310630" y="1733550"/>
            <a:ext cx="2514600" cy="24320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07455" y="1730375"/>
            <a:ext cx="2520950" cy="243840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04280" y="4210050"/>
            <a:ext cx="2597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改版前</a:t>
            </a: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：设施圈层互相压叠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28100" y="1727200"/>
            <a:ext cx="2527300" cy="2444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3" descr="改版后：三个设施内层互不侵入">    </p:cNvPr>
          <p:cNvPicPr>
            <a:picLocks noChangeAspect="1"/>
          </p:cNvPicPr>
          <p:nvPr/>
        </p:nvPicPr>
        <p:blipFill>
          <a:blip r:embed="rId4"/>
          <a:srcRect l="0" r="0" t="-461" b="-461"/>
          <a:stretch/>
        </p:blipFill>
        <p:spPr>
          <a:xfrm>
            <a:off x="8934450" y="1733550"/>
            <a:ext cx="2514600" cy="243205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931275" y="1730375"/>
            <a:ext cx="2520950" cy="2438400"/>
          </a:xfrm>
          <a:prstGeom prst="rect">
            <a:avLst/>
          </a:prstGeom>
          <a:noFill/>
          <a:ln w="6350">
            <a:solidFill>
              <a:srgbClr val="D5DAE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928100" y="4210050"/>
            <a:ext cx="2597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改版后</a:t>
            </a: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：内层互不侵入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304280" y="4486914"/>
            <a:ext cx="5300421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 70% 的规划失败来自非目标设施的挤占，与意图无关；改版后这类失败降为 0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023600" y="6339842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13019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当前阶段与下一步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609600" y="784864"/>
            <a:ext cx="1130198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6243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第一版可量产生成器基本成型，正在整体验证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290321"/>
            <a:ext cx="3556000" cy="42240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290321"/>
            <a:ext cx="3556000" cy="4224020"/>
          </a:xfrm>
          <a:custGeom>
            <a:avLst/>
            <a:gdLst/>
            <a:ahLst/>
            <a:cxnLst/>
            <a:rect l="l" t="t" r="r" b="b"/>
            <a:pathLst>
              <a:path w="3556000" h="4224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454400" y="0"/>
                </a:lnTo>
                <a:arcTo hR="101600" wR="101600" stAng="16200000" swAng="5400000"/>
                <a:lnTo>
                  <a:pt x="3556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B85A1E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1529079"/>
            <a:ext cx="32440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8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现在在哪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1861821"/>
            <a:ext cx="3244088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在统一规划器 + 场景布局改版的基础上，补齐突出问题并提速：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2175" y="2426971"/>
            <a:ext cx="3157093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 30 个任务骨架全部严格配对</a:t>
            </a:r>
            <a:endParaRPr lang="en-US" sz="1250" dirty="0"/>
          </a:p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次公共条件抽签，五种意图全部成功</a:t>
            </a:r>
            <a:endParaRPr lang="en-US" sz="1250" dirty="0"/>
          </a:p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多向侦察可行方案 104 → 1222</a:t>
            </a:r>
            <a:endParaRPr lang="en-US" sz="1250" dirty="0"/>
          </a:p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转弯处伪停留 243 → 9 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8000" y="1290321"/>
            <a:ext cx="3556000" cy="42240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18000" y="1290321"/>
            <a:ext cx="3556000" cy="4224020"/>
          </a:xfrm>
          <a:custGeom>
            <a:avLst/>
            <a:gdLst/>
            <a:ahLst/>
            <a:cxnLst/>
            <a:rect l="l" t="t" r="r" b="b"/>
            <a:pathLst>
              <a:path w="3556000" h="4224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454400" y="0"/>
                </a:lnTo>
                <a:arcTo hR="101600" wR="101600" stAng="16200000" swAng="5400000"/>
                <a:lnTo>
                  <a:pt x="3556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F6E73"/>
          </a:solidFill>
          <a:ln/>
        </p:spPr>
      </p:sp>
      <p:sp>
        <p:nvSpPr>
          <p:cNvPr id="11" name="Text 9"/>
          <p:cNvSpPr/>
          <p:nvPr/>
        </p:nvSpPr>
        <p:spPr>
          <a:xfrm>
            <a:off x="4521200" y="1529079"/>
            <a:ext cx="32440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近期计划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7401" y="1861821"/>
            <a:ext cx="3150267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7799" indent="-167799">
              <a:lnSpc>
                <a:spcPts val="2000"/>
              </a:lnSpc>
              <a:buSzPct val="100000"/>
              <a:buFontTx/>
              <a:buAutoNum type="arabicPeriod" startAt="1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完成整体验证</a:t>
            </a:r>
            <a:endParaRPr lang="en-US" sz="1250" dirty="0"/>
          </a:p>
          <a:p>
            <a:pPr algn="l" marL="167799" indent="-167799">
              <a:lnSpc>
                <a:spcPts val="2000"/>
              </a:lnSpc>
              <a:buSzPct val="100000"/>
              <a:buFontTx/>
              <a:buAutoNum type="arabicPeriod" startAt="1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按模板生成中文描述，每句绑定实测事实</a:t>
            </a:r>
            <a:endParaRPr lang="en-US" sz="1250" dirty="0"/>
          </a:p>
          <a:p>
            <a:pPr algn="l" marL="167799" indent="-167799">
              <a:lnSpc>
                <a:spcPts val="2000"/>
              </a:lnSpc>
              <a:buSzPct val="100000"/>
              <a:buFontTx/>
              <a:buAutoNum type="arabicPeriod" startAt="1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按场景组划分训练 / 测试并导出</a:t>
            </a:r>
            <a:endParaRPr lang="en-US" sz="1250" dirty="0"/>
          </a:p>
          <a:p>
            <a:pPr algn="l" marL="167799" indent="-167799">
              <a:lnSpc>
                <a:spcPts val="2000"/>
              </a:lnSpc>
              <a:buSzPct val="100000"/>
              <a:buFontTx/>
              <a:buAutoNum type="arabicPeriod" startAt="1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小批量试产，检查各意图特征分布是否均衡</a:t>
            </a:r>
            <a:endParaRPr lang="en-US" sz="1250" dirty="0"/>
          </a:p>
          <a:p>
            <a:pPr algn="l" marL="167799" indent="-167799">
              <a:lnSpc>
                <a:spcPts val="2000"/>
              </a:lnSpc>
              <a:buSzPct val="100000"/>
              <a:buFontTx/>
              <a:buAutoNum type="arabicPeriod" startAt="1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冻结第一版，后台批量生产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6400" y="1290321"/>
            <a:ext cx="3556000" cy="4224020"/>
          </a:xfrm>
          <a:prstGeom prst="roundRect">
            <a:avLst>
              <a:gd name="adj" fmla="val 2857"/>
            </a:avLst>
          </a:prstGeom>
          <a:solidFill>
            <a:srgbClr val="FBFB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26400" y="1290321"/>
            <a:ext cx="3556000" cy="4224020"/>
          </a:xfrm>
          <a:custGeom>
            <a:avLst/>
            <a:gdLst/>
            <a:ahLst/>
            <a:cxnLst/>
            <a:rect l="l" t="t" r="r" b="b"/>
            <a:pathLst>
              <a:path w="3556000" h="4224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454400" y="0"/>
                </a:lnTo>
                <a:arcTo hR="101600" wR="101600" stAng="16200000" swAng="5400000"/>
                <a:lnTo>
                  <a:pt x="35560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62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529079"/>
            <a:ext cx="324408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规划器升级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8975" y="1861821"/>
            <a:ext cx="3157093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进场由固定入口改为“入口集合”，撤离由固定点改为“撤离区域”</a:t>
            </a:r>
            <a:endParaRPr lang="en-US" sz="1250" dirty="0"/>
          </a:p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多目标最短路搜索，失败时局部回溯，不再整条作废</a:t>
            </a:r>
            <a:endParaRPr lang="en-US" sz="1250" dirty="0"/>
          </a:p>
          <a:p>
            <a:pPr algn="l" marL="174625" indent="-17462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在所有可行解中均匀随机选取，不总取最短路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3474721"/>
            <a:ext cx="3244088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4653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目标：提高成功率与轨迹多样性，减轻“只保留易成功配置”的覆盖偏差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600" y="5628642"/>
            <a:ext cx="10972800" cy="416560"/>
          </a:xfrm>
          <a:prstGeom prst="roundRect">
            <a:avLst>
              <a:gd name="adj" fmla="val 18293"/>
            </a:avLst>
          </a:prstGeom>
          <a:solidFill>
            <a:srgbClr val="D6E6E5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4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与算法线并行：先用已冻结的第二代数据打通“轨迹 → 编码器 → 语言模型 → 描述”，两条线互不等待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6339842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已知限制：点质量运动学，4–10 m/s 段未经真实飞控校准；“全成功才保留”带来覆盖偏差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23600" y="6339842"/>
            <a:ext cx="558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集群轨迹数据生成器的演进">
  <a:themeElements>
    <a:clrScheme name="集群轨迹数据生成器的演进">
      <a:dk1>
        <a:srgbClr val="16243A"/>
      </a:dk1>
      <a:lt1>
        <a:srgbClr val="F6F5F1"/>
      </a:lt1>
      <a:dk2>
        <a:srgbClr val="4E5868"/>
      </a:dk2>
      <a:lt2>
        <a:srgbClr val="E0E0DF"/>
      </a:lt2>
      <a:accent1>
        <a:srgbClr val="0F6E73"/>
      </a:accent1>
      <a:accent2>
        <a:srgbClr val="B85A1E"/>
      </a:accent2>
      <a:accent3>
        <a:srgbClr val="46536A"/>
      </a:accent3>
      <a:accent4>
        <a:srgbClr val="6B7689"/>
      </a:accent4>
      <a:accent5>
        <a:srgbClr val="D6E6E5"/>
      </a:accent5>
      <a:accent6>
        <a:srgbClr val="9AA0A6"/>
      </a:accent6>
      <a:hlink>
        <a:srgbClr val="0563C1"/>
      </a:hlink>
      <a:folHlink>
        <a:srgbClr val="954F72"/>
      </a:folHlink>
    </a:clrScheme>
    <a:fontScheme name="集群轨迹数据生成器的演进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集群轨迹数据生成器的演进</dc:title>
  <dc:subject/>
  <dc:creator/>
  <cp:lastModifiedBy/>
  <cp:revision>1</cp:revision>
  <dcterms:created xsi:type="dcterms:W3CDTF">2026-10-18T04:42:20Z</dcterms:created>
  <dcterms:modified xsi:type="dcterms:W3CDTF">2026-10-18T04:42:20Z</dcterms:modified>
</cp:coreProperties>
</file>