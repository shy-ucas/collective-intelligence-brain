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39f95820024cd5" /><Relationship Type="http://schemas.openxmlformats.org/officeDocument/2006/relationships/extended-properties" Target="/docProps/app.xml" Id="Rdf8aaa4c96ce4eeb" /><Relationship Type="http://schemas.openxmlformats.org/officeDocument/2006/relationships/officeDocument" Target="/ppt/presentation.xml" Id="R306d3c21ab2446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e6634c28a4404b"/>
  </p:sldMasterIdLst>
  <p:notesMasterIdLst>
    <p:notesMasterId xmlns:r="http://schemas.openxmlformats.org/officeDocument/2006/relationships" r:id="R463fe411d8d04eab"/>
  </p:notesMasterIdLst>
  <p:sldIdLst>
    <p:sldId xmlns:r="http://schemas.openxmlformats.org/officeDocument/2006/relationships" id="256" r:id="R6c596126d45641c6"/>
    <p:sldId xmlns:r="http://schemas.openxmlformats.org/officeDocument/2006/relationships" id="257" r:id="R14571331fbbc47d3"/>
    <p:sldId xmlns:r="http://schemas.openxmlformats.org/officeDocument/2006/relationships" id="258" r:id="Rce20c69fb9dd4ed6"/>
    <p:sldId xmlns:r="http://schemas.openxmlformats.org/officeDocument/2006/relationships" id="259" r:id="R54d07318332549af"/>
    <p:sldId xmlns:r="http://schemas.openxmlformats.org/officeDocument/2006/relationships" id="260" r:id="Rd7743d6efa464d23"/>
    <p:sldId xmlns:r="http://schemas.openxmlformats.org/officeDocument/2006/relationships" id="261" r:id="R83ef8fd75f7c4f72"/>
    <p:sldId xmlns:r="http://schemas.openxmlformats.org/officeDocument/2006/relationships" id="262" r:id="Rc194c36daef44611"/>
    <p:sldId xmlns:r="http://schemas.openxmlformats.org/officeDocument/2006/relationships" id="263" r:id="Rac6cb2255ab84c3e"/>
    <p:sldId xmlns:r="http://schemas.openxmlformats.org/officeDocument/2006/relationships" id="264" r:id="Rfb6d524beedd407a"/>
    <p:sldId xmlns:r="http://schemas.openxmlformats.org/officeDocument/2006/relationships" id="265" r:id="Rf675f99c5e4e4914"/>
    <p:sldId xmlns:r="http://schemas.openxmlformats.org/officeDocument/2006/relationships" id="266" r:id="R0cdeef77684c488c"/>
    <p:sldId xmlns:r="http://schemas.openxmlformats.org/officeDocument/2006/relationships" id="267" r:id="Rd4fd2ca6ad5d4189"/>
    <p:sldId xmlns:r="http://schemas.openxmlformats.org/officeDocument/2006/relationships" id="268" r:id="R58e4465e0dd94ed1"/>
    <p:sldId xmlns:r="http://schemas.openxmlformats.org/officeDocument/2006/relationships" id="269" r:id="Rc4a308245efe4355"/>
    <p:sldId xmlns:r="http://schemas.openxmlformats.org/officeDocument/2006/relationships" id="270" r:id="Rb97a0bb07d9344c0"/>
    <p:sldId xmlns:r="http://schemas.openxmlformats.org/officeDocument/2006/relationships" id="271" r:id="R236c10dff7024e20"/>
    <p:sldId xmlns:r="http://schemas.openxmlformats.org/officeDocument/2006/relationships" id="272" r:id="R04eac3c7585c480b"/>
    <p:sldId xmlns:r="http://schemas.openxmlformats.org/officeDocument/2006/relationships" id="273" r:id="R146644bbb9f64e4f"/>
    <p:sldId xmlns:r="http://schemas.openxmlformats.org/officeDocument/2006/relationships" id="274" r:id="R30f1ca933b114b32"/>
    <p:sldId xmlns:r="http://schemas.openxmlformats.org/officeDocument/2006/relationships" id="275" r:id="R7758e629e8fc49bc"/>
    <p:sldId xmlns:r="http://schemas.openxmlformats.org/officeDocument/2006/relationships" id="276" r:id="R64a17bf0190e4cf7"/>
    <p:sldId xmlns:r="http://schemas.openxmlformats.org/officeDocument/2006/relationships" id="277" r:id="R4c819dd773294dcf"/>
    <p:sldId xmlns:r="http://schemas.openxmlformats.org/officeDocument/2006/relationships" id="278" r:id="R642d990b707b40be"/>
    <p:sldId xmlns:r="http://schemas.openxmlformats.org/officeDocument/2006/relationships" id="279" r:id="Rec26603f0d9f4942"/>
    <p:sldId xmlns:r="http://schemas.openxmlformats.org/officeDocument/2006/relationships" id="280" r:id="R10480f8b6f6b453b"/>
    <p:sldId xmlns:r="http://schemas.openxmlformats.org/officeDocument/2006/relationships" id="281" r:id="R560b2eeef4ac4cd6"/>
    <p:sldId xmlns:r="http://schemas.openxmlformats.org/officeDocument/2006/relationships" id="282" r:id="R16425bd3bd52408f"/>
    <p:sldId xmlns:r="http://schemas.openxmlformats.org/officeDocument/2006/relationships" id="283" r:id="R1de4f29b4af445a4"/>
    <p:sldId xmlns:r="http://schemas.openxmlformats.org/officeDocument/2006/relationships" id="284" r:id="Ra26b01eff56344ee"/>
    <p:sldId xmlns:r="http://schemas.openxmlformats.org/officeDocument/2006/relationships" id="285" r:id="R918efb0335ab4c44"/>
    <p:sldId xmlns:r="http://schemas.openxmlformats.org/officeDocument/2006/relationships" id="286" r:id="R44a2882ad4594b09"/>
    <p:sldId xmlns:r="http://schemas.openxmlformats.org/officeDocument/2006/relationships" id="287" r:id="Rb12020c5cb3744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cabbc7c40a4cf6" /><Relationship Type="http://schemas.openxmlformats.org/officeDocument/2006/relationships/slideMaster" Target="/ppt/slideMasters/slideMaster1.xml" Id="R35e6634c28a4404b" /><Relationship Type="http://schemas.openxmlformats.org/officeDocument/2006/relationships/notesMaster" Target="/ppt/notesMasters/notesMaster1.xml" Id="R463fe411d8d04eab" /><Relationship Type="http://schemas.openxmlformats.org/officeDocument/2006/relationships/presProps" Target="/ppt/presProps.xml" Id="R983367d4b4b94baf" /><Relationship Type="http://schemas.openxmlformats.org/officeDocument/2006/relationships/tableStyles" Target="/ppt/tableStyles.xml" Id="R1a5fb001790d4447" /><Relationship Type="http://schemas.openxmlformats.org/officeDocument/2006/relationships/slide" Target="/ppt/slides/slide1.xml" Id="R6c596126d45641c6" /><Relationship Type="http://schemas.openxmlformats.org/officeDocument/2006/relationships/slide" Target="/ppt/slides/slide2.xml" Id="R14571331fbbc47d3" /><Relationship Type="http://schemas.openxmlformats.org/officeDocument/2006/relationships/slide" Target="/ppt/slides/slide3.xml" Id="Rce20c69fb9dd4ed6" /><Relationship Type="http://schemas.openxmlformats.org/officeDocument/2006/relationships/slide" Target="/ppt/slides/slide4.xml" Id="R54d07318332549af" /><Relationship Type="http://schemas.openxmlformats.org/officeDocument/2006/relationships/slide" Target="/ppt/slides/slide5.xml" Id="Rd7743d6efa464d23" /><Relationship Type="http://schemas.openxmlformats.org/officeDocument/2006/relationships/slide" Target="/ppt/slides/slide6.xml" Id="R83ef8fd75f7c4f72" /><Relationship Type="http://schemas.openxmlformats.org/officeDocument/2006/relationships/slide" Target="/ppt/slides/slide7.xml" Id="Rc194c36daef44611" /><Relationship Type="http://schemas.openxmlformats.org/officeDocument/2006/relationships/slide" Target="/ppt/slides/slide8.xml" Id="Rac6cb2255ab84c3e" /><Relationship Type="http://schemas.openxmlformats.org/officeDocument/2006/relationships/slide" Target="/ppt/slides/slide9.xml" Id="Rfb6d524beedd407a" /><Relationship Type="http://schemas.openxmlformats.org/officeDocument/2006/relationships/slide" Target="/ppt/slides/slide10.xml" Id="Rf675f99c5e4e4914" /><Relationship Type="http://schemas.openxmlformats.org/officeDocument/2006/relationships/slide" Target="/ppt/slides/slide11.xml" Id="R0cdeef77684c488c" /><Relationship Type="http://schemas.openxmlformats.org/officeDocument/2006/relationships/slide" Target="/ppt/slides/slide12.xml" Id="Rd4fd2ca6ad5d4189" /><Relationship Type="http://schemas.openxmlformats.org/officeDocument/2006/relationships/slide" Target="/ppt/slides/slide13.xml" Id="R58e4465e0dd94ed1" /><Relationship Type="http://schemas.openxmlformats.org/officeDocument/2006/relationships/slide" Target="/ppt/slides/slide14.xml" Id="Rc4a308245efe4355" /><Relationship Type="http://schemas.openxmlformats.org/officeDocument/2006/relationships/slide" Target="/ppt/slides/slide15.xml" Id="Rb97a0bb07d9344c0" /><Relationship Type="http://schemas.openxmlformats.org/officeDocument/2006/relationships/slide" Target="/ppt/slides/slide16.xml" Id="R236c10dff7024e20" /><Relationship Type="http://schemas.openxmlformats.org/officeDocument/2006/relationships/slide" Target="/ppt/slides/slide17.xml" Id="R04eac3c7585c480b" /><Relationship Type="http://schemas.openxmlformats.org/officeDocument/2006/relationships/slide" Target="/ppt/slides/slide18.xml" Id="R146644bbb9f64e4f" /><Relationship Type="http://schemas.openxmlformats.org/officeDocument/2006/relationships/slide" Target="/ppt/slides/slide19.xml" Id="R30f1ca933b114b32" /><Relationship Type="http://schemas.openxmlformats.org/officeDocument/2006/relationships/slide" Target="/ppt/slides/slide20.xml" Id="R7758e629e8fc49bc" /><Relationship Type="http://schemas.openxmlformats.org/officeDocument/2006/relationships/slide" Target="/ppt/slides/slide21.xml" Id="R64a17bf0190e4cf7" /><Relationship Type="http://schemas.openxmlformats.org/officeDocument/2006/relationships/slide" Target="/ppt/slides/slide22.xml" Id="R4c819dd773294dcf" /><Relationship Type="http://schemas.openxmlformats.org/officeDocument/2006/relationships/slide" Target="/ppt/slides/slide23.xml" Id="R642d990b707b40be" /><Relationship Type="http://schemas.openxmlformats.org/officeDocument/2006/relationships/slide" Target="/ppt/slides/slide24.xml" Id="Rec26603f0d9f4942" /><Relationship Type="http://schemas.openxmlformats.org/officeDocument/2006/relationships/slide" Target="/ppt/slides/slide25.xml" Id="R10480f8b6f6b453b" /><Relationship Type="http://schemas.openxmlformats.org/officeDocument/2006/relationships/slide" Target="/ppt/slides/slide26.xml" Id="R560b2eeef4ac4cd6" /><Relationship Type="http://schemas.openxmlformats.org/officeDocument/2006/relationships/slide" Target="/ppt/slides/slide27.xml" Id="R16425bd3bd52408f" /><Relationship Type="http://schemas.openxmlformats.org/officeDocument/2006/relationships/slide" Target="/ppt/slides/slide28.xml" Id="R1de4f29b4af445a4" /><Relationship Type="http://schemas.openxmlformats.org/officeDocument/2006/relationships/slide" Target="/ppt/slides/slide29.xml" Id="Ra26b01eff56344ee" /><Relationship Type="http://schemas.openxmlformats.org/officeDocument/2006/relationships/slide" Target="/ppt/slides/slide30.xml" Id="R918efb0335ab4c44" /><Relationship Type="http://schemas.openxmlformats.org/officeDocument/2006/relationships/slide" Target="/ppt/slides/slide31.xml" Id="R44a2882ad4594b09" /><Relationship Type="http://schemas.openxmlformats.org/officeDocument/2006/relationships/slide" Target="/ppt/slides/slide32.xml" Id="Rb12020c5cb374478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权重（%）</c:v>
                </c:pt>
              </c:strCache>
            </c:strRef>
          </c:tx>
          <c:spPr>
            <a:solidFill>
              <a:srgbClr val="224E88"/>
            </a:solidFill>
            <a:ln>
              <a:noFill/>
            </a:ln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意图</c:v>
                </c:pt>
                <c:pt idx="1">
                  <c:v>空域</c:v>
                </c:pt>
                <c:pt idx="2">
                  <c:v>高度</c:v>
                </c:pt>
                <c:pt idx="3">
                  <c:v>行为</c:v>
                </c:pt>
                <c:pt idx="4">
                  <c:v>趋势</c:v>
                </c:pt>
                <c:pt idx="5">
                  <c:v>合规</c:v>
                </c:pt>
                <c:pt idx="6">
                  <c:v>集群</c:v>
                </c:pt>
                <c:pt idx="7">
                  <c:v>机型</c:v>
                </c:pt>
                <c:pt idx="8">
                  <c:v>载荷</c:v>
                </c:pt>
                <c:pt idx="9">
                  <c:v>飞手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6</c:v>
                </c:pt>
                <c:pt idx="5">
                  <c:v>12</c:v>
                </c:pt>
                <c:pt idx="6">
                  <c:v>7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24F-45FA-BDCE-B72068986D8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1001"/>
        <c:axId val="1002"/>
      </c:barChart>
      <c:catAx>
        <c:axId val="1001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90A1B8"/>
            </a:solidFill>
          </a:ln>
        </c:spPr>
        <c:txPr>
          <a:bodyPr/>
          <a:lstStyle/>
          <a:p>
            <a:pPr>
              <a:defRPr sz="1600"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1002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1002"/>
        <c:scaling>
          <c:orientation val="minMax"/>
          <c:max val="20"/>
          <c:min val="0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spPr>
          <a:ln>
            <a:solidFill>
              <a:srgbClr val="90A1B8"/>
            </a:solidFill>
          </a:ln>
        </c:spPr>
        <c:txPr>
          <a:bodyPr/>
          <a:lstStyle/>
          <a:p>
            <a:pPr>
              <a:defRPr sz="1500"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1001"/>
        <c:crosses val="autoZero"/>
        <c:crossBetween val="between"/>
        <c:majorUnit val="5"/>
      </c:valAx>
    </c:plotArea>
    <c:plotVisOnly val="1"/>
    <c:dispBlanksAs val="gap"/>
    <c:showDLblsOverMax val="1"/>
  </c:chart>
  <c:txPr>
    <a:bodyPr/>
    <a:lstStyle/>
    <a:p>
      <a:pPr>
        <a:defRPr sz="1500">
          <a:latin typeface="Microsoft YaHei"/>
          <a:ea typeface="Microsoft YaHei"/>
          <a:cs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分散布局</c:v>
                </c:pt>
              </c:strCache>
            </c:strRef>
          </c:tx>
          <c:spPr>
            <a:ln w="29209">
              <a:solidFill>
                <a:srgbClr val="224E88"/>
              </a:solidFill>
            </a:ln>
          </c:spPr>
          <c:marker>
            <c:symbol val="circle"/>
            <c:size val="7"/>
            <c:spPr>
              <a:solidFill>
                <a:srgbClr val="224E88"/>
              </a:solidFill>
              <a:ln>
                <a:solidFill>
                  <a:srgbClr val="224E88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65.82</c:v>
                </c:pt>
                <c:pt idx="1">
                  <c:v>280.91</c:v>
                </c:pt>
                <c:pt idx="2">
                  <c:v>579.88</c:v>
                </c:pt>
                <c:pt idx="3">
                  <c:v>1181.71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711-4D6F-A3FE-9641C408AD72}"/>
            </c:ext>
          </c:extLst>
        </c:ser>
        <c:ser>
          <c:idx val="1"/>
          <c:order val="1"/>
          <c:tx>
            <c:strRef>
              <c:f>Sheet1!$B$7</c:f>
              <c:strCache>
                <c:ptCount val="1"/>
                <c:pt idx="0">
                  <c:v>密集布局</c:v>
                </c:pt>
              </c:strCache>
            </c:strRef>
          </c:tx>
          <c:spPr>
            <a:ln w="29209">
              <a:solidFill>
                <a:srgbClr val="087F70"/>
              </a:solidFill>
            </a:ln>
          </c:spPr>
          <c:marker>
            <c:symbol val="circle"/>
            <c:size val="7"/>
            <c:spPr>
              <a:solidFill>
                <a:srgbClr val="087F70"/>
              </a:solidFill>
              <a:ln>
                <a:solidFill>
                  <a:srgbClr val="087F70"/>
                </a:solidFill>
              </a:ln>
            </c:spPr>
          </c:marker>
          <c:xVal>
            <c:numRef>
              <c:f>Sheet1!$A$8:$A$11</c:f>
              <c:numCache>
                <c:formatCode>General</c:formatCode>
                <c:ptCount val="4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</c:numCache>
            </c:numRef>
          </c:xVal>
          <c:yVal>
            <c:numRef>
              <c:f>Sheet1!$B$8:$B$11</c:f>
              <c:numCache>
                <c:formatCode>General</c:formatCode>
                <c:ptCount val="4"/>
                <c:pt idx="0">
                  <c:v>67.78</c:v>
                </c:pt>
                <c:pt idx="1">
                  <c:v>247.18</c:v>
                </c:pt>
                <c:pt idx="2">
                  <c:v>466.34</c:v>
                </c:pt>
                <c:pt idx="3">
                  <c:v>935.11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711-4D6F-A3FE-9641C408AD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01"/>
        <c:axId val="1002"/>
      </c:scatterChart>
      <c:valAx>
        <c:axId val="1001"/>
        <c:scaling>
          <c:orientation val="minMax"/>
          <c:max val="22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 sz="1600" b="0">
                    <a:solidFill>
                      <a:srgbClr val="1E293B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600">
                    <a:latin typeface="Microsoft YaHei"/>
                    <a:ea typeface="Microsoft YaHei"/>
                    <a:cs typeface="Microsoft YaHei"/>
                  </a:rPr>
                  <a:t>目标数（架）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90A1B8"/>
            </a:solidFill>
          </a:ln>
        </c:spPr>
        <c:txPr>
          <a:bodyPr/>
          <a:lstStyle/>
          <a:p>
            <a:pPr>
              <a:defRPr sz="1500"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1002"/>
        <c:crosses val="autoZero"/>
        <c:crossBetween val="midCat"/>
        <c:majorUnit val="50"/>
      </c:valAx>
      <c:valAx>
        <c:axId val="1002"/>
        <c:scaling>
          <c:orientation val="minMax"/>
          <c:max val="1400"/>
          <c:min val="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 sz="1600" b="0">
                    <a:solidFill>
                      <a:srgbClr val="1E293B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600">
                    <a:latin typeface="Microsoft YaHei"/>
                    <a:ea typeface="Microsoft YaHei"/>
                    <a:cs typeface="Microsoft YaHei"/>
                  </a:rPr>
                  <a:t>P95（ms）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90A1B8"/>
            </a:solidFill>
          </a:ln>
        </c:spPr>
        <c:txPr>
          <a:bodyPr/>
          <a:lstStyle/>
          <a:p>
            <a:pPr>
              <a:defRPr sz="1500"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1001"/>
        <c:crosses val="autoZero"/>
        <c:crossBetween val="midCat"/>
        <c:majorUnit val="200"/>
      </c:valAx>
    </c:plotArea>
    <c:legend>
      <c:legendPos val="b"/>
      <c:overlay val="0"/>
      <c:txPr>
        <a:bodyPr/>
        <a:lstStyle/>
        <a:p>
          <a:pPr>
            <a:defRPr sz="1600"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500">
          <a:latin typeface="Microsoft YaHei"/>
          <a:ea typeface="Microsoft YaHei"/>
          <a:cs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e3d448e3b447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62ac185db24edf" /><Relationship Type="http://schemas.openxmlformats.org/officeDocument/2006/relationships/notesMaster" Target="/ppt/notesMasters/notesMaster1.xml" Id="Rd5a39b7d9cea49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3bfe8aa4974b4e" /><Relationship Type="http://schemas.openxmlformats.org/officeDocument/2006/relationships/notesMaster" Target="/ppt/notesMasters/notesMaster1.xml" Id="R96be7a7ddf7146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c9a5ee0dd54930" /><Relationship Type="http://schemas.openxmlformats.org/officeDocument/2006/relationships/notesMaster" Target="/ppt/notesMasters/notesMaster1.xml" Id="Rfb3f7eb4a0d148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711819b1754bda" /><Relationship Type="http://schemas.openxmlformats.org/officeDocument/2006/relationships/notesMaster" Target="/ppt/notesMasters/notesMaster1.xml" Id="R607ec7dcfd2645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a78ae2a9ef4ec7" /><Relationship Type="http://schemas.openxmlformats.org/officeDocument/2006/relationships/notesMaster" Target="/ppt/notesMasters/notesMaster1.xml" Id="Ra87100a4319d4c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7af9f999ba41f8" /><Relationship Type="http://schemas.openxmlformats.org/officeDocument/2006/relationships/notesMaster" Target="/ppt/notesMasters/notesMaster1.xml" Id="Rca7337c68e2346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d2f6acc28b4bbd" /><Relationship Type="http://schemas.openxmlformats.org/officeDocument/2006/relationships/notesMaster" Target="/ppt/notesMasters/notesMaster1.xml" Id="Rab2169b1975f4f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c2a1f76a5f4ae8" /><Relationship Type="http://schemas.openxmlformats.org/officeDocument/2006/relationships/notesMaster" Target="/ppt/notesMasters/notesMaster1.xml" Id="Rd9183ceef4c24c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339a2a64fd4d1f" /><Relationship Type="http://schemas.openxmlformats.org/officeDocument/2006/relationships/notesMaster" Target="/ppt/notesMasters/notesMaster1.xml" Id="Ra440f51a721341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3847ec4d3c450e" /><Relationship Type="http://schemas.openxmlformats.org/officeDocument/2006/relationships/notesMaster" Target="/ppt/notesMasters/notesMaster1.xml" Id="R23f1e791649b48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e4e67948d84bfd" /><Relationship Type="http://schemas.openxmlformats.org/officeDocument/2006/relationships/notesMaster" Target="/ppt/notesMasters/notesMaster1.xml" Id="Ra2bd9fbab55844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40b52953484b33" /><Relationship Type="http://schemas.openxmlformats.org/officeDocument/2006/relationships/notesMaster" Target="/ppt/notesMasters/notesMaster1.xml" Id="R8f6583fa7ac342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98c6207c564509" /><Relationship Type="http://schemas.openxmlformats.org/officeDocument/2006/relationships/notesMaster" Target="/ppt/notesMasters/notesMaster1.xml" Id="R875b56f329b543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c714e694c543a9" /><Relationship Type="http://schemas.openxmlformats.org/officeDocument/2006/relationships/notesMaster" Target="/ppt/notesMasters/notesMaster1.xml" Id="R09135ccce8324d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4c728fb362455e" /><Relationship Type="http://schemas.openxmlformats.org/officeDocument/2006/relationships/notesMaster" Target="/ppt/notesMasters/notesMaster1.xml" Id="R0a560302cd3f4c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94e2b7cf8944c3" /><Relationship Type="http://schemas.openxmlformats.org/officeDocument/2006/relationships/notesMaster" Target="/ppt/notesMasters/notesMaster1.xml" Id="R9a68eae6d89840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7d4c7e992347ad" /><Relationship Type="http://schemas.openxmlformats.org/officeDocument/2006/relationships/notesMaster" Target="/ppt/notesMasters/notesMaster1.xml" Id="R916231cd9a44441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03d6d8303643fe" /><Relationship Type="http://schemas.openxmlformats.org/officeDocument/2006/relationships/notesMaster" Target="/ppt/notesMasters/notesMaster1.xml" Id="R7d5483cdb84442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290ec24497c4ba9" /><Relationship Type="http://schemas.openxmlformats.org/officeDocument/2006/relationships/notesMaster" Target="/ppt/notesMasters/notesMaster1.xml" Id="Re2ca21f8d2424b4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e35bd2395624932" /><Relationship Type="http://schemas.openxmlformats.org/officeDocument/2006/relationships/notesMaster" Target="/ppt/notesMasters/notesMaster1.xml" Id="R634878f7b6e44ca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5b0a5a306246a2" /><Relationship Type="http://schemas.openxmlformats.org/officeDocument/2006/relationships/notesMaster" Target="/ppt/notesMasters/notesMaster1.xml" Id="R5b7e8e85cc0647c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c0a401c4e7341ad" /><Relationship Type="http://schemas.openxmlformats.org/officeDocument/2006/relationships/notesMaster" Target="/ppt/notesMasters/notesMaster1.xml" Id="R22130f934b3848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7865fe77f6b4d1f" /><Relationship Type="http://schemas.openxmlformats.org/officeDocument/2006/relationships/notesMaster" Target="/ppt/notesMasters/notesMaster1.xml" Id="Rd4c21183abe1474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975e757b11b4d31" /><Relationship Type="http://schemas.openxmlformats.org/officeDocument/2006/relationships/notesMaster" Target="/ppt/notesMasters/notesMaster1.xml" Id="Rdeec569aec7d414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6fce538d4c14be2" /><Relationship Type="http://schemas.openxmlformats.org/officeDocument/2006/relationships/notesMaster" Target="/ppt/notesMasters/notesMaster1.xml" Id="Rcf53e31f427a46f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405b931a91d401d" /><Relationship Type="http://schemas.openxmlformats.org/officeDocument/2006/relationships/notesMaster" Target="/ppt/notesMasters/notesMaster1.xml" Id="Rb81f1f02fd234ac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dc2f80acd1548aa" /><Relationship Type="http://schemas.openxmlformats.org/officeDocument/2006/relationships/notesMaster" Target="/ppt/notesMasters/notesMaster1.xml" Id="R16d58bf5451d45d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49e8a65518e4b49" /><Relationship Type="http://schemas.openxmlformats.org/officeDocument/2006/relationships/notesMaster" Target="/ppt/notesMasters/notesMaster1.xml" Id="Ra574ad3e6b4f47e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4222da60416454b" /><Relationship Type="http://schemas.openxmlformats.org/officeDocument/2006/relationships/notesMaster" Target="/ppt/notesMasters/notesMaster1.xml" Id="R5cbee5dd6fc046f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4e8566544584b4b" /><Relationship Type="http://schemas.openxmlformats.org/officeDocument/2006/relationships/notesMaster" Target="/ppt/notesMasters/notesMaster1.xml" Id="R67a0959588f7441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f18af6d82c540b0" /><Relationship Type="http://schemas.openxmlformats.org/officeDocument/2006/relationships/notesMaster" Target="/ppt/notesMasters/notesMaster1.xml" Id="R4327cbcdc037456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f7bd755ebc94803" /><Relationship Type="http://schemas.openxmlformats.org/officeDocument/2006/relationships/notesMaster" Target="/ppt/notesMasters/notesMaster1.xml" Id="R226ca9181f7640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围绕现有可获得数据，解释从轨迹、身份和地图到群体、队形、意图、评分与辅助评估的计算过程。重点讲清方法原理、项目适配和验证范围。正文23页，附录9页。算法功能与性能结果分别标注证据，不把仿真性能当作真实识别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取材：本地实现基线 · v3.2 · situation-rule-v2.3.0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本页材料：本地实现基线 · v3.2 · situation-rule-v2.3.0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分析从上游已经形成的目标轨迹开始。本例有13个目标，设备、飞手和白名单各4条，地图包含3个设施与3个圈层，没有飞行计划、探测设备和资源输入。表格把这些输入与可计算能力逐项对应：轨迹支持分组、队形和行为，身份支持状态判断和豁免，空间数据支持关系与趋近证据。协议能够接收某类数据，不代表本例已经提供。最终响应既要有业务判断，也要保留缺失输入与质量状态；公司长期供数条件仍需联调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取材：project_reference §1.2、§3.1；同次 case_request.json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间分析在聚类前执行，形成每个目标的SpatialContext；身份和计划豁免也在聚类前逐目标执行。非豁免无人机进入短窗聚类、群内对齐、PointNet和行为提取。意图及评分分别处理群体与成员，共享空间依据和请求局部特征。最后生成辅助评估、证据与诊断。每次请求自带历史，不等于跨请求持续跟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§2.2–§2.4；子算法、模型与中间产物在下一页展开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本页材料：参考 §2.2–§2.4；子算法、模型与中间产物在下一页展开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上部身份关联：目标绑定规范化SN，SN关联设备、白名单和计划，设备的personId关联飞手。身份完整度统计四类信息是否存在，有效性另外检查状态与时间，两者不能混同。重复有效设备会拒绝请求，冲突白名单禁用并诊断。下部是聚类前的逐目标豁免，依次检查有效白名单、演练允许清单和有效计划。命中成员独立输出，其他成员继续分析。计划豁免使用当前位置的航线与高度门控；公式中的长窗匹配比例用于合规解释。一个合法成员不能让邻近目标连带豁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取材：project_reference §16.1–16.2；Word §23.1–23.2；附录A1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轨迹先统一时间和坐标语义。倒序时间拒绝，相同时间戳保留最后完整观测；同位置不同时刻的点保留，以免清洗掉悬停。意图使用120秒、最多240点的窗口，适配器使用末12点，聚类最多使用11个有效运动段。右表说明同一轨迹会形成不同用途的特征：引擎速度是近期均值，聚类使用稳健中位数，设施相对运动和群体一致性又有各自条件。直线度是首尾距离与路径长度的比值。本例成员的速度14.52米每秒、跨度69.57米、直线度接近1，这些是计算证据，不能直接当成真实意图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取材：project_reference §3.3、§4；同次 case_trace.json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间计算先解决几何关系，再组织可共享上下文。左侧示意当前点到最近边界的距离；趋势公式以真实时间为自变量。边界距离下降在区域外表示趋近，在区域内可能表示向出口运动，因此必须结合内外状态解释。右侧展示候选筛选和排序：有效期、几何、高度及外层关联范围共同约束候选；命中时优先严重程度，未命中时优先最近边界距离，再用稳定ID消除并列。SpatialContext保存主区域、所属空域、关联设施、圈层、运动趋势和不确定性。边界容差10米、外层关联范围5000米是当前基线，高度未知不能强行判为已知不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取材：project_reference §16.9–16.10；Word §23.9–23.10；附录A4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群体内不同成员可能关联不同设施。引擎先选主空间上下文，再限定其空间评分成员集合。不能用设施A的趋近特征、设施B的距离和另一区域的命中拼成一个高风险结论。若圈层未明确绑定设施，仅在无竞争候选且全图只有一个设施时允许兼容回退，多设施情况下不会随意找全图最近者。这里的图是方法反例，实际状态还由高度和有效期共同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取材：engine.py _spatial_context_key / _same_primary_context / _facilities_for_context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本页材料：engine.py _spatial_context_key / _same_primary_context / _facilities_for_context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距离形成与DBSCAN分组放在同一条链路。有效运动段用真实时间差计算，速度和单位方向取稳健统计；低速、启停和明显转向控制相应可靠度。位置、方向和速度分量归一化后组成复合距离，成对可靠度取双方较小值。随后把预计算距离矩阵交给DBSCAN。本项目eps为1.5，min_samples为1，因此有效目标自身即可满足核心点条件，孤立目标仍形成单目标簇。下方示意矩阵中A与C虽然不直接相邻，仍通过B连通成簇。这里的距离不是米数，正常路径仍有平方规模的成对矩阵开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取材：project_reference §16.3–16.4；Word §23.3–23.4；附录A2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列来自已有回归固定输入的真实执行。第一组一个目标最后一帧转向，方向可靠度归零但仍与稳定同伴成组。第二组悬停和缓行，方向不被强行放大。第三组持续相反方向，运动差异稳定存在，应分为两个单机簇。显示的是这三例的行为，不是大样本聚类准确率。本轮选定12项回归通过，与历史103项存在重叠，不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取材：method_evidence.json；现行SplitClusters；本轮实际执行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本页材料：method_evidence.json；现行SplitClusters；本轮实际执行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所有颜色始终表示相同成员，来自同次五成员案例。先取群内共同时间戳的前后两个位置集合，用平均位移估计方向，随后旋转到统一方向、均值居中和最大绝对坐标归一化。前帧主要用于方向计算，网络实际输入是当前二维点集。各子图独立等比缩放，所以尺度变化应由标注解释，不能从图上直接比较距离。归一化结果与正式类BasicFormProc逐点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取材：method_evidence.json pointnet；BasicFormProc；同次五成员输入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本页材料：method_evidence.json pointnet；BasicFormProc；同次五成员输入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网络输入是经过标准化的二维点集，先从B乘N乘2转置，再经过三层核大小为1的Conv1d，各层带BN和ReLU。各点共享参数，不沿点序卷积，也没有T-Net。lengths掩码排除填充点后，沿点维执行全局最大池化，再经过128维分类头与五类输出。当前共有51,333个可训练参数，推理使用eval模式，通常逐群B为1。训练代码保留变长点集、交叉熵和Adam流程，完整损失与参数表放在附录A3。当前固定五成员样本预测vshape，逆序输入的logits最大差约9.54乘10的负7次方。这是单样本数值一致性证据，不能作为独立分类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取材：PointNetClassifier.forward；project_reference §16.7–16.8；完整训练方法见附录A3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特征帧汇集身份、运动、空间和群体信息。19项启用规则各自生成候选，记录触发成员、优先级、confidence和完整度。候选先按优先级、再按置信和完整度排序，最后用代码稳定消除并列。同意图去重后选最强项。I-13可以由圈层命中支持，I-29需要身份来源不可用。规则评分是可解释排序量，不是动机的真实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§8.1–§8.2、§8.5；F06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本页材料：参考 §8.1–§8.2、§8.5；F06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-24以轨迹末时刻为基准构造五个历史评估时刻，每个时刻仅看当时已存在的观测。旧端点不能重复计票，缺失和断档不能补成命中。有效票、命中票与最新运动门控共同决定现行规则输出。此处解释已有规则的因果时间设计，测试通过证明编码场景下的边界行为，不证明真实场景误报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§8.3；F07；以下为方法示意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本页材料：参考 §8.3；F07；以下为方法示意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群体一致性综合同设施、趋近成员比例、航向离散度与ETA离散度。它是当前启发式特征组合，几何队形不能单独证明协同行为。成员的意图和威胁仍独立计算，不把群体结论复制给每个目标。对于缺失时间或设施信息应保留不可用状态；本页参数是当前规则定义，需要独立标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§8.4；F08；启发式而非通信图模型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本页材料：参考 §8.4；F08；启发式而非通信图模型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显示十个维度的配置权重，柱图用百分数，公式使用0到1的权重。单机和群体分别计算评分。右侧将顺序与实际算例对应：先十维加权并处理飞手偏置，再置信修正与截断取整，随后硬规则抬底和空间约束。本例五成员组的加权值为45.65，置信修正和抬底为0，最终为46分mid；四成员组由32.23得到32分low。完整修正公式见附录A6。这个例子说明评分链可以复算；权重是当前规则配置，分数不是经过统计标定的损失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取材：project_reference §9；同次 case_response.json；完整修正公式见附录A6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边界时间来自对边界距离随真实时间的回归，仅在满足趋近或离开条件时估计。设施ETA优先采用适配器的有效同设施估计，它使用最近3点距离变化和取用窗口平均采样间隔。若没有有效值，主引擎在空间相关、设施明确、趋近与有效速度条件满足时，以主设施距离除以作用域最大速度回退。两种设施量多成员汇总可能不是同一成员的距离速度组合，属于近似。没有依据时返回null，不能统归因为缺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取材：airspace_analysis.py；intention_recognition.py:429；engine.py:2103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本页材料：airspace_analysis.py；intention_recognition.py:429；engine.py:2103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辅助评估分成两条既有计算分支。左侧以群体代表点检查设备覆盖，再对输入概率使用失败乘积的补集形式组合。图中保留一个覆盖外成员，提醒代表点覆盖不等于全群覆盖，概率参数和独立性也尚未实测校准。右侧是请求内基础资源评估：依据群体顺序和成员需求，检查启用、范围与响应条件，排序后记录可用数量及本次请求余量。ETA缺失时响应时限筛选不生效。输出是分配数、余量、响应时间和状态；缺输入与覆盖不足要分开表达，successRate也不能写成实测效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取材：project_reference §16.13–16.14；Word §23.13–23.14；字段语义见附录A7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用同一次请求把前面的模块串起来。13个目标中4个有效白名单成员在聚类前独立豁免，其余9个形成5成员组和4成员组。两组PointNet输出均为vshape，主意图分别为I-13与I-29，最终评分分别为46和32。表中同时列出成员关系、空间上下文、触发成员和观测证据，说明系统交付的不只是一个分数。这个案例没有设备和资源输入，也缺有效设施ETA，相应状态必须保留。所有输入、追踪和响应使用同一个requestId；成员结论独立计算，建议输出不表示已经控制真实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取材：同次 case_request／case_response／case_trace；project_reference §11.1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化对应明确计算位置：行为特征批处理、跨度矩阵化、请求内特征缓存，以及回退分组候选的KD-tree。稳健聚类和空间一致性属于方法适配，不能与计算提速混为同一种证据。实际启用依赖VECTORIZED_FEATURES配置，Docker和本次取证启用向量化，直接Python启动默认可能走旧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§12.5；Word第18.1–18.7节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本页材料：参考 §12.5；Word第18.1–18.7节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性能曲线必须连同测量条件阅读。实验覆盖4种目标数、3种输入长度和2种布局，共24组合；3个随机种子形成72份输入，执行576次计时和144次预热。左侧曲线展示每架120输入点的路由P95，在CPU、进程内、串行热态条件下，100目标约466至580毫秒，200目标约935至1182毫秒。P95按每组24次样本的有序第23项计算。分散与密集布局分别说明目标的空间分布；测量不含网络、排队和并发。240输入点受120秒窗口限制实际保留121点，也不能直接解释为处理了完整240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取材：results.json；project_reference §12.5；完整矩阵见附录A8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跨度向量化在直接120和240点组件测量约20和24倍，仍为平方复杂度。请求内缓存减少重复特征计算，100目标条件下路由中位约下降16%。KD-tree稀疏回退加速而密集退化。行为批量提取有明显提速，但加减速、转向与置信字段存在差异，最终意图尚未证明等价。模块收益不能乘起来当整体加速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取材：results.json：components、cacheComparison；缓存差异复核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本页材料：results.json：components、cacheComparison；缓存差异复核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按证据性质分开报告。历史103项功能回归保留原口径，本轮12项定向测试全部通过，其中聚类3项、身份豁免7项、辅助输入状态2项，与历史项重叠，不能相加。聚类与队形有固定输入和模型输出，但独立成员标签与分类效果仍缺；意图和评分有规则断言与复算，也仍需真实标注。计算性能有24组合、576次计时，部署并发与冷启动尚未验证。优化一致性还需要保留行为路径差异，ETA需要抵达真值。本轮完整资源分支使用独立测试夹具，不属于13目标贯穿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取材：project_reference §12、§16.15；method_evidence.json；results.json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阶段贡献由基础模型复用、数据条件适配、可解释判读和计算优化组成。适配重点包括身份冲突与逐目标豁免、可靠度距离、群内时间对齐和统一空间作用域。接下来优先补独立真值效果评价、模型训练记录以及部署并发条件。方法原理、工程代码与已有结果已经能够对应，仍需按真实供数和业务要求验证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§13；代码、模型、配置和输入哈希见案例回执与性能材料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本页材料：参考 §13；代码、模型、配置和输入哈希见案例回执与性能材料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这页保留异常和冲突语义。计划匹配包括时间、身份、当前位置路线和高度；长窗匹配比例另作合规证据。优先级选择原因不抹去其余命中记录。完整度和有效性分开，以免过期记录被误认为没有来源。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取材：v32_gateway.py；engine.py _target_exemption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本页材料：v32_gateway.py；engine.py _target_exemption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距离矩阵先完整构造，所以不能将正常路径描述成KD-tree的复杂度。min_samples为1时邻域连通可解释结果，但不保证任意两簇内成员都两两接近。伪代码与本地实现一致，不额外添加跨请求标签平滑。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取材：SplitClusters；当前参数；正常DBSCAN与回退分组分别计量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参数基线：eps=1.5、min_samples=1、最多11段；源为config.ini与SplitClusters。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本页材料：SplitClusters；当前参数；正常DBSCAN与回退分组分别计量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保留网络结构参数和训练方法的完整依据。三层卷积参数分别为384、16,512、16,512，三层BN共768，两个全连接分别为16,512和645，总计51,333。训练代码使用独立训练与评估文件、变长补齐与掩码、交叉熵损失、Adam以及基于验证损失的学习率调度，并支持分类报告和混淆矩阵。当前可确认的是权重与架构、固定案例预测及逆序输入的数值差异。本轮没有重训，也没有足以证明当前权重90.5%准确率的成套独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取材：project_reference §16.7–16.8；Word §23.7–23.8；Origin训练实现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区域已命中、外部关联范围、高度未知与设施绑定是不同判断。当前实现保留scope和uncertainty标志。irrelevant表示已知超出本地关联，unavailable表示无法确定，不能把两者都当成安全或低风险。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取材：airspace_analysis.py；engine.py空间作用域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配置基线：边界容差10米，外层关联范围5000米。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本页材料：airspace_analysis.py；engine.py空间作用域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业务目录保留30个代码，当前启用19项，I-28禁用。原定义和当前行为并列保留，避免修改文档后失去需求追溯。规则标签表示现行观测判据，不直接断言真实动机；空业务代码仍可能有法定禁飞区特殊结论。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§8.2、§14.3；原需求与当前行为分列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本页材料：参考 §8.2、§14.3；原需求与当前行为分列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这页保留精确计算顺序供答疑：加权和飞手偏置、置信调整、截断取整、硬规则、空间限制。等级阈值是当前配置。ETA的三条计算路径在正文23页单独展示，避免与评分公式混为同一量。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§9.2–§9.3；F09–F11；原生Office Math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本页材料：参考 §9.2–§9.3；F09–F11；原生Office Math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资源分配最多取成员需求数量。数量不足时评估值为0；多成员且足量时分配数与成员数比为1，旧公式在当前路径化简为平均输入单元概率。因此不能凭successRate名称称其为全群成功概率。缺资源、无覆盖和能力不足必须按各自状态解释。该模型需要标定；当前仅用于基础辅助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取材：defense_analysis.py；代码代数核对与已有回归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本页材料：defense_analysis.py；代码代数核对与已有回归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全部24种组合，避免只选最佳结果。缓存差异原始记录为False，后续审计定位到debug.generatedAt，排除该动态诊断字段后算法data一致。直接组件测量窗口与正式适配器窗口不同，不能混用。完整原始数据位于results.json和cache_difference_audi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取材：results.json/api；cache_difference_audit.json；单位ms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本页材料：results.json/api；cache_difference_audit.json；单位ms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阶段需要不同于训练数据和现有回归夹具的独立场景真值。聚类看误合并与误拆分，队形看混淆矩阵及F1，意图看精确率召回率与误报，ETA看误差和可用率。性能按冷启动、热态、并发和网络分层测量。拟开展实验不放入已测结果表，不以接口成功率代替算法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取材：参考 §12.3–§12.5；不填写未测准确率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本页材料：参考 §12.3–§12.5；不填写未测准确率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13934bd4044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8bfca9fe0345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24f73996034c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594377401140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d22e6edaf345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5ecc703d14f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E4DDA9-1A8A-455A-BC63-87E4F78F43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3B96BB-236C-4DB1-84C8-C93CCC1B678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618503-225D-487A-8A37-56672E93A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875214-C0D8-4394-B124-19AEB34A6B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453DF5-0565-4DF6-9BC3-0002F3DB0D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972D16-5ED1-4722-8DBE-7035446855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8A82D3-009A-4A68-B18C-E9DF10ACBE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CDA31E5-1E3D-4EF3-96C6-D0575845C3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BF4269-FCC0-4444-97F2-FE8946A7F6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D07757-9AFA-4535-87E1-01DCCD689B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90ac60b8254d12" /><Relationship Type="http://schemas.openxmlformats.org/officeDocument/2006/relationships/slideLayout" Target="/ppt/slideLayouts/slideLayout1.xml" Id="R0da378dc56744a2c" /><Relationship Type="http://schemas.openxmlformats.org/officeDocument/2006/relationships/slideLayout" Target="/ppt/slideLayouts/slideLayout2.xml" Id="R8a76f3ba7e9c4d31" /><Relationship Type="http://schemas.openxmlformats.org/officeDocument/2006/relationships/slideLayout" Target="/ppt/slideLayouts/slideLayout3.xml" Id="R73c831d6da19484f" /><Relationship Type="http://schemas.openxmlformats.org/officeDocument/2006/relationships/slideLayout" Target="/ppt/slideLayouts/slideLayout4.xml" Id="Rf5705e0777aa471c" /><Relationship Type="http://schemas.openxmlformats.org/officeDocument/2006/relationships/slideLayout" Target="/ppt/slideLayouts/slideLayout5.xml" Id="R70c6e81382e9447b" /><Relationship Type="http://schemas.openxmlformats.org/officeDocument/2006/relationships/slideLayout" Target="/ppt/slideLayouts/slideLayout6.xml" Id="R0c5d0050159649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a378dc56744a2c"/>
    <p:sldLayoutId xmlns:r="http://schemas.openxmlformats.org/officeDocument/2006/relationships" id="2147483650" r:id="R8a76f3ba7e9c4d31"/>
    <p:sldLayoutId xmlns:r="http://schemas.openxmlformats.org/officeDocument/2006/relationships" id="2147483651" r:id="R73c831d6da19484f"/>
    <p:sldLayoutId xmlns:r="http://schemas.openxmlformats.org/officeDocument/2006/relationships" id="2147483652" r:id="Rf5705e0777aa471c"/>
    <p:sldLayoutId xmlns:r="http://schemas.openxmlformats.org/officeDocument/2006/relationships" id="2147483653" r:id="R70c6e81382e9447b"/>
    <p:sldLayoutId xmlns:r="http://schemas.openxmlformats.org/officeDocument/2006/relationships" id="2147483654" r:id="R0c5d0050159649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3f8457859434256"/><Relationship Type="http://schemas.openxmlformats.org/officeDocument/2006/relationships/notesSlide" Target="/ppt/notesSlides/notesSlide1.xml" Id="Ra716bc45e35c4ed1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4086273a6964916"/><Relationship Type="http://schemas.openxmlformats.org/officeDocument/2006/relationships/notesSlide" Target="/ppt/notesSlides/notesSlide2.xml" Id="R48bc8e918c594fa2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af59c1c4f9d4048"/><Relationship Type="http://schemas.openxmlformats.org/officeDocument/2006/relationships/notesSlide" Target="/ppt/notesSlides/notesSlide3.xml" Id="R37bfc46d89bc4e8d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0e1268fd1a54f69"/><Relationship Type="http://schemas.openxmlformats.org/officeDocument/2006/relationships/notesSlide" Target="/ppt/notesSlides/notesSlide4.xml" Id="Rf68c0af917404108"/><Relationship Id="rNative7001" Type="http://schemas.openxmlformats.org/officeDocument/2006/relationships/image" Target="../media/image1.png"/><Relationship Id="rNative700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c811e8e8de64dce"/><Relationship Type="http://schemas.openxmlformats.org/officeDocument/2006/relationships/notesSlide" Target="/ppt/notesSlides/notesSlide5.xml" Id="R6f2a69f9f08f4506"/><Relationship Id="rNative7001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32ba2b43d4f4ba7"/><Relationship Type="http://schemas.openxmlformats.org/officeDocument/2006/relationships/notesSlide" Target="/ppt/notesSlides/notesSlide6.xml" Id="Rad6c4b7128c34b47"/><Relationship Id="rNative7001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e99dde9beaf42b5"/><Relationship Type="http://schemas.openxmlformats.org/officeDocument/2006/relationships/notesSlide" Target="/ppt/notesSlides/notesSlide7.xml" Id="R4693d499779b47b5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b65b68c32bd48bf"/><Relationship Type="http://schemas.openxmlformats.org/officeDocument/2006/relationships/notesSlide" Target="/ppt/notesSlides/notesSlide8.xml" Id="R83db8c9f69274752"/><Relationship Id="rNative7001" Type="http://schemas.openxmlformats.org/officeDocument/2006/relationships/image" Target="../media/image7.png"/><Relationship Id="rNative7002" Type="http://schemas.openxmlformats.org/officeDocument/2006/relationships/image" Target="../media/image6.png"/><Relationship Id="rNative700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b5aea51f9f0498c"/><Relationship Type="http://schemas.openxmlformats.org/officeDocument/2006/relationships/notesSlide" Target="/ppt/notesSlides/notesSlide9.xml" Id="Rf461f305fe31411e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3971ed14da44a39"/><Relationship Type="http://schemas.openxmlformats.org/officeDocument/2006/relationships/notesSlide" Target="/ppt/notesSlides/notesSlide10.xml" Id="Rf8f5b31badb14cb2"/><Relationship Id="rNative7001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7d2db36975645f7"/><Relationship Type="http://schemas.openxmlformats.org/officeDocument/2006/relationships/notesSlide" Target="/ppt/notesSlides/notesSlide11.xml" Id="R37316cbc9f914335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1fe17f8db994312"/><Relationship Type="http://schemas.openxmlformats.org/officeDocument/2006/relationships/notesSlide" Target="/ppt/notesSlides/notesSlide12.xml" Id="Ra2616b78b3024153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1ac7f6b7c464d94"/><Relationship Type="http://schemas.openxmlformats.org/officeDocument/2006/relationships/notesSlide" Target="/ppt/notesSlides/notesSlide13.xml" Id="R891aa034f1034c6b"/><Relationship Id="rNative7001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f51c232551e4c37"/><Relationship Type="http://schemas.openxmlformats.org/officeDocument/2006/relationships/notesSlide" Target="/ppt/notesSlides/notesSlide14.xml" Id="R5f9e787f78d94ea5"/><Relationship Id="rNative7001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4e9dace6d914ec9"/><Relationship Type="http://schemas.openxmlformats.org/officeDocument/2006/relationships/notesSlide" Target="/ppt/notesSlides/notesSlide15.xml" Id="Rab53ef9803c34a48"/><Relationship Id="rNative7001" Type="http://schemas.openxmlformats.org/officeDocument/2006/relationships/chart" Target="../charts/chart1.xml"/><Relationship Id="rNative700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2bc86db1f9e4853"/><Relationship Type="http://schemas.openxmlformats.org/officeDocument/2006/relationships/notesSlide" Target="/ppt/notesSlides/notesSlide16.xml" Id="R2a9658f6e50d42b2"/><Relationship Id="rNative7001" Type="http://schemas.openxmlformats.org/officeDocument/2006/relationships/image" Target="../media/image14.png"/><Relationship Id="rNative7002" Type="http://schemas.openxmlformats.org/officeDocument/2006/relationships/image" Target="../media/image15.png"/><Relationship Id="rNative700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8c3b9f4788e418d"/><Relationship Type="http://schemas.openxmlformats.org/officeDocument/2006/relationships/notesSlide" Target="/ppt/notesSlides/notesSlide17.xml" Id="R31dd4af6a2db4966"/><Relationship Id="rNative7001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b89cb83a0494b7e"/><Relationship Type="http://schemas.openxmlformats.org/officeDocument/2006/relationships/notesSlide" Target="/ppt/notesSlides/notesSlide18.xml" Id="R47bbcc0c6f9b4612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3ce14edbe2a483e"/><Relationship Type="http://schemas.openxmlformats.org/officeDocument/2006/relationships/notesSlide" Target="/ppt/notesSlides/notesSlide19.xml" Id="R1817f3d85bf4457a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8bd78dc12324e55"/><Relationship Type="http://schemas.openxmlformats.org/officeDocument/2006/relationships/notesSlide" Target="/ppt/notesSlides/notesSlide20.xml" Id="R3d07229f939a444b"/><Relationship Id="rNative7001" Type="http://schemas.openxmlformats.org/officeDocument/2006/relationships/chart" Target="../charts/chart2.xml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adcf23f4bd14b4b"/><Relationship Type="http://schemas.openxmlformats.org/officeDocument/2006/relationships/notesSlide" Target="/ppt/notesSlides/notesSlide21.xml" Id="R4062d01294f844ae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5eee852229c4999"/><Relationship Type="http://schemas.openxmlformats.org/officeDocument/2006/relationships/notesSlide" Target="/ppt/notesSlides/notesSlide22.xml" Id="R554dd55dd365467d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c50840d98d54ada"/><Relationship Type="http://schemas.openxmlformats.org/officeDocument/2006/relationships/notesSlide" Target="/ppt/notesSlides/notesSlide23.xml" Id="Rb48406fe191d4abe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c20923cc17e44e3"/><Relationship Type="http://schemas.openxmlformats.org/officeDocument/2006/relationships/notesSlide" Target="/ppt/notesSlides/notesSlide24.xml" Id="Rf131dfd731844932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d732e4058b34d54"/><Relationship Type="http://schemas.openxmlformats.org/officeDocument/2006/relationships/notesSlide" Target="/ppt/notesSlides/notesSlide25.xml" Id="R877e2121c1fc4a8b"/><Relationship Id="rNative7001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759ea6113e04f56"/><Relationship Type="http://schemas.openxmlformats.org/officeDocument/2006/relationships/notesSlide" Target="/ppt/notesSlides/notesSlide26.xml" Id="R4946469ad4314c60"/><Relationship Id="rNative7001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e71b30be8c347f2"/><Relationship Type="http://schemas.openxmlformats.org/officeDocument/2006/relationships/notesSlide" Target="/ppt/notesSlides/notesSlide27.xml" Id="R36d98b647ffd449d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f060565dc5b4b22"/><Relationship Type="http://schemas.openxmlformats.org/officeDocument/2006/relationships/notesSlide" Target="/ppt/notesSlides/notesSlide28.xml" Id="R222e89a713534a62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2b89a84424f494c"/><Relationship Type="http://schemas.openxmlformats.org/officeDocument/2006/relationships/notesSlide" Target="/ppt/notesSlides/notesSlide29.xml" Id="R82155a5189d44f5f"/><Relationship Id="rNative7001" Type="http://schemas.openxmlformats.org/officeDocument/2006/relationships/image" Target="../media/image19.png"/><Relationship Id="rNative7002" Type="http://schemas.openxmlformats.org/officeDocument/2006/relationships/image" Target="../media/image20.png"/><Relationship Id="rNative7003" Type="http://schemas.openxmlformats.org/officeDocument/2006/relationships/image" Target="../media/image21.png"/><Relationship Id="rNative7004" Type="http://schemas.openxmlformats.org/officeDocument/2006/relationships/image" Target="../media/image22.png"/><Relationship Id="rNative7005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6850818bd1f4a6a"/><Relationship Type="http://schemas.openxmlformats.org/officeDocument/2006/relationships/notesSlide" Target="/ppt/notesSlides/notesSlide30.xml" Id="Rdd1ecd8632774e11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c1250725cb04ed0"/><Relationship Type="http://schemas.openxmlformats.org/officeDocument/2006/relationships/notesSlide" Target="/ppt/notesSlides/notesSlide31.xml" Id="Rd01dd401f2f246e2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6abe6523b8248bf"/><Relationship Type="http://schemas.openxmlformats.org/officeDocument/2006/relationships/notesSlide" Target="/ppt/notesSlides/notesSlide32.xml" Id="R7a04117ff0c34c6f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o0">
            <a:extLst xmlns:a="http://schemas.openxmlformats.org/drawingml/2006/main">
              <a:ext uri="{FF2B5EF4-FFF2-40B4-BE49-F238E27FC236}">
                <a16:creationId xmlns:a16="http://schemas.microsoft.com/office/drawing/2014/main" id="{406FB364-4CFB-4073-8F6B-40FDB39F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2B56FBB6-A116-4B3B-837A-623D84AF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低空无人机单机与集群态势判读算法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9F7D578C-AA04-4E57-A833-85BA3081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E7BDC5BB-11C5-4929-9AE1-9AFE3622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8CD81B1A-0A88-4257-82CB-0D6C9FD2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本地实现基线 · v3.2 · situation-rule-v2.3.0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1BE2C905-03F2-4BE2-B3B2-87392C7A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01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E30E0E21-E48B-49CD-A670-4328607C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6953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算法原理与实现</a:t>
            </a:r>
          </a:p>
          <a:p xmlns:a="http://schemas.openxmlformats.org/drawingml/2006/main">
            <a:pPr algn="l">
              <a:def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项目适配与阶段验证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99823F7E-2F46-484D-8FDE-98ABFB70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从可用数据到单机、集群结论与解释证据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437FE78E-4038-45E3-A12B-942E994A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汇报人：待填写    部门：待填写    评审日期：待填写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0E46CDC8-5FFD-4318-93D4-508FE858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1333500" cy="1333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5538BAFF-8D31-41E5-A025-B141AFEF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0955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E830912F-63CD-4B9D-BE40-9111E47E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18B309F4-7766-4273-8142-5039FF07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19050">
            <a:solidFill>
              <a:srgbClr val="224E88"/>
            </a:solidFill>
            <a:prstDash val="solid"/>
          </a:ln>
        </p:spPr>
      </p:sp>
      <p:sp>
        <p:nvSpPr>
          <p:cNvPr id="14" name="line-11">
            <a:extLst xmlns:a="http://schemas.openxmlformats.org/drawingml/2006/main">
              <a:ext uri="{FF2B5EF4-FFF2-40B4-BE49-F238E27FC236}">
                <a16:creationId xmlns:a16="http://schemas.microsoft.com/office/drawing/2014/main" id="{3B5D73E0-C994-420D-B5A6-E9261DE9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779544" y="3286125"/>
            <a:ext cx="559594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70"/>
            </a:solidFill>
            <a:prstDash val="solid"/>
          </a:ln>
        </p:spPr>
      </p:sp>
      <p:sp>
        <p:nvSpPr>
          <p:cNvPr id="15" name="line-11">
            <a:extLst xmlns:a="http://schemas.openxmlformats.org/drawingml/2006/main">
              <a:ext uri="{FF2B5EF4-FFF2-40B4-BE49-F238E27FC236}">
                <a16:creationId xmlns:a16="http://schemas.microsoft.com/office/drawing/2014/main" id="{3FBF8B65-B49E-4F0C-9AA0-2B6A77EA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39138" y="2809875"/>
            <a:ext cx="783431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70"/>
            </a:solidFill>
            <a:prstDash val="solid"/>
          </a:ln>
        </p:spPr>
      </p:sp>
      <p:sp>
        <p:nvSpPr>
          <p:cNvPr id="16" name="line-11">
            <a:extLst xmlns:a="http://schemas.openxmlformats.org/drawingml/2006/main">
              <a:ext uri="{FF2B5EF4-FFF2-40B4-BE49-F238E27FC236}">
                <a16:creationId xmlns:a16="http://schemas.microsoft.com/office/drawing/2014/main" id="{360F5C06-D449-44BF-9CAB-67177BA3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22569" y="2238375"/>
            <a:ext cx="67151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70"/>
            </a:solidFill>
            <a:prstDash val="solid"/>
          </a:ln>
        </p:spPr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510E7E67-0F30-4D48-AA7C-E6646B9D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394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7867CC7C-5281-491B-B703-1C7560C7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988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48EDC006-7F7F-48ED-8A87-B4657A98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419" y="275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66F47770-4431-4E61-90FD-16DD2751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931" y="2181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9622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o0">
            <a:extLst xmlns:a="http://schemas.openxmlformats.org/drawingml/2006/main">
              <a:ext uri="{FF2B5EF4-FFF2-40B4-BE49-F238E27FC236}">
                <a16:creationId xmlns:a16="http://schemas.microsoft.com/office/drawing/2014/main" id="{AEA99DF4-BAFF-476B-B2A1-1A1853CE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5E0FB424-2305-4703-B52F-7EF44F23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可用数据、计算能力与输出目标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25834B07-652F-43F1-ADEF-9D31B524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96F28122-43C5-443E-ADB8-09BF637E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8BBF6C68-C479-44BA-972A-4E413C5A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project_reference §1.2、§3.1；同次 case_request.json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2474FA53-8245-4742-84FD-6545C12B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02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208ECD8B-A1A7-4041-9C42-329CE191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分析起点：上游已形成的目标轨迹、身份记录与空间设施数据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DDCC576B-C89A-4F9B-9B0A-DB4E8C90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输出主线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CBB7ABCF-0A71-4A7A-94DE-035414F3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成员关系 → 队形与行为 → 意图与评分 → 证据及质量状态</a:t>
            </a:r>
          </a:p>
        </p:txBody>
      </p:sp>
      <p:sp>
        <p:nvSpPr>
          <p:cNvPr id="10" name="line-7">
            <a:extLst xmlns:a="http://schemas.openxmlformats.org/drawingml/2006/main">
              <a:ext uri="{FF2B5EF4-FFF2-40B4-BE49-F238E27FC236}">
                <a16:creationId xmlns:a16="http://schemas.microsoft.com/office/drawing/2014/main" id="{6C17EC8D-A6E3-4270-AF37-7C977732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1341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A6BE3912-A133-4D2B-919C-23B4C62E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当前样本的可计算范围不等于长期供数条件；后者仍需公司联调确认。</a:t>
            </a:r>
          </a:p>
        </p:txBody>
      </p:sp>
      <p:graphicFrame>
        <p:nvGraphicFramePr>
          <p:cNvPr id="7001" name="native-table-7001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94560"/>
                <a:gridCol w="3730752"/>
                <a:gridCol w="5047488"/>
              </a:tblGrid>
              <a:tr h="52387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当前样本输入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本例具备的信息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支撑的计算与输出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目标轨迹与属性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13个目标；位置与时间序列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分组、队形、行为、单机与群体结论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身份关联与白名单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设备、飞手、白名单各4条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身份状态、聚类前逐目标豁免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飞行计划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0条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协议支持匹配；本例无计划证据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设施与圈层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3个设施、3个圈层</a:t>
                      </a:r>
                      <a:endParaRPr lang="zh-CN" sz="1700"/>
                    </a:p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未提供独立空域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空间关系、相关设施、趋近证据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52387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设备与资源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未提供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对应辅助评估输出缺失状态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883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44F4B0-676E-4604-8303-BD7FECFE7B7D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910763" y="3600450"/>
            <a:ext cx="452438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0"/>
            </a:solidFill>
            <a:prstDash val="solid"/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616559-4E59-48A7-B4C7-3587CD237A7A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9910763" y="2552700"/>
            <a:ext cx="45243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0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8560C2-547C-40BA-9554-40EC322AAFB1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819275" y="2552700"/>
            <a:ext cx="8543925" cy="15049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24E88"/>
            </a:solidFill>
            <a:prstDash val="solid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8D0703-5A6C-4238-91EB-2FB6F01C8A24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24900" y="43910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89D627-F418-46C4-8AF4-8ADD20A95F7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76925" y="43910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8023E4-01D8-4BC3-A7AB-C660946DC3B0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028950" y="43910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3CB5BD-1AAA-4248-9FCE-43829C99838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24900" y="22193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C3BC7B-506B-4460-A732-E411DF18FE3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76925" y="22193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7411D-8DEE-4250-B72F-5BA18969DC4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28950" y="22193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29" name="o0">
            <a:extLst xmlns:a="http://schemas.openxmlformats.org/drawingml/2006/main">
              <a:ext uri="{FF2B5EF4-FFF2-40B4-BE49-F238E27FC236}">
                <a16:creationId xmlns:a16="http://schemas.microsoft.com/office/drawing/2014/main" id="{FC4F23FB-15D6-4793-B78F-E5436757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4AB8374F-A054-4003-B3B6-29C3063C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总体计算链路与共享中间产物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D77D1A84-E013-4816-B666-7F7E20E8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63D79C00-70F1-4509-8EAA-1E3756F3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5D8231DA-16FC-41C9-8A34-3B174ADB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§2.2–§2.4；子算法与中间产物分模块展开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426C3DAC-D5CF-4055-86C1-FAD61325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03 / 32</a:t>
            </a:r>
          </a:p>
        </p:txBody>
      </p:sp>
      <p:sp>
        <p:nvSpPr>
          <p:cNvPr id="7" name="flow-top-0">
            <a:extLst xmlns:a="http://schemas.openxmlformats.org/drawingml/2006/main">
              <a:ext uri="{FF2B5EF4-FFF2-40B4-BE49-F238E27FC236}">
                <a16:creationId xmlns:a16="http://schemas.microsoft.com/office/drawing/2014/main" id="{6973B20E-D383-4F77-9C81-23F966B8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419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01 标准化请求</a:t>
            </a:r>
          </a:p>
        </p:txBody>
      </p:sp>
      <p:sp>
        <p:nvSpPr>
          <p:cNvPr id="8" name="flow-top-1">
            <a:extLst xmlns:a="http://schemas.openxmlformats.org/drawingml/2006/main">
              <a:ext uri="{FF2B5EF4-FFF2-40B4-BE49-F238E27FC236}">
                <a16:creationId xmlns:a16="http://schemas.microsoft.com/office/drawing/2014/main" id="{B7A84234-EDB8-4421-9935-A2BCAA76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885950"/>
            <a:ext cx="2419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02 清洗与双窗口</a:t>
            </a:r>
          </a:p>
        </p:txBody>
      </p:sp>
      <p:sp>
        <p:nvSpPr>
          <p:cNvPr id="9" name="flow-top-2">
            <a:extLst xmlns:a="http://schemas.openxmlformats.org/drawingml/2006/main">
              <a:ext uri="{FF2B5EF4-FFF2-40B4-BE49-F238E27FC236}">
                <a16:creationId xmlns:a16="http://schemas.microsoft.com/office/drawing/2014/main" id="{79663AAF-FB9D-4CF1-A1A6-0FC2D2F3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2419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03 空间上下文</a:t>
            </a:r>
          </a:p>
        </p:txBody>
      </p:sp>
      <p:sp>
        <p:nvSpPr>
          <p:cNvPr id="10" name="flow-top-3">
            <a:extLst xmlns:a="http://schemas.openxmlformats.org/drawingml/2006/main">
              <a:ext uri="{FF2B5EF4-FFF2-40B4-BE49-F238E27FC236}">
                <a16:creationId xmlns:a16="http://schemas.microsoft.com/office/drawing/2014/main" id="{6FD65C63-5260-4EC1-94D8-9CBB54DF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885950"/>
            <a:ext cx="2419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04 身份与豁免</a:t>
            </a:r>
          </a:p>
        </p:txBody>
      </p:sp>
      <p:sp>
        <p:nvSpPr>
          <p:cNvPr id="11" name="flow-bottom-0">
            <a:extLst xmlns:a="http://schemas.openxmlformats.org/drawingml/2006/main">
              <a:ext uri="{FF2B5EF4-FFF2-40B4-BE49-F238E27FC236}">
                <a16:creationId xmlns:a16="http://schemas.microsoft.com/office/drawing/2014/main" id="{173B9DC9-3A6F-4FEE-AC68-3F7418B1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419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DBSCAN／PointNet</a:t>
            </a:r>
          </a:p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运动与行为特征</a:t>
            </a:r>
          </a:p>
        </p:txBody>
      </p:sp>
      <p:sp>
        <p:nvSpPr>
          <p:cNvPr id="12" name="flow-bottom-1">
            <a:extLst xmlns:a="http://schemas.openxmlformats.org/drawingml/2006/main">
              <a:ext uri="{FF2B5EF4-FFF2-40B4-BE49-F238E27FC236}">
                <a16:creationId xmlns:a16="http://schemas.microsoft.com/office/drawing/2014/main" id="{9F87524A-B71E-4625-9B54-7505F425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57650"/>
            <a:ext cx="2419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单机／集群规则</a:t>
            </a:r>
          </a:p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十维评分</a:t>
            </a:r>
          </a:p>
        </p:txBody>
      </p:sp>
      <p:sp>
        <p:nvSpPr>
          <p:cNvPr id="13" name="flow-bottom-2">
            <a:extLst xmlns:a="http://schemas.openxmlformats.org/drawingml/2006/main">
              <a:ext uri="{FF2B5EF4-FFF2-40B4-BE49-F238E27FC236}">
                <a16:creationId xmlns:a16="http://schemas.microsoft.com/office/drawing/2014/main" id="{511B796F-D273-4903-AF43-4C13E077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57650"/>
            <a:ext cx="2419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ETA／覆盖</a:t>
            </a:r>
          </a:p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资源辅助评估</a:t>
            </a:r>
          </a:p>
        </p:txBody>
      </p:sp>
      <p:sp>
        <p:nvSpPr>
          <p:cNvPr id="14" name="flow-bottom-3">
            <a:extLst xmlns:a="http://schemas.openxmlformats.org/drawingml/2006/main">
              <a:ext uri="{FF2B5EF4-FFF2-40B4-BE49-F238E27FC236}">
                <a16:creationId xmlns:a16="http://schemas.microsoft.com/office/drawing/2014/main" id="{8A87253B-273F-4DA7-A8AD-11B9E15F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57650"/>
            <a:ext cx="2419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结构化结果</a:t>
            </a:r>
          </a:p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解释与诊断</a:t>
            </a:r>
          </a:p>
        </p:txBody>
      </p:sp>
      <p:sp>
        <p:nvSpPr>
          <p:cNvPr id="15" name="exempt">
            <a:extLst xmlns:a="http://schemas.openxmlformats.org/drawingml/2006/main">
              <a:ext uri="{FF2B5EF4-FFF2-40B4-BE49-F238E27FC236}">
                <a16:creationId xmlns:a16="http://schemas.microsoft.com/office/drawing/2014/main" id="{701E1BBD-A38B-4903-A40D-DB70AC02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81325"/>
            <a:ext cx="33432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有效豁免独立输出</a:t>
            </a:r>
          </a:p>
        </p:txBody>
      </p:sp>
      <p:sp>
        <p:nvSpPr>
          <p:cNvPr id="16" name="o24">
            <a:extLst xmlns:a="http://schemas.openxmlformats.org/drawingml/2006/main">
              <a:ext uri="{FF2B5EF4-FFF2-40B4-BE49-F238E27FC236}">
                <a16:creationId xmlns:a16="http://schemas.microsoft.com/office/drawing/2014/main" id="{38EACDC2-C668-480D-85A3-58EA3D56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81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共享产物：空间上下文与成员特征</a:t>
            </a:r>
          </a:p>
        </p:txBody>
      </p:sp>
      <p:sp>
        <p:nvSpPr>
          <p:cNvPr id="17" name="o25">
            <a:extLst xmlns:a="http://schemas.openxmlformats.org/drawingml/2006/main">
              <a:ext uri="{FF2B5EF4-FFF2-40B4-BE49-F238E27FC236}">
                <a16:creationId xmlns:a16="http://schemas.microsoft.com/office/drawing/2014/main" id="{8BFAD5B0-9539-42C3-A6D1-BB548E79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714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群体、行为、空间分别提供依据；单机与集群各自判读</a:t>
            </a:r>
          </a:p>
        </p:txBody>
      </p:sp>
      <p:sp>
        <p:nvSpPr>
          <p:cNvPr id="18" name="line-15">
            <a:extLst xmlns:a="http://schemas.openxmlformats.org/drawingml/2006/main">
              <a:ext uri="{FF2B5EF4-FFF2-40B4-BE49-F238E27FC236}">
                <a16:creationId xmlns:a16="http://schemas.microsoft.com/office/drawing/2014/main" id="{CEADCB20-C0B8-4D4A-9530-DD3471A5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19" name="o27">
            <a:extLst xmlns:a="http://schemas.openxmlformats.org/drawingml/2006/main">
              <a:ext uri="{FF2B5EF4-FFF2-40B4-BE49-F238E27FC236}">
                <a16:creationId xmlns:a16="http://schemas.microsoft.com/office/drawing/2014/main" id="{FAD3A179-4A5F-425A-8999-36716383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空间上下文与请求内特征共享；群体和单机结论分别计算。</a:t>
            </a:r>
          </a:p>
        </p:txBody>
      </p:sp>
    </p:spTree>
    <p:extLst>
      <p:ext uri="{BB962C8B-B14F-4D97-AF65-F5344CB8AC3E}">
        <p14:creationId xmlns:p14="http://schemas.microsoft.com/office/powerpoint/2010/main" val="4271573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3F60B7-5BFC-42AB-90C2-1DB8A97DD3F9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553450" y="42291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B8C34F-9F21-4FF8-BD1F-60657CFF5825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772150" y="42291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6284FD-01EF-4E4F-B203-22ACBAB41CF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990850" y="42291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8D4FE-F06E-4B07-8147-C0C8CC51EC6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72150" y="16764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3CB8D4-6367-461F-8F5E-AF1C2381590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90850" y="16764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28" name="o0">
            <a:extLst xmlns:a="http://schemas.openxmlformats.org/drawingml/2006/main">
              <a:ext uri="{FF2B5EF4-FFF2-40B4-BE49-F238E27FC236}">
                <a16:creationId xmlns:a16="http://schemas.microsoft.com/office/drawing/2014/main" id="{E2B52A0F-3E0B-41E4-ADC1-74641286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7FDF395B-4076-4F1E-86D5-0D3765DF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身份关联与聚类前豁免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78887915-8367-4191-9FE5-5BD64600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3E6336AA-37B9-4FA2-99B0-FD461C0B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22FB47BC-BDFB-416A-BC36-59D67C93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project_reference §16.1–16.2；Word §23.1–23.2；附录A1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423D1059-7AF0-430D-AF31-4BA7E774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04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D9DA965C-42B8-4A2D-B09E-98DA5BF4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targetId → 规范化SN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0EC48C86-BA43-4F54-A4B1-EEEAC8CD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81125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设备记录／状态／有效期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873918E3-897A-4DB4-BC2B-3CAE64D0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81125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personId → 飞手记录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94DEE1C6-9A76-4598-80B0-EEAE20E8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SN → 白名单／计划</a:t>
            </a:r>
          </a:p>
        </p:txBody>
      </p:sp>
      <p:sp>
        <p:nvSpPr>
          <p:cNvPr id="11" name="o12">
            <a:extLst xmlns:a="http://schemas.openxmlformats.org/drawingml/2006/main">
              <a:ext uri="{FF2B5EF4-FFF2-40B4-BE49-F238E27FC236}">
                <a16:creationId xmlns:a16="http://schemas.microsoft.com/office/drawing/2014/main" id="{D17DBF18-3F74-40E7-8CE2-013D25CC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完整度与有效性分别计算</a:t>
            </a:r>
          </a:p>
        </p:txBody>
      </p:sp>
      <p:sp>
        <p:nvSpPr>
          <p:cNvPr id="12" name="o13">
            <a:extLst xmlns:a="http://schemas.openxmlformats.org/drawingml/2006/main">
              <a:ext uri="{FF2B5EF4-FFF2-40B4-BE49-F238E27FC236}">
                <a16:creationId xmlns:a16="http://schemas.microsoft.com/office/drawing/2014/main" id="{4BBB9F13-780B-4D52-BF6E-0B4A7E74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0275"/>
            <a:ext cx="4810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存在记为1、缺失记为0；有效期另判。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重复有效设备拒绝；冲突白名单禁用并诊断。</a:t>
            </a:r>
          </a:p>
        </p:txBody>
      </p:sp>
      <p:sp>
        <p:nvSpPr>
          <p:cNvPr id="13" name="line-10">
            <a:extLst xmlns:a="http://schemas.openxmlformats.org/drawingml/2006/main">
              <a:ext uri="{FF2B5EF4-FFF2-40B4-BE49-F238E27FC236}">
                <a16:creationId xmlns:a16="http://schemas.microsoft.com/office/drawing/2014/main" id="{914EF05A-09C4-468C-84B2-65FDBBCB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333375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14" name="o15">
            <a:extLst xmlns:a="http://schemas.openxmlformats.org/drawingml/2006/main">
              <a:ext uri="{FF2B5EF4-FFF2-40B4-BE49-F238E27FC236}">
                <a16:creationId xmlns:a16="http://schemas.microsoft.com/office/drawing/2014/main" id="{F5B9BF97-731B-44F1-B816-F479D4BA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按优先级逐目标判断</a:t>
            </a:r>
          </a:p>
        </p:txBody>
      </p:sp>
      <p:sp>
        <p:nvSpPr>
          <p:cNvPr id="15" name="o16">
            <a:extLst xmlns:a="http://schemas.openxmlformats.org/drawingml/2006/main">
              <a:ext uri="{FF2B5EF4-FFF2-40B4-BE49-F238E27FC236}">
                <a16:creationId xmlns:a16="http://schemas.microsoft.com/office/drawing/2014/main" id="{27B7F742-C088-4F87-A5EE-7CE4230B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有效白名单？</a:t>
            </a:r>
          </a:p>
        </p:txBody>
      </p:sp>
      <p:sp>
        <p:nvSpPr>
          <p:cNvPr id="16" name="o17">
            <a:extLst xmlns:a="http://schemas.openxmlformats.org/drawingml/2006/main">
              <a:ext uri="{FF2B5EF4-FFF2-40B4-BE49-F238E27FC236}">
                <a16:creationId xmlns:a16="http://schemas.microsoft.com/office/drawing/2014/main" id="{3277A9D2-4277-49F1-B0FF-2438E6DB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4335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演练允许清单？</a:t>
            </a:r>
          </a:p>
        </p:txBody>
      </p:sp>
      <p:sp>
        <p:nvSpPr>
          <p:cNvPr id="17" name="o18">
            <a:extLst xmlns:a="http://schemas.openxmlformats.org/drawingml/2006/main">
              <a:ext uri="{FF2B5EF4-FFF2-40B4-BE49-F238E27FC236}">
                <a16:creationId xmlns:a16="http://schemas.microsoft.com/office/drawing/2014/main" id="{06C569AF-425D-4522-8BE0-18C68D35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4335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有效计划匹配？</a:t>
            </a:r>
          </a:p>
        </p:txBody>
      </p:sp>
      <p:sp>
        <p:nvSpPr>
          <p:cNvPr id="18" name="o19">
            <a:extLst xmlns:a="http://schemas.openxmlformats.org/drawingml/2006/main">
              <a:ext uri="{FF2B5EF4-FFF2-40B4-BE49-F238E27FC236}">
                <a16:creationId xmlns:a16="http://schemas.microsoft.com/office/drawing/2014/main" id="{283755B8-B7D0-4D92-A94B-04A871B5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4335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均未命中：群体分析</a:t>
            </a:r>
          </a:p>
        </p:txBody>
      </p:sp>
      <p:sp>
        <p:nvSpPr>
          <p:cNvPr id="19" name="o23">
            <a:extLst xmlns:a="http://schemas.openxmlformats.org/drawingml/2006/main">
              <a:ext uri="{FF2B5EF4-FFF2-40B4-BE49-F238E27FC236}">
                <a16:creationId xmlns:a16="http://schemas.microsoft.com/office/drawing/2014/main" id="{BEFCF0E6-297D-47DF-B7A9-E6FAFE0D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前三项任一命中 → 独立豁免结果</a:t>
            </a:r>
          </a:p>
        </p:txBody>
      </p:sp>
      <p:sp>
        <p:nvSpPr>
          <p:cNvPr id="20" name="o24">
            <a:extLst xmlns:a="http://schemas.openxmlformats.org/drawingml/2006/main">
              <a:ext uri="{FF2B5EF4-FFF2-40B4-BE49-F238E27FC236}">
                <a16:creationId xmlns:a16="http://schemas.microsoft.com/office/drawing/2014/main" id="{19ED713B-A29F-403C-ACDD-004340D1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9650"/>
            <a:ext cx="4810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计划：当前位置满足航线与高度门控；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历史匹配比例用于合规解释。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非无人机另走观察分支。</a:t>
            </a:r>
          </a:p>
        </p:txBody>
      </p:sp>
      <p:sp>
        <p:nvSpPr>
          <p:cNvPr id="21" name="line-17">
            <a:extLst xmlns:a="http://schemas.openxmlformats.org/drawingml/2006/main">
              <a:ext uri="{FF2B5EF4-FFF2-40B4-BE49-F238E27FC236}">
                <a16:creationId xmlns:a16="http://schemas.microsoft.com/office/drawing/2014/main" id="{031AE455-C3BE-405F-B758-A7E4B050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1341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22" name="o26">
            <a:extLst xmlns:a="http://schemas.openxmlformats.org/drawingml/2006/main">
              <a:ext uri="{FF2B5EF4-FFF2-40B4-BE49-F238E27FC236}">
                <a16:creationId xmlns:a16="http://schemas.microsoft.com/office/drawing/2014/main" id="{0329843E-D3C6-45EE-BBF2-F2F18594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豁免发生在聚类前；一个合法成员不能让附近其他成员一同豁免。</a:t>
            </a:r>
          </a:p>
        </p:txBody>
      </p:sp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1" name="equation-identity"/>
              <p:cNvSpPr txBox="1">
                <a:spLocks noGrp="1"/>
              </p:cNvSpPr>
              <p:nvPr/>
            </p:nvSpPr>
            <p:spPr>
              <a:xfrm>
                <a:off x="609600" y="2533650"/>
                <a:ext cx="5905500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sSub>
                        <m:sSubPr>
                          <m:ctrlPr>
                            <a:rPr sz="2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𝑖𝑑</m:t>
                          </m:r>
                        </m:sub>
                      </m:sSub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sz="220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i="1" sz="22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22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sz="220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sz="2200">
                                  <a:latin typeface="Cambria Math" panose="02040503050406030204" pitchFamily="18" charset="0"/>
                                </a:rPr>
                                <m:t>𝑆𝑁</m:t>
                              </m:r>
                            </m:sub>
                          </m:sSub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sz="22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sz="220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sz="2200">
                                  <a:latin typeface="Cambria Math" panose="02040503050406030204" pitchFamily="18" charset="0"/>
                                </a:rPr>
                                <m:t>𝑅𝑒𝑚𝑜𝑡𝑒𝐼𝐷</m:t>
                              </m:r>
                            </m:sub>
                          </m:sSub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sz="22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sz="220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sz="2200">
                                  <a:latin typeface="Cambria Math" panose="02040503050406030204" pitchFamily="18" charset="0"/>
                                </a:rPr>
                                <m:t>𝑑𝑒𝑣𝑖𝑐𝑒</m:t>
                              </m:r>
                            </m:sub>
                          </m:sSub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sz="22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sz="220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sz="2200">
                                  <a:latin typeface="Cambria Math" panose="02040503050406030204" pitchFamily="18" charset="0"/>
                                </a:rPr>
                                <m:t>𝑝𝑒𝑟𝑠𝑜𝑛</m:t>
                              </m:r>
                            </m:sub>
                          </m:sSub>
                        </m:num>
                        <m:den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sz="2200"/>
              </a:p>
            </p:txBody>
          </p:sp>
        </ns0:Choice>
        <ns0:Fallback>
          <p:sp>
            <p:nvSpPr>
              <p:cNvPr id="7001" name="equation-identity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4629150"/>
                <a:ext cx="5905500" cy="666750"/>
              </a:xfrm>
              <a:prstGeom prst="rect">
                <a:avLst/>
              </a:prstGeom>
              <a:blipFill>
                <a:blip r:embed="rNative700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 sz="2200">
                    <a:noFill/>
                  </a:rPr>
                  <a:t> </a:t>
                </a:r>
              </a:p>
            </p:txBody>
          </p:sp>
        </ns0:Fallback>
      </ns0:AlternateContent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2" name="equation-plan"/>
              <p:cNvSpPr txBox="1">
                <a:spLocks noGrp="1"/>
              </p:cNvSpPr>
              <p:nvPr/>
            </p:nvSpPr>
            <p:spPr>
              <a:xfrm>
                <a:off x="609600" y="5200650"/>
                <a:ext cx="5905500" cy="619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sSub>
                        <m:sSubPr>
                          <m:ctrlPr>
                            <a:rPr sz="2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𝑝𝑙𝑎𝑛</m:t>
                          </m:r>
                        </m:sub>
                      </m:sSub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sz="220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i="1" sz="22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22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sz="2200">
                                  <a:latin typeface="Cambria Math" panose="02040503050406030204" pitchFamily="18" charset="0"/>
                                </a:rPr>
                                <m:t>𝛴</m:t>
                              </m:r>
                            </m:e>
                            <m:sub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sz="22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𝑟𝑜𝑢𝑡𝑒𝑂𝐾</m:t>
                          </m:r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 ∧ </m:t>
                          </m:r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𝑎𝑙𝑡𝑖𝑡𝑢𝑑𝑒𝑂𝐾</m:t>
                          </m:r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sz="2200"/>
              </a:p>
            </p:txBody>
          </p:sp>
        </ns0:Choice>
        <ns0:Fallback>
          <p:sp>
            <p:nvSpPr>
              <p:cNvPr id="7002" name="equation-plan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733925"/>
                <a:ext cx="6667500" cy="714375"/>
              </a:xfrm>
              <a:prstGeom prst="rect">
                <a:avLst/>
              </a:prstGeom>
              <a:blipFill>
                <a:blip r:embed="rNative700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 sz="2200">
                    <a:noFill/>
                  </a:rPr>
                  <a:t> </a:t>
                </a:r>
              </a:p>
            </p:txBody>
          </p:sp>
        </ns0:Fallback>
      </ns0:AlternateContent>
    </p:spTree>
    <p:extLst>
      <p:ext uri="{BB962C8B-B14F-4D97-AF65-F5344CB8AC3E}">
        <p14:creationId xmlns:p14="http://schemas.microsoft.com/office/powerpoint/2010/main" val="1364771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o0">
            <a:extLst xmlns:a="http://schemas.openxmlformats.org/drawingml/2006/main">
              <a:ext uri="{FF2B5EF4-FFF2-40B4-BE49-F238E27FC236}">
                <a16:creationId xmlns:a16="http://schemas.microsoft.com/office/drawing/2014/main" id="{409061EB-5A91-4E13-ABEF-360ECBA2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989778D4-41D5-463E-ACEB-851771A5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轨迹预处理、窗口与特征生成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25C401BF-469B-47AF-A9DA-A6DA4B55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F31E0D04-B947-4397-AB52-AC338266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9035FAEF-0D17-442C-A00E-62683B64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project_reference §3.3、§4；同次 case_trace.json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3411F1D6-67B5-4298-A7B3-F4C9BE86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05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80990E6B-567E-427E-8F91-90BC575D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清洗与坐标统一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24B0F954-BEDE-4A9D-AAD5-F951DD68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476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时间倒序拒绝；同时间戳取最后完整观测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同位置不同时刻保留，表达悬停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毫秒转秒；UTM平面坐标；核对高度基准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7806787E-B39B-4E5C-B0F8-6803F882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4381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意图窗口：120秒／最多240点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7E8CD0C6-1ACC-4562-82AC-F3367CCF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4381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适配器：末12点／聚类最多11段</a:t>
            </a:r>
          </a:p>
        </p:txBody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F995E319-4274-4744-BC0E-FBD6982D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直线度：首尾距离／路径长度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176C3A05-F71F-46C2-8974-11A9FEA8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324475"/>
            <a:ext cx="6200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同一轨迹产生多组特征，供不同下游模块使用；</a:t>
            </a:r>
          </a:p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单一特征不能直接证明真实意图。</a:t>
            </a:r>
          </a:p>
        </p:txBody>
      </p:sp>
      <p:sp>
        <p:nvSpPr>
          <p:cNvPr id="13" name="line-10">
            <a:extLst xmlns:a="http://schemas.openxmlformats.org/drawingml/2006/main">
              <a:ext uri="{FF2B5EF4-FFF2-40B4-BE49-F238E27FC236}">
                <a16:creationId xmlns:a16="http://schemas.microsoft.com/office/drawing/2014/main" id="{1949AA53-FF7C-43F0-AB88-D39C4D4B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1341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57009072-AE99-4703-9C47-5253CAED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窗口、时间单位和高度基准必须随特征保留，避免混用。</a:t>
            </a:r>
          </a:p>
        </p:txBody>
      </p:sp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1" name="native-equation-straightness"/>
              <p:cNvSpPr txBox="1">
                <a:spLocks noGrp="1"/>
              </p:cNvSpPr>
              <p:nvPr/>
            </p:nvSpPr>
            <p:spPr>
              <a:xfrm>
                <a:off x="609600" y="4905375"/>
                <a:ext cx="4381500" cy="619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lang="zh-CN" sz="22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𝑆</m:t>
                      </m:r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lang="zh-CN" sz="22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𝑑</m:t>
                          </m:r>
                          <m:d>
                            <m:dPr>
                              <m:ctrlPr>
                                <a:rPr lang="zh-CN" sz="2200" i="1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w:rPr>
                                      <w:sz w:val="44"/>
                                      <w:rFonts w:ascii="Cambria Math" w:hAnsi="Cambria Math" w:eastAsia="Cambria Math"/>
                                    </w:r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w:rPr>
                                      <w:sz w:val="44"/>
                                      <w:rFonts w:ascii="Cambria Math" w:hAnsi="Cambria Math" w:eastAsia="Cambria Math"/>
                                    </w:r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w:rPr>
                                      <w:sz w:val="44"/>
                                      <w:rFonts w:ascii="Cambria Math" w:hAnsi="Cambria Math" w:eastAsia="Cambria Math"/>
                                    </w:r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w:rPr>
                                      <w:sz w:val="44"/>
                                      <w:rFonts w:ascii="Cambria Math" w:hAnsi="Cambria Math" w:eastAsia="Cambria Math"/>
                                    </w:r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𝑛</m:t>
                                  </m:r>
                                  <m:r>
                                    <w:rPr>
                                      <w:sz w:val="44"/>
                                      <w:rFonts w:ascii="Cambria Math" w:hAnsi="Cambria Math" w:eastAsia="Cambria Math"/>
                                    </w:r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lang="zh-CN" sz="22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, </m:t>
                      </m:r>
                      <m:d>
                        <m:dPr>
                          <m:ctrl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𝐿</m:t>
                          </m:r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sz="2200"/>
              </a:p>
            </p:txBody>
          </p:sp>
        </ns0:Choice>
        <ns0:Fallback>
          <p:sp>
            <p:nvSpPr>
              <p:cNvPr id="7001" name="native-equation-straightness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25" y="4429125"/>
                <a:ext cx="3190875" cy="857250"/>
              </a:xfrm>
              <a:prstGeom prst="rect">
                <a:avLst/>
              </a:prstGeom>
              <a:blipFill>
                <a:blip r:embed="rNative7001"/>
                <a:stretch>
                  <a:fillRect l="-9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 sz="2200">
                    <a:noFill/>
                  </a:rPr>
                  <a:t> </a:t>
                </a:r>
              </a:p>
            </p:txBody>
          </p:sp>
        </ns0:Fallback>
      </ns0:AlternateContent>
      <p:graphicFrame>
        <p:nvGraphicFramePr>
          <p:cNvPr id="7002" name="native-table-7002"/>
          <p:cNvGraphicFramePr/>
          <p:nvPr/>
        </p:nvGraphicFramePr>
        <p:xfrm>
          <a:off xmlns:a="http://schemas.openxmlformats.org/drawingml/2006/main" x="5381625" y="1381125"/>
          <a:ext xmlns:a="http://schemas.openxmlformats.org/drawingml/2006/main" cx="6200775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22240"/>
                <a:gridCol w="4278535"/>
              </a:tblGrid>
              <a:tr h="6191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特征组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计算差异与用途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6191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速度、方向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引擎近期均值；聚类稳健中位数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悬停、跨度</a:t>
                      </a:r>
                      <a:endParaRPr lang="zh-CN" sz="1700"/>
                    </a:p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直线度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轨迹行为证据；使用各自窗口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6191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设施相对运动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边界距离、趋近与时间估计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群体一致性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同设施、航向与ETA离散度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619125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实际成员示例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14.52 m/s；跨度69.57 m；直线度≈1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1531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o0">
            <a:extLst xmlns:a="http://schemas.openxmlformats.org/drawingml/2006/main">
              <a:ext uri="{FF2B5EF4-FFF2-40B4-BE49-F238E27FC236}">
                <a16:creationId xmlns:a16="http://schemas.microsoft.com/office/drawing/2014/main" id="{EC2C0196-B51B-4A0E-9C96-FE6FE8B4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BDE2C26C-7443-429B-8C1F-2CE7E854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空间关系计算与上下文构建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58E13F41-D7FB-497D-BDA5-67CA31A5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E883C12F-77FA-4FBC-B568-433287CE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01AB7140-A941-4E7E-9B5F-0073D3C1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project_reference §16.9–16.10；Word §23.9–23.10；附录A4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D345BC17-1835-411B-A4E2-1EE424F5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06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C25189AC-914F-4F60-9942-EC9870F6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几何关系与边界距离</a:t>
            </a:r>
          </a:p>
        </p:txBody>
      </p:sp>
      <p:sp>
        <p:nvSpPr>
          <p:cNvPr id="8" name="line-5">
            <a:extLst xmlns:a="http://schemas.openxmlformats.org/drawingml/2006/main">
              <a:ext uri="{FF2B5EF4-FFF2-40B4-BE49-F238E27FC236}">
                <a16:creationId xmlns:a16="http://schemas.microsoft.com/office/drawing/2014/main" id="{E4BDD77C-6F61-4E24-AB0A-A0A6A213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7250" y="1905000"/>
            <a:ext cx="523875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9" name="line-5">
            <a:extLst xmlns:a="http://schemas.openxmlformats.org/drawingml/2006/main">
              <a:ext uri="{FF2B5EF4-FFF2-40B4-BE49-F238E27FC236}">
                <a16:creationId xmlns:a16="http://schemas.microsoft.com/office/drawing/2014/main" id="{45547648-BB35-4C39-A447-AA36BC22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81125" y="1809750"/>
            <a:ext cx="18573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10" name="line-5">
            <a:extLst xmlns:a="http://schemas.openxmlformats.org/drawingml/2006/main">
              <a:ext uri="{FF2B5EF4-FFF2-40B4-BE49-F238E27FC236}">
                <a16:creationId xmlns:a16="http://schemas.microsoft.com/office/drawing/2014/main" id="{E56ECE46-98CB-40FC-849E-EE8410D0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38500" y="1809750"/>
            <a:ext cx="95250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11" name="line-5">
            <a:extLst xmlns:a="http://schemas.openxmlformats.org/drawingml/2006/main">
              <a:ext uri="{FF2B5EF4-FFF2-40B4-BE49-F238E27FC236}">
                <a16:creationId xmlns:a16="http://schemas.microsoft.com/office/drawing/2014/main" id="{FC871D6F-8581-4C09-B306-EB6ECF26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25" y="2762250"/>
            <a:ext cx="71437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12" name="line-5">
            <a:extLst xmlns:a="http://schemas.openxmlformats.org/drawingml/2006/main">
              <a:ext uri="{FF2B5EF4-FFF2-40B4-BE49-F238E27FC236}">
                <a16:creationId xmlns:a16="http://schemas.microsoft.com/office/drawing/2014/main" id="{C3E23A80-9FE8-4565-BC90-FB928B99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24000" y="3714750"/>
            <a:ext cx="1952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13" name="line-5">
            <a:extLst xmlns:a="http://schemas.openxmlformats.org/drawingml/2006/main">
              <a:ext uri="{FF2B5EF4-FFF2-40B4-BE49-F238E27FC236}">
                <a16:creationId xmlns:a16="http://schemas.microsoft.com/office/drawing/2014/main" id="{622F5FEE-422D-4D46-AFA9-777FF649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7250" y="3048000"/>
            <a:ext cx="66675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9F1325D9-0E24-4696-B24B-10E5EB47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399CEC32-1414-46B9-8D92-14E0CD21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71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D17D38E6-D66A-48EB-AA30-D27B9E9B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ine-8">
            <a:extLst xmlns:a="http://schemas.openxmlformats.org/drawingml/2006/main">
              <a:ext uri="{FF2B5EF4-FFF2-40B4-BE49-F238E27FC236}">
                <a16:creationId xmlns:a16="http://schemas.microsoft.com/office/drawing/2014/main" id="{B4C09B65-8800-45D8-BFC6-B43480A6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019550" y="3000375"/>
            <a:ext cx="52387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680B"/>
            </a:solidFill>
            <a:prstDash val="dash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1191CDD7-515C-4DC1-8D1D-A531A600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100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到最近边界的距离</a:t>
            </a:r>
          </a:p>
        </p:txBody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F7DB16C0-2595-468F-8602-5B88419D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内外关系＋高度适用性＋边界容差</a:t>
            </a:r>
          </a:p>
        </p:txBody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86B6EEFC-50FE-4242-AFD7-72D21162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距离按实际时间回归；负斜率的含义取决于内外状态。</a:t>
            </a:r>
          </a:p>
        </p:txBody>
      </p:sp>
      <p:sp>
        <p:nvSpPr>
          <p:cNvPr id="21" name="o20">
            <a:extLst xmlns:a="http://schemas.openxmlformats.org/drawingml/2006/main">
              <a:ext uri="{FF2B5EF4-FFF2-40B4-BE49-F238E27FC236}">
                <a16:creationId xmlns:a16="http://schemas.microsoft.com/office/drawing/2014/main" id="{BCD1BB0F-3E32-4212-8546-E0FDE1BB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95400"/>
            <a:ext cx="557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候选筛选 → 确定性排序 → SpatialContext</a:t>
            </a:r>
          </a:p>
        </p:txBody>
      </p:sp>
      <p:sp>
        <p:nvSpPr>
          <p:cNvPr id="22" name="o21">
            <a:extLst xmlns:a="http://schemas.openxmlformats.org/drawingml/2006/main">
              <a:ext uri="{FF2B5EF4-FFF2-40B4-BE49-F238E27FC236}">
                <a16:creationId xmlns:a16="http://schemas.microsoft.com/office/drawing/2014/main" id="{8ADA5299-4C72-4E00-8C21-845E5B70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38625"/>
            <a:ext cx="557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共享上下文字段</a:t>
            </a:r>
          </a:p>
        </p:txBody>
      </p:sp>
      <p:sp>
        <p:nvSpPr>
          <p:cNvPr id="23" name="o22">
            <a:extLst xmlns:a="http://schemas.openxmlformats.org/drawingml/2006/main">
              <a:ext uri="{FF2B5EF4-FFF2-40B4-BE49-F238E27FC236}">
                <a16:creationId xmlns:a16="http://schemas.microsoft.com/office/drawing/2014/main" id="{82CA417E-E37B-4915-84FF-E38CEBC7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86300"/>
            <a:ext cx="5572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scope／uncertainty；主区域与区域类型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所属空域、关联设施；圈层与运动趋势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边界距离、命中记录</a:t>
            </a:r>
          </a:p>
        </p:txBody>
      </p:sp>
      <p:sp>
        <p:nvSpPr>
          <p:cNvPr id="24" name="line-14">
            <a:extLst xmlns:a="http://schemas.openxmlformats.org/drawingml/2006/main">
              <a:ext uri="{FF2B5EF4-FFF2-40B4-BE49-F238E27FC236}">
                <a16:creationId xmlns:a16="http://schemas.microsoft.com/office/drawing/2014/main" id="{27A68B3C-6E5B-4FE2-BA9B-8C620790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1341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25" name="o24">
            <a:extLst xmlns:a="http://schemas.openxmlformats.org/drawingml/2006/main">
              <a:ext uri="{FF2B5EF4-FFF2-40B4-BE49-F238E27FC236}">
                <a16:creationId xmlns:a16="http://schemas.microsoft.com/office/drawing/2014/main" id="{F499E054-1BEE-4B03-AA0D-342157F0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关联范围参考边界；高度未知保留不确定性；防控空域与禁飞区ID分别保存。</a:t>
            </a:r>
          </a:p>
        </p:txBody>
      </p:sp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1" name="equation-slope"/>
              <p:cNvSpPr txBox="1">
                <a:spLocks noGrp="1"/>
              </p:cNvSpPr>
              <p:nvPr/>
            </p:nvSpPr>
            <p:spPr>
              <a:xfrm>
                <a:off x="609600" y="4867275"/>
                <a:ext cx="4953000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r>
                        <w:rPr>
                          <w:sz w:val="42"/>
                          <w:rFonts w:ascii="Cambria Math" w:hAnsi="Cambria Math" w:eastAsia="Cambria Math"/>
                        </w:rPr>
                        <a:rPr sz="2100">
                          <a:latin typeface="Cambria Math" panose="02040503050406030204" pitchFamily="18" charset="0"/>
                        </a:rPr>
                        <m:t>𝑏</m:t>
                      </m:r>
                      <m:r>
                        <w:rPr>
                          <w:sz w:val="42"/>
                          <w:rFonts w:ascii="Cambria Math" w:hAnsi="Cambria Math" w:eastAsia="Cambria Math"/>
                        </w:rPr>
                        <a:rPr sz="210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i="1" sz="21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21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sz="2100">
                                  <a:latin typeface="Cambria Math" panose="02040503050406030204" pitchFamily="18" charset="0"/>
                                </a:rPr>
                                <m:t>𝛴</m:t>
                              </m:r>
                            </m:e>
                            <m:sub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sz="21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a:rPr sz="2100">
                              <a:latin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sz="21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sz="21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sz="21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a:rPr sz="2100">
                              <a:latin typeface="Cambria Math" panose="02040503050406030204" pitchFamily="18" charset="0"/>
                            </a:rPr>
                            <m:t> − </m:t>
                          </m:r>
                          <m:bar>
                            <m:barPr>
                              <m:pos m:val="top"/>
                              <m:ctrlPr>
                                <a:rPr sz="210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sz="21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bar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a:rPr sz="210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sz="21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sz="21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sz="21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a:rPr sz="2100">
                              <a:latin typeface="Cambria Math" panose="02040503050406030204" pitchFamily="18" charset="0"/>
                            </a:rPr>
                            <m:t> − </m:t>
                          </m:r>
                          <m:bar>
                            <m:barPr>
                              <m:pos m:val="top"/>
                              <m:ctrlPr>
                                <a:rPr sz="210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sz="21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bar>
                          <m:r>
                            <w:rPr>
                              <w:sz w:val="42"/>
                              <w:rFonts w:ascii="Cambria Math" w:hAnsi="Cambria Math" w:eastAsia="Cambria Math"/>
                            </w:rPr>
                            <a:rPr sz="21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sz="21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sz="2100">
                                  <a:latin typeface="Cambria Math" panose="02040503050406030204" pitchFamily="18" charset="0"/>
                                </a:rPr>
                                <m:t>𝛴</m:t>
                              </m:r>
                            </m:e>
                            <m:sub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sz="21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sz="21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sz="21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sz="21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w:rPr>
                                      <w:sz w:val="42"/>
                                      <w:rFonts w:ascii="Cambria Math" w:hAnsi="Cambria Math" w:eastAsia="Cambria Math"/>
                                    </w:rPr>
                                    <a:rPr sz="210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w:rPr>
                                      <w:sz w:val="42"/>
                                      <w:rFonts w:ascii="Cambria Math" w:hAnsi="Cambria Math" w:eastAsia="Cambria Math"/>
                                    </w:rPr>
                                    <a:rPr sz="21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sz="210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bar>
                                <m:barPr>
                                  <m:pos m:val="top"/>
                                  <m:ctrlPr>
                                    <a:rPr sz="210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w:rPr>
                                      <w:sz w:val="42"/>
                                      <w:rFonts w:ascii="Cambria Math" w:hAnsi="Cambria Math" w:eastAsia="Cambria Math"/>
                                    </w:rPr>
                                    <a:rPr sz="210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bar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sz="21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w:rPr>
                                  <w:sz w:val="42"/>
                                  <w:rFonts w:ascii="Cambria Math" w:hAnsi="Cambria Math" w:eastAsia="Cambria Math"/>
                                </w:rPr>
                                <a:rPr sz="21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sz="2100"/>
              </a:p>
            </p:txBody>
          </p:sp>
        </ns0:Choice>
        <ns0:Fallback>
          <p:sp>
            <p:nvSpPr>
              <p:cNvPr id="7001" name="equation-slope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4762500"/>
                <a:ext cx="4857750" cy="685800"/>
              </a:xfrm>
              <a:prstGeom prst="rect">
                <a:avLst/>
              </a:prstGeom>
              <a:blipFill>
                <a:blip r:embed="rNative700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 sz="2100">
                    <a:noFill/>
                  </a:rPr>
                  <a:t> </a:t>
                </a:r>
              </a:p>
            </p:txBody>
          </p:sp>
        </ns0:Fallback>
      </ns0:AlternateContent>
      <p:graphicFrame>
        <p:nvGraphicFramePr>
          <p:cNvPr id="7002" name="native-table-7002"/>
          <p:cNvGraphicFramePr/>
          <p:nvPr/>
        </p:nvGraphicFramePr>
        <p:xfrm>
          <a:off xmlns:a="http://schemas.openxmlformats.org/drawingml/2006/main" x="6000750" y="1809750"/>
          <a:ext xmlns:a="http://schemas.openxmlformats.org/drawingml/2006/main" cx="5572125" cy="2143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71638"/>
                <a:gridCol w="3900488"/>
              </a:tblGrid>
              <a:tr h="535781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判定依据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535781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有效候选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有效期、几何、高度与外层关联范围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命中候选排序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严重程度 → 边界距离 → 稳定ID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535781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未命中候选排序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最近边界距离 → 严重程度 → 稳定ID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5190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CE20AB-E1DB-4AA5-802B-8CA3401829D1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620000" y="5391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BF5405-7BB4-4DCC-B961-C5424E2EBA5E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714750" y="5391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27" name="o0">
            <a:extLst xmlns:a="http://schemas.openxmlformats.org/drawingml/2006/main">
              <a:ext uri="{FF2B5EF4-FFF2-40B4-BE49-F238E27FC236}">
                <a16:creationId xmlns:a16="http://schemas.microsoft.com/office/drawing/2014/main" id="{6313E838-579E-40E0-A9F2-149C6CB5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AEBDF24F-F564-40CD-8DDE-4E27C56F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多设施场景下的证据作用域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D87A3B50-A2D1-4C4E-912F-10B521E3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CC99914F-8741-43FD-9A1D-0BD10AAA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29624CF9-12DD-48B5-9ACB-52D9D191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engine.py _spatial_context_key / _same_primary_context / _facilities_for_context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3E9C5A7B-6D91-4ADD-9AA8-3E876079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07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F89673EB-0E49-4DC7-A1E3-8B94349A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238500" cy="2667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4E88"/>
            </a:solidFill>
            <a:prstDash val="solid"/>
          </a:ln>
        </p:spPr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8675E6D7-8AD7-4A23-A8F9-689ACADA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956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19050">
            <a:solidFill>
              <a:srgbClr val="224E88"/>
            </a:solidFill>
            <a:prstDash val="solid"/>
          </a:ln>
        </p:spPr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4CC8E36B-65CC-4439-AC41-7784E9EA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71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设施 A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FF61206D-DE6E-49C9-AA8F-E9378D46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3238500" cy="2667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4E88"/>
            </a:solidFill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393F5AAB-126C-4A35-9775-017D0006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19050">
            <a:solidFill>
              <a:srgbClr val="224E88"/>
            </a:solidFill>
            <a:prstDash val="solid"/>
          </a:ln>
        </p:spPr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0998DFBE-783F-4100-8861-B341EDE7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设施 B</a:t>
            </a:r>
          </a:p>
        </p:txBody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C68B7D44-D914-48A5-8908-9A02EE3B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82E14234-47DC-4B6C-9496-3A9E18BA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19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3282DB69-F8F2-4DF7-8EE0-53D52125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98493681-3625-4080-B62C-45462E53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79BF1571-6EA7-4D98-819C-382EA928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4D5F7F8D-A00D-47FB-86DD-01517253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成员空间上下文集合</a:t>
            </a:r>
          </a:p>
        </p:txBody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EC5AB1AB-592B-4A7B-85F2-46A1B40C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00625"/>
            <a:ext cx="3143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确定主上下文</a:t>
            </a:r>
          </a:p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选取同作用域成员</a:t>
            </a:r>
          </a:p>
        </p:txBody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F91D8625-4B85-47F1-92B5-DFCA00C2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00625"/>
            <a:ext cx="320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意图／评分／ETA</a:t>
            </a:r>
          </a:p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使用一致设施依据</a:t>
            </a:r>
          </a:p>
        </p:txBody>
      </p:sp>
      <p:sp>
        <p:nvSpPr>
          <p:cNvPr id="21" name="o22">
            <a:extLst xmlns:a="http://schemas.openxmlformats.org/drawingml/2006/main">
              <a:ext uri="{FF2B5EF4-FFF2-40B4-BE49-F238E27FC236}">
                <a16:creationId xmlns:a16="http://schemas.microsoft.com/office/drawing/2014/main" id="{E123E7D4-DD49-4D2D-BCCD-66E46288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A方向的成员</a:t>
            </a:r>
          </a:p>
        </p:txBody>
      </p:sp>
      <p:sp>
        <p:nvSpPr>
          <p:cNvPr id="22" name="o23">
            <a:extLst xmlns:a="http://schemas.openxmlformats.org/drawingml/2006/main">
              <a:ext uri="{FF2B5EF4-FFF2-40B4-BE49-F238E27FC236}">
                <a16:creationId xmlns:a16="http://schemas.microsoft.com/office/drawing/2014/main" id="{BFC240AB-F631-4159-BE38-141C7291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B方向的成员</a:t>
            </a:r>
          </a:p>
        </p:txBody>
      </p:sp>
      <p:sp>
        <p:nvSpPr>
          <p:cNvPr id="23" name="line-20">
            <a:extLst xmlns:a="http://schemas.openxmlformats.org/drawingml/2006/main">
              <a:ext uri="{FF2B5EF4-FFF2-40B4-BE49-F238E27FC236}">
                <a16:creationId xmlns:a16="http://schemas.microsoft.com/office/drawing/2014/main" id="{825C4030-58FD-450B-9D6D-B20A1207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24" name="o25">
            <a:extLst xmlns:a="http://schemas.openxmlformats.org/drawingml/2006/main">
              <a:ext uri="{FF2B5EF4-FFF2-40B4-BE49-F238E27FC236}">
                <a16:creationId xmlns:a16="http://schemas.microsoft.com/office/drawing/2014/main" id="{9CDA0D48-F905-4795-AC08-12D9F93C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已知不相关与空间不可用分别处理；后者不直接套用低档上限。</a:t>
            </a:r>
          </a:p>
        </p:txBody>
      </p:sp>
    </p:spTree>
    <p:extLst>
      <p:ext uri="{BB962C8B-B14F-4D97-AF65-F5344CB8AC3E}">
        <p14:creationId xmlns:p14="http://schemas.microsoft.com/office/powerpoint/2010/main" val="2926867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54DBCB-D607-40CE-AA44-1005CED9F11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53450" y="16192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A7FD11-DCDE-448C-A86C-32B32674559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72150" y="16192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8549B6-1339-4AB9-A6CA-6E2E7E6888D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90850" y="16192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26" name="o0">
            <a:extLst xmlns:a="http://schemas.openxmlformats.org/drawingml/2006/main">
              <a:ext uri="{FF2B5EF4-FFF2-40B4-BE49-F238E27FC236}">
                <a16:creationId xmlns:a16="http://schemas.microsoft.com/office/drawing/2014/main" id="{3CACE9ED-FA76-463A-B6ED-9C5D2CCE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DBA34509-9AE1-4BF5-AF50-54306BDA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DBSCAN复合距离与邻域分组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B315A54F-0A24-4232-860B-3D11D4F7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451511CF-F278-4944-8A78-DEB13B65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7D16EA65-A570-47E0-892A-6E8E67C2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project_reference §16.3–16.4；Word §23.3–23.4；附录A2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4D9F98BA-2814-4FDC-8D44-DE099FE1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08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4F11C960-9394-4F0B-897B-FDA34AD0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有效运动段／真实时间差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464340F0-53B6-4916-A19F-6D2DA78D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23975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速度与单位方向稳健统计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D8F71419-3CA0-4B07-9F8F-79994FFA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23975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尺度标准化／可靠度门控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B5B6C506-AF40-4F4A-BCA4-C515FA6C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23975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预计算距离 → DBSCAN</a:t>
            </a:r>
          </a:p>
        </p:txBody>
      </p:sp>
      <p:sp>
        <p:nvSpPr>
          <p:cNvPr id="11" name="o13">
            <a:extLst xmlns:a="http://schemas.openxmlformats.org/drawingml/2006/main">
              <a:ext uri="{FF2B5EF4-FFF2-40B4-BE49-F238E27FC236}">
                <a16:creationId xmlns:a16="http://schemas.microsoft.com/office/drawing/2014/main" id="{98DD1B25-4829-4AA4-B620-2CE22F0A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低速、启停、明显转向控制方向或速度贡献；成对可靠度取两者最小值。</a:t>
            </a:r>
          </a:p>
        </p:txBody>
      </p:sp>
      <p:sp>
        <p:nvSpPr>
          <p:cNvPr id="12" name="line-9">
            <a:extLst xmlns:a="http://schemas.openxmlformats.org/drawingml/2006/main">
              <a:ext uri="{FF2B5EF4-FFF2-40B4-BE49-F238E27FC236}">
                <a16:creationId xmlns:a16="http://schemas.microsoft.com/office/drawing/2014/main" id="{02E2B7C0-6AF5-46FD-B454-1D2EC9F6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0" y="4429125"/>
            <a:ext cx="171450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0"/>
            </a:solidFill>
            <a:prstDash val="solid"/>
          </a:ln>
        </p:spPr>
      </p:sp>
      <p:sp>
        <p:nvSpPr>
          <p:cNvPr id="13" name="line-9">
            <a:extLst xmlns:a="http://schemas.openxmlformats.org/drawingml/2006/main">
              <a:ext uri="{FF2B5EF4-FFF2-40B4-BE49-F238E27FC236}">
                <a16:creationId xmlns:a16="http://schemas.microsoft.com/office/drawing/2014/main" id="{F6C4DA79-E59D-4E49-9495-B1F9B27E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82000" y="4429125"/>
            <a:ext cx="171450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0"/>
            </a:solidFill>
            <a:prstDash val="solid"/>
          </a:ln>
        </p:spPr>
      </p:sp>
      <p:sp>
        <p:nvSpPr>
          <p:cNvPr id="14" name="o16">
            <a:extLst xmlns:a="http://schemas.openxmlformats.org/drawingml/2006/main">
              <a:ext uri="{FF2B5EF4-FFF2-40B4-BE49-F238E27FC236}">
                <a16:creationId xmlns:a16="http://schemas.microsoft.com/office/drawing/2014/main" id="{BBAD8103-D711-4B7F-A93E-631FA708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29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5" name="o17">
            <a:extLst xmlns:a="http://schemas.openxmlformats.org/drawingml/2006/main">
              <a:ext uri="{FF2B5EF4-FFF2-40B4-BE49-F238E27FC236}">
                <a16:creationId xmlns:a16="http://schemas.microsoft.com/office/drawing/2014/main" id="{F0FF3085-8CB3-4EF4-A820-234CB981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57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6" name="o18">
            <a:extLst xmlns:a="http://schemas.openxmlformats.org/drawingml/2006/main">
              <a:ext uri="{FF2B5EF4-FFF2-40B4-BE49-F238E27FC236}">
                <a16:creationId xmlns:a16="http://schemas.microsoft.com/office/drawing/2014/main" id="{C38CBC4B-05C4-4AF3-969F-15C60001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229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7" name="o19">
            <a:extLst xmlns:a="http://schemas.openxmlformats.org/drawingml/2006/main">
              <a:ext uri="{FF2B5EF4-FFF2-40B4-BE49-F238E27FC236}">
                <a16:creationId xmlns:a16="http://schemas.microsoft.com/office/drawing/2014/main" id="{C2BFF9AE-BC8C-4E87-81B8-55A34CD6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5353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18" name="o20">
            <a:extLst xmlns:a="http://schemas.openxmlformats.org/drawingml/2006/main">
              <a:ext uri="{FF2B5EF4-FFF2-40B4-BE49-F238E27FC236}">
                <a16:creationId xmlns:a16="http://schemas.microsoft.com/office/drawing/2014/main" id="{0FE83EB9-D270-4661-B916-EB898D64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197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A、B、C：链式连通成一簇</a:t>
            </a:r>
          </a:p>
        </p:txBody>
      </p:sp>
      <p:sp>
        <p:nvSpPr>
          <p:cNvPr id="19" name="o21">
            <a:extLst xmlns:a="http://schemas.openxmlformats.org/drawingml/2006/main">
              <a:ext uri="{FF2B5EF4-FFF2-40B4-BE49-F238E27FC236}">
                <a16:creationId xmlns:a16="http://schemas.microsoft.com/office/drawing/2014/main" id="{B13C1575-9203-4611-95A8-5A498526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9750"/>
            <a:ext cx="2524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D：单目标簇</a:t>
            </a:r>
          </a:p>
        </p:txBody>
      </p:sp>
      <p:sp>
        <p:nvSpPr>
          <p:cNvPr id="20" name="o22">
            <a:extLst xmlns:a="http://schemas.openxmlformats.org/drawingml/2006/main">
              <a:ext uri="{FF2B5EF4-FFF2-40B4-BE49-F238E27FC236}">
                <a16:creationId xmlns:a16="http://schemas.microsoft.com/office/drawing/2014/main" id="{C8D780F7-4B7D-4CFC-A958-C2D44409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解释示意矩阵</a:t>
            </a:r>
          </a:p>
        </p:txBody>
      </p:sp>
      <p:sp>
        <p:nvSpPr>
          <p:cNvPr id="21" name="line-16">
            <a:extLst xmlns:a="http://schemas.openxmlformats.org/drawingml/2006/main">
              <a:ext uri="{FF2B5EF4-FFF2-40B4-BE49-F238E27FC236}">
                <a16:creationId xmlns:a16="http://schemas.microsoft.com/office/drawing/2014/main" id="{E0D0999B-DF98-4352-BB8E-E0BC9D6C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1341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22" name="o24">
            <a:extLst xmlns:a="http://schemas.openxmlformats.org/drawingml/2006/main">
              <a:ext uri="{FF2B5EF4-FFF2-40B4-BE49-F238E27FC236}">
                <a16:creationId xmlns:a16="http://schemas.microsoft.com/office/drawing/2014/main" id="{C2078A4E-8463-4DF7-98E8-BAAAE200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eps=1.5，min_samples=1；复合距离不是米数；正常路径仍保留平方规模成对矩阵。</a:t>
            </a:r>
          </a:p>
        </p:txBody>
      </p:sp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1" name="equation-distance"/>
              <p:cNvSpPr txBox="1">
                <a:spLocks noGrp="1"/>
              </p:cNvSpPr>
              <p:nvPr/>
            </p:nvSpPr>
            <p:spPr>
              <a:xfrm>
                <a:off x="609600" y="2162175"/>
                <a:ext cx="7143750" cy="657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sSub>
                        <m:sSubPr>
                          <m:ctrlPr>
                            <a:rPr sz="24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a:rPr sz="240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a:rPr sz="240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w:rPr>
                          <w:sz w:val="48"/>
                          <w:rFonts w:ascii="Cambria Math" w:hAnsi="Cambria Math" w:eastAsia="Cambria Math"/>
                        </w:rPr>
                        <a:rPr sz="2400">
                          <a:latin typeface="Cambria Math" panose="02040503050406030204" pitchFamily="18" charset="0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i="1" sz="240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i="1" sz="24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sz="24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w:rPr>
                                      <w:sz w:val="48"/>
                                      <w:rFonts w:ascii="Cambria Math" w:hAnsi="Cambria Math" w:eastAsia="Cambria Math"/>
                                    </w:rPr>
                                    <a:rPr sz="240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w:rPr>
                                      <w:sz w:val="48"/>
                                      <w:rFonts w:ascii="Cambria Math" w:hAnsi="Cambria Math" w:eastAsia="Cambria Math"/>
                                    </w:rPr>
                                    <a:rPr sz="2400">
                                      <a:latin typeface="Cambria Math" panose="02040503050406030204" pitchFamily="18" charset="0"/>
                                    </a:rPr>
                                    <m:t>𝑝𝑜𝑠</m:t>
                                  </m:r>
                                </m:sub>
                              </m:sSub>
                            </m:e>
                            <m:sup>
                              <m:r>
                                <w:rPr>
                                  <w:sz w:val="48"/>
                                  <w:rFonts w:ascii="Cambria Math" w:hAnsi="Cambria Math" w:eastAsia="Cambria Math"/>
                                </w:rPr>
                                <a:rPr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a:rPr sz="2400">
                              <a:latin typeface="Cambria Math" panose="02040503050406030204" pitchFamily="18" charset="0"/>
                            </a:rPr>
                            <m:t> + </m:t>
                          </m:r>
                          <m:sSup>
                            <m:sSupPr>
                              <m:ctrlPr>
                                <a:rPr sz="24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w:rPr>
                                  <w:sz w:val="48"/>
                                  <w:rFonts w:ascii="Cambria Math" w:hAnsi="Cambria Math" w:eastAsia="Cambria Math"/>
                                </w:rPr>
                                <a:rPr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sz="24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w:rPr>
                                      <w:sz w:val="48"/>
                                      <w:rFonts w:ascii="Cambria Math" w:hAnsi="Cambria Math" w:eastAsia="Cambria Math"/>
                                    </w:rPr>
                                    <a:rPr sz="240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w:rPr>
                                      <w:sz w:val="48"/>
                                      <w:rFonts w:ascii="Cambria Math" w:hAnsi="Cambria Math" w:eastAsia="Cambria Math"/>
                                    </w:rPr>
                                    <a:rPr sz="2400">
                                      <a:latin typeface="Cambria Math" panose="02040503050406030204" pitchFamily="18" charset="0"/>
                                    </a:rPr>
                                    <m:t>𝑑𝑖𝑟</m:t>
                                  </m:r>
                                </m:sub>
                              </m:sSub>
                              <m:r>
                                <w:rPr>
                                  <w:sz w:val="48"/>
                                  <w:rFonts w:ascii="Cambria Math" w:hAnsi="Cambria Math" w:eastAsia="Cambria Math"/>
                                </w:rPr>
                                <a:rPr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sz="24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w:rPr>
                                      <w:sz w:val="48"/>
                                      <w:rFonts w:ascii="Cambria Math" w:hAnsi="Cambria Math" w:eastAsia="Cambria Math"/>
                                    </w:rPr>
                                    <a:rPr sz="240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w:rPr>
                                      <w:sz w:val="48"/>
                                      <w:rFonts w:ascii="Cambria Math" w:hAnsi="Cambria Math" w:eastAsia="Cambria Math"/>
                                    </w:rPr>
                                    <a:rPr sz="2400">
                                      <a:latin typeface="Cambria Math" panose="02040503050406030204" pitchFamily="18" charset="0"/>
                                    </a:rPr>
                                    <m:t>𝑑𝑖𝑟</m:t>
                                  </m:r>
                                </m:sub>
                              </m:sSub>
                              <m:r>
                                <w:rPr>
                                  <w:sz w:val="48"/>
                                  <w:rFonts w:ascii="Cambria Math" w:hAnsi="Cambria Math" w:eastAsia="Cambria Math"/>
                                </w:rPr>
                                <a:rPr sz="24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w:rPr>
                                  <w:sz w:val="48"/>
                                  <w:rFonts w:ascii="Cambria Math" w:hAnsi="Cambria Math" w:eastAsia="Cambria Math"/>
                                </w:rPr>
                                <a:rPr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w:rPr>
                              <w:sz w:val="48"/>
                              <w:rFonts w:ascii="Cambria Math" w:hAnsi="Cambria Math" w:eastAsia="Cambria Math"/>
                            </w:rPr>
                            <a:rPr sz="2400">
                              <a:latin typeface="Cambria Math" panose="02040503050406030204" pitchFamily="18" charset="0"/>
                            </a:rPr>
                            <m:t> + </m:t>
                          </m:r>
                          <m:sSup>
                            <m:sSupPr>
                              <m:ctrlPr>
                                <a:rPr sz="24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w:rPr>
                                  <w:sz w:val="48"/>
                                  <w:rFonts w:ascii="Cambria Math" w:hAnsi="Cambria Math" w:eastAsia="Cambria Math"/>
                                </w:rPr>
                                <a:rPr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sz="24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w:rPr>
                                      <w:sz w:val="48"/>
                                      <w:rFonts w:ascii="Cambria Math" w:hAnsi="Cambria Math" w:eastAsia="Cambria Math"/>
                                    </w:rPr>
                                    <a:rPr sz="240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w:rPr>
                                      <w:sz w:val="48"/>
                                      <w:rFonts w:ascii="Cambria Math" w:hAnsi="Cambria Math" w:eastAsia="Cambria Math"/>
                                    </w:rPr>
                                    <a:rPr sz="2400">
                                      <a:latin typeface="Cambria Math" panose="02040503050406030204" pitchFamily="18" charset="0"/>
                                    </a:rPr>
                                    <m:t>𝑠𝑝𝑒𝑒𝑑</m:t>
                                  </m:r>
                                </m:sub>
                              </m:sSub>
                              <m:r>
                                <w:rPr>
                                  <w:sz w:val="48"/>
                                  <w:rFonts w:ascii="Cambria Math" w:hAnsi="Cambria Math" w:eastAsia="Cambria Math"/>
                                </w:rPr>
                                <a:rPr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sz="24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w:rPr>
                                      <w:sz w:val="48"/>
                                      <w:rFonts w:ascii="Cambria Math" w:hAnsi="Cambria Math" w:eastAsia="Cambria Math"/>
                                    </w:rPr>
                                    <a:rPr sz="240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w:rPr>
                                      <w:sz w:val="48"/>
                                      <w:rFonts w:ascii="Cambria Math" w:hAnsi="Cambria Math" w:eastAsia="Cambria Math"/>
                                    </w:rPr>
                                    <a:rPr sz="2400">
                                      <a:latin typeface="Cambria Math" panose="02040503050406030204" pitchFamily="18" charset="0"/>
                                    </a:rPr>
                                    <m:t>𝑠𝑝𝑒𝑒𝑑</m:t>
                                  </m:r>
                                </m:sub>
                              </m:sSub>
                              <m:r>
                                <w:rPr>
                                  <w:sz w:val="48"/>
                                  <w:rFonts w:ascii="Cambria Math" w:hAnsi="Cambria Math" w:eastAsia="Cambria Math"/>
                                </w:rPr>
                                <a:rPr sz="24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w:rPr>
                                  <w:sz w:val="48"/>
                                  <w:rFonts w:ascii="Cambria Math" w:hAnsi="Cambria Math" w:eastAsia="Cambria Math"/>
                                </w:rPr>
                                <a:rPr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sz="2400"/>
              </a:p>
            </p:txBody>
          </p:sp>
        </ns0:Choice>
        <ns0:Fallback>
          <p:sp>
            <p:nvSpPr>
              <p:cNvPr id="7001" name="equation-distance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375" y="4057650"/>
                <a:ext cx="6667500" cy="714375"/>
              </a:xfrm>
              <a:prstGeom prst="rect">
                <a:avLst/>
              </a:prstGeom>
              <a:blipFill>
                <a:blip r:embed="rNative700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 sz="2400">
                    <a:noFill/>
                  </a:rPr>
                  <a:t> </a:t>
                </a:r>
              </a:p>
            </p:txBody>
          </p:sp>
        </ns0:Fallback>
      </ns0:AlternateContent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2" name="equation-reliability"/>
              <p:cNvSpPr txBox="1">
                <a:spLocks noGrp="1"/>
              </p:cNvSpPr>
              <p:nvPr/>
            </p:nvSpPr>
            <p:spPr>
              <a:xfrm>
                <a:off x="8143875" y="2162175"/>
                <a:ext cx="3429000" cy="657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sSub>
                        <m:sSubPr>
                          <m:ctrlPr>
                            <a:rPr sz="2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sz="220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sz="220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sz="22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sz="22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sz="2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sz="22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sz="22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200"/>
              </a:p>
            </p:txBody>
          </p:sp>
        </ns0:Choice>
        <ns0:Fallback>
          <p:sp>
            <p:nvSpPr>
              <p:cNvPr id="7002" name="equation-reliability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057650"/>
                <a:ext cx="4095750" cy="714375"/>
              </a:xfrm>
              <a:prstGeom prst="rect">
                <a:avLst/>
              </a:prstGeom>
              <a:blipFill>
                <a:blip r:embed="rNative700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 sz="2200">
                    <a:noFill/>
                  </a:rPr>
                  <a:t> </a:t>
                </a:r>
              </a:p>
            </p:txBody>
          </p:sp>
        </ns0:Fallback>
      </ns0:AlternateContent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3" name="equation-neighbors"/>
              <p:cNvSpPr txBox="1">
                <a:spLocks noGrp="1"/>
              </p:cNvSpPr>
              <p:nvPr/>
            </p:nvSpPr>
            <p:spPr>
              <a:xfrm>
                <a:off x="6191250" y="3457575"/>
                <a:ext cx="5143500" cy="542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sSub>
                        <m:sSubPr>
                          <m:ctrlPr>
                            <a:rPr sz="23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r>
                        <w:rPr>
                          <w:sz w:val="46"/>
                          <w:rFonts w:ascii="Cambria Math" w:hAnsi="Cambria Math" w:eastAsia="Cambria Math"/>
                        </w:rPr>
                        <a:rPr sz="2300">
                          <a:latin typeface="Cambria Math" panose="02040503050406030204" pitchFamily="18" charset="0"/>
                        </a:rPr>
                        <m:t>(</m:t>
                      </m:r>
                      <m:r>
                        <w:rPr>
                          <w:sz w:val="46"/>
                          <w:rFonts w:ascii="Cambria Math" w:hAnsi="Cambria Math" w:eastAsia="Cambria Math"/>
                        </w:rPr>
                        <a:rPr sz="2300">
                          <a:latin typeface="Cambria Math" panose="02040503050406030204" pitchFamily="18" charset="0"/>
                        </a:rPr>
                        <m:t>𝑖</m:t>
                      </m:r>
                      <m:r>
                        <w:rPr>
                          <w:sz w:val="46"/>
                          <w:rFonts w:ascii="Cambria Math" w:hAnsi="Cambria Math" w:eastAsia="Cambria Math"/>
                        </w:rPr>
                        <a:rPr sz="2300">
                          <a:latin typeface="Cambria Math" panose="02040503050406030204" pitchFamily="18" charset="0"/>
                        </a:rPr>
                        <m:t>) = {</m:t>
                      </m:r>
                      <m:r>
                        <w:rPr>
                          <w:sz w:val="46"/>
                          <w:rFonts w:ascii="Cambria Math" w:hAnsi="Cambria Math" w:eastAsia="Cambria Math"/>
                        </w:rPr>
                        <a:rPr sz="2300">
                          <a:latin typeface="Cambria Math" panose="02040503050406030204" pitchFamily="18" charset="0"/>
                        </a:rPr>
                        <m:t>𝑗</m:t>
                      </m:r>
                      <m:r>
                        <w:rPr>
                          <w:sz w:val="46"/>
                          <w:rFonts w:ascii="Cambria Math" w:hAnsi="Cambria Math" w:eastAsia="Cambria Math"/>
                        </w:rPr>
                        <a:rPr sz="2300">
                          <a:latin typeface="Cambria Math" panose="02040503050406030204" pitchFamily="18" charset="0"/>
                        </a:rPr>
                        <m:t> : </m:t>
                      </m:r>
                      <m:sSub>
                        <m:sSubPr>
                          <m:ctrlPr>
                            <a:rPr sz="23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w:rPr>
                          <w:sz w:val="46"/>
                          <w:rFonts w:ascii="Cambria Math" w:hAnsi="Cambria Math" w:eastAsia="Cambria Math"/>
                        </w:rPr>
                        <a:rPr sz="2300"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w:rPr>
                          <w:sz w:val="46"/>
                          <w:rFonts w:ascii="Cambria Math" w:hAnsi="Cambria Math" w:eastAsia="Cambria Math"/>
                        </w:rPr>
                        <a:rPr sz="2300">
                          <a:latin typeface="Cambria Math" panose="02040503050406030204" pitchFamily="18" charset="0"/>
                        </a:rPr>
                        <m:t>𝜀</m:t>
                      </m:r>
                      <m:r>
                        <w:rPr>
                          <w:sz w:val="46"/>
                          <w:rFonts w:ascii="Cambria Math" w:hAnsi="Cambria Math" w:eastAsia="Cambria Math"/>
                        </w:rPr>
                        <a:rPr sz="230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sz="2300"/>
              </a:p>
            </p:txBody>
          </p:sp>
        </ns0:Choice>
        <ns0:Fallback>
          <p:sp>
            <p:nvSpPr>
              <p:cNvPr id="7003" name="equation-neighbors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66875"/>
                <a:ext cx="6191250" cy="619125"/>
              </a:xfrm>
              <a:prstGeom prst="rect">
                <a:avLst/>
              </a:prstGeom>
              <a:blipFill>
                <a:blip r:embed="rNative700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 sz="2300">
                    <a:noFill/>
                  </a:rPr>
                  <a:t> </a:t>
                </a:r>
              </a:p>
            </p:txBody>
          </p:sp>
        </ns0:Fallback>
      </ns0:AlternateContent>
      <p:graphicFrame>
        <p:nvGraphicFramePr>
          <p:cNvPr id="7004" name="native-table-7004"/>
          <p:cNvGraphicFramePr/>
          <p:nvPr/>
        </p:nvGraphicFramePr>
        <p:xfrm>
          <a:off xmlns:a="http://schemas.openxmlformats.org/drawingml/2006/main" x="609600" y="3590925"/>
          <a:ext xmlns:a="http://schemas.openxmlformats.org/drawingml/2006/main" cx="4762500" cy="2209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952500"/>
                <a:gridCol w="952500"/>
                <a:gridCol w="952500"/>
                <a:gridCol w="952500"/>
                <a:gridCol w="952500"/>
              </a:tblGrid>
              <a:tr h="44196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44196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3.2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44196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3.2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800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o0">
            <a:extLst xmlns:a="http://schemas.openxmlformats.org/drawingml/2006/main">
              <a:ext uri="{FF2B5EF4-FFF2-40B4-BE49-F238E27FC236}">
                <a16:creationId xmlns:a16="http://schemas.microsoft.com/office/drawing/2014/main" id="{D7BE28D4-FAE9-4BF7-BF96-E75A5B54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845F5997-F3EE-4BF3-B6EC-947B4CF2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三类运动场景的聚类回归实值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6CEACD87-8A6E-4D36-BDBF-B04C4F74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2FA65CE3-A6B9-461C-887E-949CED04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79EEAAAD-EA6C-4CB2-A7E6-41042849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method_evidence.json；现行SplitClusters；本轮实际执行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DA594E41-521A-4569-ADEE-366C68D7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09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9B288DCB-D5B1-4348-A701-271483E9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单帧转向</a:t>
            </a:r>
          </a:p>
        </p:txBody>
      </p:sp>
      <p:sp>
        <p:nvSpPr>
          <p:cNvPr id="8" name="line-5">
            <a:extLst xmlns:a="http://schemas.openxmlformats.org/drawingml/2006/main">
              <a:ext uri="{FF2B5EF4-FFF2-40B4-BE49-F238E27FC236}">
                <a16:creationId xmlns:a16="http://schemas.microsoft.com/office/drawing/2014/main" id="{0A31F988-3DED-46FD-92BF-D072A359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7725" y="4238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9" name="line-5">
            <a:extLst xmlns:a="http://schemas.openxmlformats.org/drawingml/2006/main">
              <a:ext uri="{FF2B5EF4-FFF2-40B4-BE49-F238E27FC236}">
                <a16:creationId xmlns:a16="http://schemas.microsoft.com/office/drawing/2014/main" id="{D5305CA6-2982-442D-9E8A-F2C51110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28725" y="4238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10" name="line-5">
            <a:extLst xmlns:a="http://schemas.openxmlformats.org/drawingml/2006/main">
              <a:ext uri="{FF2B5EF4-FFF2-40B4-BE49-F238E27FC236}">
                <a16:creationId xmlns:a16="http://schemas.microsoft.com/office/drawing/2014/main" id="{0D0F4419-B43D-418E-967B-FB8C3FA5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09725" y="4238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11" name="line-5">
            <a:extLst xmlns:a="http://schemas.openxmlformats.org/drawingml/2006/main">
              <a:ext uri="{FF2B5EF4-FFF2-40B4-BE49-F238E27FC236}">
                <a16:creationId xmlns:a16="http://schemas.microsoft.com/office/drawing/2014/main" id="{D93A3900-F736-4905-A398-96E28838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90725" y="4238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12" name="line-5">
            <a:extLst xmlns:a="http://schemas.openxmlformats.org/drawingml/2006/main">
              <a:ext uri="{FF2B5EF4-FFF2-40B4-BE49-F238E27FC236}">
                <a16:creationId xmlns:a16="http://schemas.microsoft.com/office/drawing/2014/main" id="{8F1EA733-D53F-4B33-99A5-782C8641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71725" y="4238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4F5ECD49-AB1A-4981-AA9E-9E6D06B1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324B1E27-88BB-4E76-BB84-F27751B8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CC5B783F-E243-43F2-B005-4AA37609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D623B9CB-903B-49F7-BE2E-BF603209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297F501B-F8D1-48A7-AB12-6929B8D0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166467A2-9D56-4320-BC67-A27E232B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5F2FC72B-2030-40EA-AF4D-E66EAD71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719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EE755982-5EDF-4652-A898-DCCD8D11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0957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A末点</a:t>
            </a:r>
          </a:p>
        </p:txBody>
      </p:sp>
      <p:sp>
        <p:nvSpPr>
          <p:cNvPr id="21" name="line-13">
            <a:extLst xmlns:a="http://schemas.openxmlformats.org/drawingml/2006/main">
              <a:ext uri="{FF2B5EF4-FFF2-40B4-BE49-F238E27FC236}">
                <a16:creationId xmlns:a16="http://schemas.microsoft.com/office/drawing/2014/main" id="{7424D97E-BB5C-4F1F-902E-178C2D6E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7725" y="2714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22" name="line-13">
            <a:extLst xmlns:a="http://schemas.openxmlformats.org/drawingml/2006/main">
              <a:ext uri="{FF2B5EF4-FFF2-40B4-BE49-F238E27FC236}">
                <a16:creationId xmlns:a16="http://schemas.microsoft.com/office/drawing/2014/main" id="{4C23E452-82C9-499C-BE85-D0DC60E3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28725" y="2714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23" name="line-13">
            <a:extLst xmlns:a="http://schemas.openxmlformats.org/drawingml/2006/main">
              <a:ext uri="{FF2B5EF4-FFF2-40B4-BE49-F238E27FC236}">
                <a16:creationId xmlns:a16="http://schemas.microsoft.com/office/drawing/2014/main" id="{3F04B051-5BB4-46FD-A5F6-EF5191BF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09725" y="2714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24" name="line-13">
            <a:extLst xmlns:a="http://schemas.openxmlformats.org/drawingml/2006/main">
              <a:ext uri="{FF2B5EF4-FFF2-40B4-BE49-F238E27FC236}">
                <a16:creationId xmlns:a16="http://schemas.microsoft.com/office/drawing/2014/main" id="{9D7779DE-97D7-4D59-99CF-B2B3DF8C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90725" y="271462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25" name="line-13">
            <a:extLst xmlns:a="http://schemas.openxmlformats.org/drawingml/2006/main">
              <a:ext uri="{FF2B5EF4-FFF2-40B4-BE49-F238E27FC236}">
                <a16:creationId xmlns:a16="http://schemas.microsoft.com/office/drawing/2014/main" id="{3D713B67-4DC7-4AE7-B5FC-E513C3AD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71725" y="2333625"/>
            <a:ext cx="953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26" name="o25">
            <a:extLst xmlns:a="http://schemas.openxmlformats.org/drawingml/2006/main">
              <a:ext uri="{FF2B5EF4-FFF2-40B4-BE49-F238E27FC236}">
                <a16:creationId xmlns:a16="http://schemas.microsoft.com/office/drawing/2014/main" id="{6C1E19ED-7B7C-4BEA-B641-D419DB07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26">
            <a:extLst xmlns:a="http://schemas.openxmlformats.org/drawingml/2006/main">
              <a:ext uri="{FF2B5EF4-FFF2-40B4-BE49-F238E27FC236}">
                <a16:creationId xmlns:a16="http://schemas.microsoft.com/office/drawing/2014/main" id="{DAD70128-475E-4FA1-9986-8D20451A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27">
            <a:extLst xmlns:a="http://schemas.openxmlformats.org/drawingml/2006/main">
              <a:ext uri="{FF2B5EF4-FFF2-40B4-BE49-F238E27FC236}">
                <a16:creationId xmlns:a16="http://schemas.microsoft.com/office/drawing/2014/main" id="{5767A6A9-67FB-4FC3-BBFE-D4C18954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28">
            <a:extLst xmlns:a="http://schemas.openxmlformats.org/drawingml/2006/main">
              <a:ext uri="{FF2B5EF4-FFF2-40B4-BE49-F238E27FC236}">
                <a16:creationId xmlns:a16="http://schemas.microsoft.com/office/drawing/2014/main" id="{11D92DFE-5703-46DE-808F-0CC45802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29">
            <a:extLst xmlns:a="http://schemas.openxmlformats.org/drawingml/2006/main">
              <a:ext uri="{FF2B5EF4-FFF2-40B4-BE49-F238E27FC236}">
                <a16:creationId xmlns:a16="http://schemas.microsoft.com/office/drawing/2014/main" id="{8007CEE1-6203-4AE5-9DDA-304F8F51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30">
            <a:extLst xmlns:a="http://schemas.openxmlformats.org/drawingml/2006/main">
              <a:ext uri="{FF2B5EF4-FFF2-40B4-BE49-F238E27FC236}">
                <a16:creationId xmlns:a16="http://schemas.microsoft.com/office/drawing/2014/main" id="{E5BE0231-B51E-44FD-98EB-EC585D9D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95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o31">
            <a:extLst xmlns:a="http://schemas.openxmlformats.org/drawingml/2006/main">
              <a:ext uri="{FF2B5EF4-FFF2-40B4-BE49-F238E27FC236}">
                <a16:creationId xmlns:a16="http://schemas.microsoft.com/office/drawing/2014/main" id="{EE1C229B-9E75-4FD3-8BF5-B8880A5C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669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o32">
            <a:extLst xmlns:a="http://schemas.openxmlformats.org/drawingml/2006/main">
              <a:ext uri="{FF2B5EF4-FFF2-40B4-BE49-F238E27FC236}">
                <a16:creationId xmlns:a16="http://schemas.microsoft.com/office/drawing/2014/main" id="{DBD5F9F1-6729-4934-903D-06943711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1907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B末点</a:t>
            </a:r>
          </a:p>
        </p:txBody>
      </p:sp>
      <p:sp>
        <p:nvSpPr>
          <p:cNvPr id="34" name="o33">
            <a:extLst xmlns:a="http://schemas.openxmlformats.org/drawingml/2006/main">
              <a:ext uri="{FF2B5EF4-FFF2-40B4-BE49-F238E27FC236}">
                <a16:creationId xmlns:a16="http://schemas.microsoft.com/office/drawing/2014/main" id="{920E2AB0-0B3F-4D22-8895-E0F9F923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D(A,B) = 1.000</a:t>
            </a:r>
          </a:p>
        </p:txBody>
      </p:sp>
      <p:sp>
        <p:nvSpPr>
          <p:cNvPr id="35" name="o34">
            <a:extLst xmlns:a="http://schemas.openxmlformats.org/drawingml/2006/main">
              <a:ext uri="{FF2B5EF4-FFF2-40B4-BE49-F238E27FC236}">
                <a16:creationId xmlns:a16="http://schemas.microsoft.com/office/drawing/2014/main" id="{47FEAF23-DCB9-4AF0-AAA7-2BEF295E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一簇：A、B</a:t>
            </a:r>
          </a:p>
        </p:txBody>
      </p:sp>
      <p:sp>
        <p:nvSpPr>
          <p:cNvPr id="36" name="o35">
            <a:extLst xmlns:a="http://schemas.openxmlformats.org/drawingml/2006/main">
              <a:ext uri="{FF2B5EF4-FFF2-40B4-BE49-F238E27FC236}">
                <a16:creationId xmlns:a16="http://schemas.microsoft.com/office/drawing/2014/main" id="{7A4D960E-BBCE-4E93-80B3-DF958F0E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19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悬停与缓行</a:t>
            </a:r>
          </a:p>
        </p:txBody>
      </p:sp>
      <p:sp>
        <p:nvSpPr>
          <p:cNvPr id="37" name="line-24">
            <a:extLst xmlns:a="http://schemas.openxmlformats.org/drawingml/2006/main">
              <a:ext uri="{FF2B5EF4-FFF2-40B4-BE49-F238E27FC236}">
                <a16:creationId xmlns:a16="http://schemas.microsoft.com/office/drawing/2014/main" id="{55B35931-3736-45F8-8240-66D38E54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81525" y="4238625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38" name="line-24">
            <a:extLst xmlns:a="http://schemas.openxmlformats.org/drawingml/2006/main">
              <a:ext uri="{FF2B5EF4-FFF2-40B4-BE49-F238E27FC236}">
                <a16:creationId xmlns:a16="http://schemas.microsoft.com/office/drawing/2014/main" id="{808D9A81-40EF-4F8B-ADA5-5F4FEF37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81525" y="4238625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39" name="line-24">
            <a:extLst xmlns:a="http://schemas.openxmlformats.org/drawingml/2006/main">
              <a:ext uri="{FF2B5EF4-FFF2-40B4-BE49-F238E27FC236}">
                <a16:creationId xmlns:a16="http://schemas.microsoft.com/office/drawing/2014/main" id="{D7F50D08-C95C-4E65-A425-ACAA94F6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81525" y="4238625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40" name="line-24">
            <a:extLst xmlns:a="http://schemas.openxmlformats.org/drawingml/2006/main">
              <a:ext uri="{FF2B5EF4-FFF2-40B4-BE49-F238E27FC236}">
                <a16:creationId xmlns:a16="http://schemas.microsoft.com/office/drawing/2014/main" id="{EB7B7EC3-D481-45C2-A773-34F448E4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81525" y="4238625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41" name="line-24">
            <a:extLst xmlns:a="http://schemas.openxmlformats.org/drawingml/2006/main">
              <a:ext uri="{FF2B5EF4-FFF2-40B4-BE49-F238E27FC236}">
                <a16:creationId xmlns:a16="http://schemas.microsoft.com/office/drawing/2014/main" id="{ED4A5702-4103-49A7-969B-84150C19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81525" y="4238625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42" name="o41">
            <a:extLst xmlns:a="http://schemas.openxmlformats.org/drawingml/2006/main">
              <a:ext uri="{FF2B5EF4-FFF2-40B4-BE49-F238E27FC236}">
                <a16:creationId xmlns:a16="http://schemas.microsoft.com/office/drawing/2014/main" id="{86D23BFD-CB3E-45F2-87FA-CBA99128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o42">
            <a:extLst xmlns:a="http://schemas.openxmlformats.org/drawingml/2006/main">
              <a:ext uri="{FF2B5EF4-FFF2-40B4-BE49-F238E27FC236}">
                <a16:creationId xmlns:a16="http://schemas.microsoft.com/office/drawing/2014/main" id="{0EF0C5E7-F2AA-49CC-83CE-BFF0D9A4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o43">
            <a:extLst xmlns:a="http://schemas.openxmlformats.org/drawingml/2006/main">
              <a:ext uri="{FF2B5EF4-FFF2-40B4-BE49-F238E27FC236}">
                <a16:creationId xmlns:a16="http://schemas.microsoft.com/office/drawing/2014/main" id="{399293C4-0BEC-428C-B258-284EDDE9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o44">
            <a:extLst xmlns:a="http://schemas.openxmlformats.org/drawingml/2006/main">
              <a:ext uri="{FF2B5EF4-FFF2-40B4-BE49-F238E27FC236}">
                <a16:creationId xmlns:a16="http://schemas.microsoft.com/office/drawing/2014/main" id="{E2A1EEA9-0CCF-4599-BC99-29883F7E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o45">
            <a:extLst xmlns:a="http://schemas.openxmlformats.org/drawingml/2006/main">
              <a:ext uri="{FF2B5EF4-FFF2-40B4-BE49-F238E27FC236}">
                <a16:creationId xmlns:a16="http://schemas.microsoft.com/office/drawing/2014/main" id="{3741140F-7EEC-4E9E-8E2F-7B399200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o46">
            <a:extLst xmlns:a="http://schemas.openxmlformats.org/drawingml/2006/main">
              <a:ext uri="{FF2B5EF4-FFF2-40B4-BE49-F238E27FC236}">
                <a16:creationId xmlns:a16="http://schemas.microsoft.com/office/drawing/2014/main" id="{BB3DBEBD-9106-487F-B5D4-E8B68991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o47">
            <a:extLst xmlns:a="http://schemas.openxmlformats.org/drawingml/2006/main">
              <a:ext uri="{FF2B5EF4-FFF2-40B4-BE49-F238E27FC236}">
                <a16:creationId xmlns:a16="http://schemas.microsoft.com/office/drawing/2014/main" id="{A0E6C81A-3D8B-4B44-9702-9FC4509D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o48">
            <a:extLst xmlns:a="http://schemas.openxmlformats.org/drawingml/2006/main">
              <a:ext uri="{FF2B5EF4-FFF2-40B4-BE49-F238E27FC236}">
                <a16:creationId xmlns:a16="http://schemas.microsoft.com/office/drawing/2014/main" id="{A33E5395-1190-46CF-AF89-6F63C7DF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957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A末点</a:t>
            </a:r>
          </a:p>
        </p:txBody>
      </p:sp>
      <p:sp>
        <p:nvSpPr>
          <p:cNvPr id="50" name="line-32">
            <a:extLst xmlns:a="http://schemas.openxmlformats.org/drawingml/2006/main">
              <a:ext uri="{FF2B5EF4-FFF2-40B4-BE49-F238E27FC236}">
                <a16:creationId xmlns:a16="http://schemas.microsoft.com/office/drawing/2014/main" id="{2C34DA9C-0248-441E-B53D-7CEDB7C9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81525" y="2333625"/>
            <a:ext cx="381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51" name="line-32">
            <a:extLst xmlns:a="http://schemas.openxmlformats.org/drawingml/2006/main">
              <a:ext uri="{FF2B5EF4-FFF2-40B4-BE49-F238E27FC236}">
                <a16:creationId xmlns:a16="http://schemas.microsoft.com/office/drawing/2014/main" id="{A7380B0B-0B8B-4504-B510-86340B59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85335" y="2333625"/>
            <a:ext cx="381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52" name="line-32">
            <a:extLst xmlns:a="http://schemas.openxmlformats.org/drawingml/2006/main">
              <a:ext uri="{FF2B5EF4-FFF2-40B4-BE49-F238E27FC236}">
                <a16:creationId xmlns:a16="http://schemas.microsoft.com/office/drawing/2014/main" id="{7E3558F0-DAEC-44B3-829E-C7EFA24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89145" y="2333625"/>
            <a:ext cx="381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53" name="line-32">
            <a:extLst xmlns:a="http://schemas.openxmlformats.org/drawingml/2006/main">
              <a:ext uri="{FF2B5EF4-FFF2-40B4-BE49-F238E27FC236}">
                <a16:creationId xmlns:a16="http://schemas.microsoft.com/office/drawing/2014/main" id="{1B5EC181-C157-4375-9FB0-F27BF4ED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92955" y="2333625"/>
            <a:ext cx="381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54" name="line-32">
            <a:extLst xmlns:a="http://schemas.openxmlformats.org/drawingml/2006/main">
              <a:ext uri="{FF2B5EF4-FFF2-40B4-BE49-F238E27FC236}">
                <a16:creationId xmlns:a16="http://schemas.microsoft.com/office/drawing/2014/main" id="{BC9A10C1-2E0E-493D-A6CD-BDCED642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96765" y="2333625"/>
            <a:ext cx="381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55" name="o54">
            <a:extLst xmlns:a="http://schemas.openxmlformats.org/drawingml/2006/main">
              <a:ext uri="{FF2B5EF4-FFF2-40B4-BE49-F238E27FC236}">
                <a16:creationId xmlns:a16="http://schemas.microsoft.com/office/drawing/2014/main" id="{FC3BDDC7-9448-48B2-8483-55BF2EE1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95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o55">
            <a:extLst xmlns:a="http://schemas.openxmlformats.org/drawingml/2006/main">
              <a:ext uri="{FF2B5EF4-FFF2-40B4-BE49-F238E27FC236}">
                <a16:creationId xmlns:a16="http://schemas.microsoft.com/office/drawing/2014/main" id="{F6786ACD-7D9D-44C0-B658-C56A002F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235" y="2295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56">
            <a:extLst xmlns:a="http://schemas.openxmlformats.org/drawingml/2006/main">
              <a:ext uri="{FF2B5EF4-FFF2-40B4-BE49-F238E27FC236}">
                <a16:creationId xmlns:a16="http://schemas.microsoft.com/office/drawing/2014/main" id="{0AA35307-CED3-411A-8610-D1D47CAA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045" y="2295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o57">
            <a:extLst xmlns:a="http://schemas.openxmlformats.org/drawingml/2006/main">
              <a:ext uri="{FF2B5EF4-FFF2-40B4-BE49-F238E27FC236}">
                <a16:creationId xmlns:a16="http://schemas.microsoft.com/office/drawing/2014/main" id="{1BA8358B-910F-4838-99D6-C7218C08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855" y="2295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o58">
            <a:extLst xmlns:a="http://schemas.openxmlformats.org/drawingml/2006/main">
              <a:ext uri="{FF2B5EF4-FFF2-40B4-BE49-F238E27FC236}">
                <a16:creationId xmlns:a16="http://schemas.microsoft.com/office/drawing/2014/main" id="{919DF75C-8BC5-4409-971F-0D412F53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8665" y="2295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o59">
            <a:extLst xmlns:a="http://schemas.openxmlformats.org/drawingml/2006/main">
              <a:ext uri="{FF2B5EF4-FFF2-40B4-BE49-F238E27FC236}">
                <a16:creationId xmlns:a16="http://schemas.microsoft.com/office/drawing/2014/main" id="{0FF366F2-D523-4F19-BB71-5D811AE1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95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o60">
            <a:extLst xmlns:a="http://schemas.openxmlformats.org/drawingml/2006/main">
              <a:ext uri="{FF2B5EF4-FFF2-40B4-BE49-F238E27FC236}">
                <a16:creationId xmlns:a16="http://schemas.microsoft.com/office/drawing/2014/main" id="{9F15E386-9AD1-4A2E-BBA2-684C12EF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o61">
            <a:extLst xmlns:a="http://schemas.openxmlformats.org/drawingml/2006/main">
              <a:ext uri="{FF2B5EF4-FFF2-40B4-BE49-F238E27FC236}">
                <a16:creationId xmlns:a16="http://schemas.microsoft.com/office/drawing/2014/main" id="{8F56A973-20BA-4A4A-9277-D0F634FA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907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B末点</a:t>
            </a:r>
          </a:p>
        </p:txBody>
      </p:sp>
      <p:sp>
        <p:nvSpPr>
          <p:cNvPr id="63" name="o62">
            <a:extLst xmlns:a="http://schemas.openxmlformats.org/drawingml/2006/main">
              <a:ext uri="{FF2B5EF4-FFF2-40B4-BE49-F238E27FC236}">
                <a16:creationId xmlns:a16="http://schemas.microsoft.com/office/drawing/2014/main" id="{ED0E9401-FB57-466A-9AFD-95A16FE8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529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D(A,B) = 1.000</a:t>
            </a:r>
          </a:p>
        </p:txBody>
      </p:sp>
      <p:sp>
        <p:nvSpPr>
          <p:cNvPr id="64" name="o63">
            <a:extLst xmlns:a="http://schemas.openxmlformats.org/drawingml/2006/main">
              <a:ext uri="{FF2B5EF4-FFF2-40B4-BE49-F238E27FC236}">
                <a16:creationId xmlns:a16="http://schemas.microsoft.com/office/drawing/2014/main" id="{3C702B65-DD39-47CE-8465-BD8FB370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48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一簇：A、B</a:t>
            </a:r>
          </a:p>
        </p:txBody>
      </p:sp>
      <p:sp>
        <p:nvSpPr>
          <p:cNvPr id="65" name="o64">
            <a:extLst xmlns:a="http://schemas.openxmlformats.org/drawingml/2006/main">
              <a:ext uri="{FF2B5EF4-FFF2-40B4-BE49-F238E27FC236}">
                <a16:creationId xmlns:a16="http://schemas.microsoft.com/office/drawing/2014/main" id="{12FA08D0-EFEB-4B1D-B0E9-B88F7BD1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持续反向</a:t>
            </a:r>
          </a:p>
        </p:txBody>
      </p:sp>
      <p:sp>
        <p:nvSpPr>
          <p:cNvPr id="66" name="line-43">
            <a:extLst xmlns:a="http://schemas.openxmlformats.org/drawingml/2006/main">
              <a:ext uri="{FF2B5EF4-FFF2-40B4-BE49-F238E27FC236}">
                <a16:creationId xmlns:a16="http://schemas.microsoft.com/office/drawing/2014/main" id="{478EBB15-2B3C-4AA6-8FAC-ADD23F83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15325" y="4238625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67" name="line-43">
            <a:extLst xmlns:a="http://schemas.openxmlformats.org/drawingml/2006/main">
              <a:ext uri="{FF2B5EF4-FFF2-40B4-BE49-F238E27FC236}">
                <a16:creationId xmlns:a16="http://schemas.microsoft.com/office/drawing/2014/main" id="{5001288F-AC1E-4D6F-8CB1-A3256383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10600" y="4238625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68" name="line-43">
            <a:extLst xmlns:a="http://schemas.openxmlformats.org/drawingml/2006/main">
              <a:ext uri="{FF2B5EF4-FFF2-40B4-BE49-F238E27FC236}">
                <a16:creationId xmlns:a16="http://schemas.microsoft.com/office/drawing/2014/main" id="{0ED5B792-C532-4D9C-AC85-738F97F5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05875" y="4238625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69" name="line-43">
            <a:extLst xmlns:a="http://schemas.openxmlformats.org/drawingml/2006/main">
              <a:ext uri="{FF2B5EF4-FFF2-40B4-BE49-F238E27FC236}">
                <a16:creationId xmlns:a16="http://schemas.microsoft.com/office/drawing/2014/main" id="{1B64E3D2-2428-42EC-8BEE-2D837742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01150" y="4238625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70" name="line-43">
            <a:extLst xmlns:a="http://schemas.openxmlformats.org/drawingml/2006/main">
              <a:ext uri="{FF2B5EF4-FFF2-40B4-BE49-F238E27FC236}">
                <a16:creationId xmlns:a16="http://schemas.microsoft.com/office/drawing/2014/main" id="{426F4DEF-1531-4020-BF11-EED8DA3F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496425" y="4238625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24E88"/>
            </a:solidFill>
            <a:prstDash val="solid"/>
          </a:ln>
        </p:spPr>
      </p:sp>
      <p:sp>
        <p:nvSpPr>
          <p:cNvPr id="71" name="o70">
            <a:extLst xmlns:a="http://schemas.openxmlformats.org/drawingml/2006/main">
              <a:ext uri="{FF2B5EF4-FFF2-40B4-BE49-F238E27FC236}">
                <a16:creationId xmlns:a16="http://schemas.microsoft.com/office/drawing/2014/main" id="{84D26F89-925C-4FAC-8407-C79DF839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o71">
            <a:extLst xmlns:a="http://schemas.openxmlformats.org/drawingml/2006/main">
              <a:ext uri="{FF2B5EF4-FFF2-40B4-BE49-F238E27FC236}">
                <a16:creationId xmlns:a16="http://schemas.microsoft.com/office/drawing/2014/main" id="{CF653142-D0AF-4D7A-A72A-1FDCF905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o72">
            <a:extLst xmlns:a="http://schemas.openxmlformats.org/drawingml/2006/main">
              <a:ext uri="{FF2B5EF4-FFF2-40B4-BE49-F238E27FC236}">
                <a16:creationId xmlns:a16="http://schemas.microsoft.com/office/drawing/2014/main" id="{DB036730-C300-404A-A0F6-0C414386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o73">
            <a:extLst xmlns:a="http://schemas.openxmlformats.org/drawingml/2006/main">
              <a:ext uri="{FF2B5EF4-FFF2-40B4-BE49-F238E27FC236}">
                <a16:creationId xmlns:a16="http://schemas.microsoft.com/office/drawing/2014/main" id="{2FB1F3C9-999C-4178-ACE2-F83550AD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o74">
            <a:extLst xmlns:a="http://schemas.openxmlformats.org/drawingml/2006/main">
              <a:ext uri="{FF2B5EF4-FFF2-40B4-BE49-F238E27FC236}">
                <a16:creationId xmlns:a16="http://schemas.microsoft.com/office/drawing/2014/main" id="{91E9186C-37B9-4C2A-A742-A0585A12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o75">
            <a:extLst xmlns:a="http://schemas.openxmlformats.org/drawingml/2006/main">
              <a:ext uri="{FF2B5EF4-FFF2-40B4-BE49-F238E27FC236}">
                <a16:creationId xmlns:a16="http://schemas.microsoft.com/office/drawing/2014/main" id="{30E85DB7-6E97-4E56-8CAE-07E961CE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o76">
            <a:extLst xmlns:a="http://schemas.openxmlformats.org/drawingml/2006/main">
              <a:ext uri="{FF2B5EF4-FFF2-40B4-BE49-F238E27FC236}">
                <a16:creationId xmlns:a16="http://schemas.microsoft.com/office/drawing/2014/main" id="{E32C89BB-56C6-4DB3-A808-02B026D5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1719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o77">
            <a:extLst xmlns:a="http://schemas.openxmlformats.org/drawingml/2006/main">
              <a:ext uri="{FF2B5EF4-FFF2-40B4-BE49-F238E27FC236}">
                <a16:creationId xmlns:a16="http://schemas.microsoft.com/office/drawing/2014/main" id="{5B3FF878-8527-4A23-ACBD-97734E82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A末点</a:t>
            </a:r>
          </a:p>
        </p:txBody>
      </p:sp>
      <p:sp>
        <p:nvSpPr>
          <p:cNvPr id="79" name="line-51">
            <a:extLst xmlns:a="http://schemas.openxmlformats.org/drawingml/2006/main">
              <a:ext uri="{FF2B5EF4-FFF2-40B4-BE49-F238E27FC236}">
                <a16:creationId xmlns:a16="http://schemas.microsoft.com/office/drawing/2014/main" id="{2E8EE3EA-CB17-4232-AEBB-DC9008D3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72800" y="2762250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80" name="line-51">
            <a:extLst xmlns:a="http://schemas.openxmlformats.org/drawingml/2006/main">
              <a:ext uri="{FF2B5EF4-FFF2-40B4-BE49-F238E27FC236}">
                <a16:creationId xmlns:a16="http://schemas.microsoft.com/office/drawing/2014/main" id="{C18CB3BC-21BA-460D-894F-66BC9CE6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677525" y="2762250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81" name="line-51">
            <a:extLst xmlns:a="http://schemas.openxmlformats.org/drawingml/2006/main">
              <a:ext uri="{FF2B5EF4-FFF2-40B4-BE49-F238E27FC236}">
                <a16:creationId xmlns:a16="http://schemas.microsoft.com/office/drawing/2014/main" id="{EA436A9D-67E1-4D78-AC4E-594EA354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82250" y="2762250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82" name="line-51">
            <a:extLst xmlns:a="http://schemas.openxmlformats.org/drawingml/2006/main">
              <a:ext uri="{FF2B5EF4-FFF2-40B4-BE49-F238E27FC236}">
                <a16:creationId xmlns:a16="http://schemas.microsoft.com/office/drawing/2014/main" id="{6D16C759-F282-4786-B3E9-B513B8CC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86975" y="2762250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83" name="line-51">
            <a:extLst xmlns:a="http://schemas.openxmlformats.org/drawingml/2006/main">
              <a:ext uri="{FF2B5EF4-FFF2-40B4-BE49-F238E27FC236}">
                <a16:creationId xmlns:a16="http://schemas.microsoft.com/office/drawing/2014/main" id="{DEAE6AD1-35D9-4AB5-AF8B-E8A7E8ED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91700" y="2762250"/>
            <a:ext cx="295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87F70"/>
            </a:solidFill>
            <a:prstDash val="solid"/>
          </a:ln>
        </p:spPr>
      </p:sp>
      <p:sp>
        <p:nvSpPr>
          <p:cNvPr id="84" name="o83">
            <a:extLst xmlns:a="http://schemas.openxmlformats.org/drawingml/2006/main">
              <a:ext uri="{FF2B5EF4-FFF2-40B4-BE49-F238E27FC236}">
                <a16:creationId xmlns:a16="http://schemas.microsoft.com/office/drawing/2014/main" id="{5C92D832-5FF5-49F7-B48E-03944660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o84">
            <a:extLst xmlns:a="http://schemas.openxmlformats.org/drawingml/2006/main">
              <a:ext uri="{FF2B5EF4-FFF2-40B4-BE49-F238E27FC236}">
                <a16:creationId xmlns:a16="http://schemas.microsoft.com/office/drawing/2014/main" id="{737A3E4D-EF45-4481-BE64-0CF041EC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o85">
            <a:extLst xmlns:a="http://schemas.openxmlformats.org/drawingml/2006/main">
              <a:ext uri="{FF2B5EF4-FFF2-40B4-BE49-F238E27FC236}">
                <a16:creationId xmlns:a16="http://schemas.microsoft.com/office/drawing/2014/main" id="{C3D93131-8F44-4E41-829C-2008959C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o86">
            <a:extLst xmlns:a="http://schemas.openxmlformats.org/drawingml/2006/main">
              <a:ext uri="{FF2B5EF4-FFF2-40B4-BE49-F238E27FC236}">
                <a16:creationId xmlns:a16="http://schemas.microsoft.com/office/drawing/2014/main" id="{917E3B50-EDBB-45A0-979B-1DD8BBED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o87">
            <a:extLst xmlns:a="http://schemas.openxmlformats.org/drawingml/2006/main">
              <a:ext uri="{FF2B5EF4-FFF2-40B4-BE49-F238E27FC236}">
                <a16:creationId xmlns:a16="http://schemas.microsoft.com/office/drawing/2014/main" id="{8723ECF0-29A9-496E-A574-591C5E8A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o88">
            <a:extLst xmlns:a="http://schemas.openxmlformats.org/drawingml/2006/main">
              <a:ext uri="{FF2B5EF4-FFF2-40B4-BE49-F238E27FC236}">
                <a16:creationId xmlns:a16="http://schemas.microsoft.com/office/drawing/2014/main" id="{2D463B07-29CC-4797-A24B-6959599D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o89">
            <a:extLst xmlns:a="http://schemas.openxmlformats.org/drawingml/2006/main">
              <a:ext uri="{FF2B5EF4-FFF2-40B4-BE49-F238E27FC236}">
                <a16:creationId xmlns:a16="http://schemas.microsoft.com/office/drawing/2014/main" id="{7823C9E6-EA6E-4575-B210-885AA9FD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6955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o90">
            <a:extLst xmlns:a="http://schemas.openxmlformats.org/drawingml/2006/main">
              <a:ext uri="{FF2B5EF4-FFF2-40B4-BE49-F238E27FC236}">
                <a16:creationId xmlns:a16="http://schemas.microsoft.com/office/drawing/2014/main" id="{A3513FB4-3D0D-4E26-A889-4939E387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B末点</a:t>
            </a:r>
          </a:p>
        </p:txBody>
      </p:sp>
      <p:sp>
        <p:nvSpPr>
          <p:cNvPr id="92" name="o91">
            <a:extLst xmlns:a="http://schemas.openxmlformats.org/drawingml/2006/main">
              <a:ext uri="{FF2B5EF4-FFF2-40B4-BE49-F238E27FC236}">
                <a16:creationId xmlns:a16="http://schemas.microsoft.com/office/drawing/2014/main" id="{B95D3F22-0B5E-42CD-8E33-0FC0E678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529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D(A,B) = 5.845</a:t>
            </a:r>
          </a:p>
        </p:txBody>
      </p:sp>
      <p:sp>
        <p:nvSpPr>
          <p:cNvPr id="93" name="o92">
            <a:extLst xmlns:a="http://schemas.openxmlformats.org/drawingml/2006/main">
              <a:ext uri="{FF2B5EF4-FFF2-40B4-BE49-F238E27FC236}">
                <a16:creationId xmlns:a16="http://schemas.microsoft.com/office/drawing/2014/main" id="{F50781BD-1D26-4227-8207-FB3BA150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48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两簇：A / B</a:t>
            </a:r>
          </a:p>
        </p:txBody>
      </p:sp>
      <p:sp>
        <p:nvSpPr>
          <p:cNvPr id="94" name="line-61">
            <a:extLst xmlns:a="http://schemas.openxmlformats.org/drawingml/2006/main">
              <a:ext uri="{FF2B5EF4-FFF2-40B4-BE49-F238E27FC236}">
                <a16:creationId xmlns:a16="http://schemas.microsoft.com/office/drawing/2014/main" id="{ECE991C5-BC97-47D0-9D00-0567CFB0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95" name="o94">
            <a:extLst xmlns:a="http://schemas.openxmlformats.org/drawingml/2006/main">
              <a:ext uri="{FF2B5EF4-FFF2-40B4-BE49-F238E27FC236}">
                <a16:creationId xmlns:a16="http://schemas.microsoft.com/office/drawing/2014/main" id="{21099C73-6D1A-45F4-BF2A-24948C4F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相同eps=1.5；局部米制轨迹各列独立缩放，菱形标出末点。</a:t>
            </a:r>
          </a:p>
        </p:txBody>
      </p:sp>
    </p:spTree>
    <p:extLst>
      <p:ext uri="{BB962C8B-B14F-4D97-AF65-F5344CB8AC3E}">
        <p14:creationId xmlns:p14="http://schemas.microsoft.com/office/powerpoint/2010/main" val="4126328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o0">
            <a:extLst xmlns:a="http://schemas.openxmlformats.org/drawingml/2006/main">
              <a:ext uri="{FF2B5EF4-FFF2-40B4-BE49-F238E27FC236}">
                <a16:creationId xmlns:a16="http://schemas.microsoft.com/office/drawing/2014/main" id="{2BD6DDC7-C13E-4AF9-AF93-FF58A58A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259B8DAA-8517-4257-BB27-3353F9D2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队形输入的时间对齐与空间标准化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F7789EFD-5370-46BA-886B-4232AE9B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7AB0D25E-665B-4C84-88B9-142DBC99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34C98DF3-6357-4AD8-ABB0-0D91965E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method_evidence.json pointnet；BasicFormProc；同次五成员输入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03892A1F-AA32-4B32-872E-18507867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10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AC661A1E-9B44-4491-981C-83201EF2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UTM原始末位置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465DE80F-36D2-448F-A7E5-182BB40F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705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B51584C3-6075-4A1C-8D66-9F366858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703" y="364165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64C51ECC-20A7-4C0A-A7AD-BC8B2C8A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333" y="275110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8726FB40-D0A7-4616-B1E5-9D68080F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809" y="27970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B4C62C92-C79E-4BE5-80FE-C7CCAB65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92" y="2676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7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6905905F-AB7C-4038-8ABE-6F079440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坐标：米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1F372D86-9521-4681-9B65-2CD56835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6212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方向旋转后</a:t>
            </a:r>
          </a:p>
        </p:txBody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D455E9C4-0C10-4573-8738-965F0273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81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AD1746FB-1655-4CDA-BB8B-CD6B5176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838" y="358047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FDB4C99B-13C0-4F2D-912D-CA99AEEA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336" y="423087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15FB7BBB-B1AE-4B0D-A64A-AC6A89C2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040" y="358136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EB6AF95B-74E1-4243-A8BB-F6B8C7A0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0237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7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06A3EAF8-4A29-4E4F-B9A4-9DEBD7EA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5300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坐标：米</a:t>
            </a:r>
          </a:p>
        </p:txBody>
      </p:sp>
      <p:sp>
        <p:nvSpPr>
          <p:cNvPr id="21" name="o20">
            <a:extLst xmlns:a="http://schemas.openxmlformats.org/drawingml/2006/main">
              <a:ext uri="{FF2B5EF4-FFF2-40B4-BE49-F238E27FC236}">
                <a16:creationId xmlns:a16="http://schemas.microsoft.com/office/drawing/2014/main" id="{0B8C7DB6-5516-4DF8-8C01-ECD01B70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6212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均值居中</a:t>
            </a:r>
          </a:p>
        </p:txBody>
      </p:sp>
      <p:sp>
        <p:nvSpPr>
          <p:cNvPr id="22" name="o21">
            <a:extLst xmlns:a="http://schemas.openxmlformats.org/drawingml/2006/main">
              <a:ext uri="{FF2B5EF4-FFF2-40B4-BE49-F238E27FC236}">
                <a16:creationId xmlns:a16="http://schemas.microsoft.com/office/drawing/2014/main" id="{677CF967-46C2-4A27-9E5C-744B1A9D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81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22">
            <a:extLst xmlns:a="http://schemas.openxmlformats.org/drawingml/2006/main">
              <a:ext uri="{FF2B5EF4-FFF2-40B4-BE49-F238E27FC236}">
                <a16:creationId xmlns:a16="http://schemas.microsoft.com/office/drawing/2014/main" id="{2F529CC0-531C-46C6-81ED-CFCBFFCA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9713" y="358047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23">
            <a:extLst xmlns:a="http://schemas.openxmlformats.org/drawingml/2006/main">
              <a:ext uri="{FF2B5EF4-FFF2-40B4-BE49-F238E27FC236}">
                <a16:creationId xmlns:a16="http://schemas.microsoft.com/office/drawing/2014/main" id="{3717F13A-C325-4469-AED2-8233B820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211" y="423087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24">
            <a:extLst xmlns:a="http://schemas.openxmlformats.org/drawingml/2006/main">
              <a:ext uri="{FF2B5EF4-FFF2-40B4-BE49-F238E27FC236}">
                <a16:creationId xmlns:a16="http://schemas.microsoft.com/office/drawing/2014/main" id="{48213FEF-E829-4E14-8C0F-00D5A85A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5915" y="358136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25">
            <a:extLst xmlns:a="http://schemas.openxmlformats.org/drawingml/2006/main">
              <a:ext uri="{FF2B5EF4-FFF2-40B4-BE49-F238E27FC236}">
                <a16:creationId xmlns:a16="http://schemas.microsoft.com/office/drawing/2014/main" id="{725E2A48-A502-4D25-9EBB-3CA6BB46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37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7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26">
            <a:extLst xmlns:a="http://schemas.openxmlformats.org/drawingml/2006/main">
              <a:ext uri="{FF2B5EF4-FFF2-40B4-BE49-F238E27FC236}">
                <a16:creationId xmlns:a16="http://schemas.microsoft.com/office/drawing/2014/main" id="{BE462809-4E55-446D-B4F7-55EEA22A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坐标：米</a:t>
            </a:r>
          </a:p>
        </p:txBody>
      </p:sp>
      <p:sp>
        <p:nvSpPr>
          <p:cNvPr id="28" name="o27">
            <a:extLst xmlns:a="http://schemas.openxmlformats.org/drawingml/2006/main">
              <a:ext uri="{FF2B5EF4-FFF2-40B4-BE49-F238E27FC236}">
                <a16:creationId xmlns:a16="http://schemas.microsoft.com/office/drawing/2014/main" id="{ED6E8C0B-53A8-4AFF-B478-87E4C78B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76212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最大绝对值归一化</a:t>
            </a:r>
          </a:p>
        </p:txBody>
      </p:sp>
      <p:sp>
        <p:nvSpPr>
          <p:cNvPr id="29" name="o28">
            <a:extLst xmlns:a="http://schemas.openxmlformats.org/drawingml/2006/main">
              <a:ext uri="{FF2B5EF4-FFF2-40B4-BE49-F238E27FC236}">
                <a16:creationId xmlns:a16="http://schemas.microsoft.com/office/drawing/2014/main" id="{99E18B0F-6A15-4002-A24A-77194A3C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81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29">
            <a:extLst xmlns:a="http://schemas.openxmlformats.org/drawingml/2006/main">
              <a:ext uri="{FF2B5EF4-FFF2-40B4-BE49-F238E27FC236}">
                <a16:creationId xmlns:a16="http://schemas.microsoft.com/office/drawing/2014/main" id="{F53197D1-FCB8-4B02-9D8F-A57E1796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588" y="358047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30">
            <a:extLst xmlns:a="http://schemas.openxmlformats.org/drawingml/2006/main">
              <a:ext uri="{FF2B5EF4-FFF2-40B4-BE49-F238E27FC236}">
                <a16:creationId xmlns:a16="http://schemas.microsoft.com/office/drawing/2014/main" id="{CF56300F-1737-41C2-BCEB-B9755FE1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086" y="423087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o31">
            <a:extLst xmlns:a="http://schemas.openxmlformats.org/drawingml/2006/main">
              <a:ext uri="{FF2B5EF4-FFF2-40B4-BE49-F238E27FC236}">
                <a16:creationId xmlns:a16="http://schemas.microsoft.com/office/drawing/2014/main" id="{AD9A9B5B-ABA7-4259-9473-1909ADAD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790" y="358136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o32">
            <a:extLst xmlns:a="http://schemas.openxmlformats.org/drawingml/2006/main">
              <a:ext uri="{FF2B5EF4-FFF2-40B4-BE49-F238E27FC236}">
                <a16:creationId xmlns:a16="http://schemas.microsoft.com/office/drawing/2014/main" id="{5A3205BD-0357-465F-90A7-1ED9A67D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0237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7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o33">
            <a:extLst xmlns:a="http://schemas.openxmlformats.org/drawingml/2006/main">
              <a:ext uri="{FF2B5EF4-FFF2-40B4-BE49-F238E27FC236}">
                <a16:creationId xmlns:a16="http://schemas.microsoft.com/office/drawing/2014/main" id="{41058DA7-C212-47BF-9851-C0F604E7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95300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坐标：无量纲</a:t>
            </a:r>
          </a:p>
        </p:txBody>
      </p:sp>
      <p:sp>
        <p:nvSpPr>
          <p:cNvPr id="35" name="line-32">
            <a:extLst xmlns:a="http://schemas.openxmlformats.org/drawingml/2006/main">
              <a:ext uri="{FF2B5EF4-FFF2-40B4-BE49-F238E27FC236}">
                <a16:creationId xmlns:a16="http://schemas.microsoft.com/office/drawing/2014/main" id="{DCE64561-E51F-48DC-9E23-B96BCAD6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36" name="o35">
            <a:extLst xmlns:a="http://schemas.openxmlformats.org/drawingml/2006/main">
              <a:ext uri="{FF2B5EF4-FFF2-40B4-BE49-F238E27FC236}">
                <a16:creationId xmlns:a16="http://schemas.microsoft.com/office/drawing/2014/main" id="{6460AA5F-2C22-4AC6-A0F2-47A553F8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同一五成员真实输入；群内至少两个共同时间戳，三机及以上进入五类分类。</a:t>
            </a:r>
          </a:p>
        </p:txBody>
      </p:sp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1" name="equation-normalize"/>
              <p:cNvSpPr txBox="1">
                <a:spLocks noGrp="1"/>
              </p:cNvSpPr>
              <p:nvPr/>
            </p:nvSpPr>
            <p:spPr>
              <a:xfrm>
                <a:off x="857250" y="5400675"/>
                <a:ext cx="104775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 − </m:t>
                          </m:r>
                          <m:bar>
                            <m:barPr>
                              <m:pos m:val="top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ba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|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>
                          <a:latin typeface="Cambria Math" panose="02040503050406030204" pitchFamily="18" charset="0"/>
                        </a:rPr>
                        <m:t>̄|</m:t>
                      </m:r>
                    </m:oMath>
                  </m:oMathPara>
                </a14:m>
                <a:endParaRPr/>
              </a:p>
            </p:txBody>
          </p:sp>
        </ns0:Choice>
        <ns0:Fallback>
          <p:sp>
            <p:nvSpPr>
              <p:cNvPr id="7001" name="equation-normalize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5400675"/>
                <a:ext cx="10477500" cy="457200"/>
              </a:xfrm>
              <a:prstGeom prst="rect">
                <a:avLst/>
              </a:prstGeom>
              <a:blipFill>
                <a:blip r:embed="rNative7001"/>
                <a:stretch>
                  <a:fillRect b="-9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ns0:Fallback>
      </ns0:AlternateContent>
    </p:spTree>
    <p:extLst>
      <p:ext uri="{BB962C8B-B14F-4D97-AF65-F5344CB8AC3E}">
        <p14:creationId xmlns:p14="http://schemas.microsoft.com/office/powerpoint/2010/main" val="10880900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1D6DB2-69AA-4F18-BF76-A52D0D35D8EA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553450" y="3405188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342A10-E144-4006-90DE-3BDA206C870C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772150" y="3405188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B6D749-C3B3-4EFC-B57D-310734E0527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990850" y="3405188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7B21BE-5727-4C55-B04A-D40138736EF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53450" y="1652588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7274D1-8A6B-4934-8BD7-9F1B5EEC1D4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72150" y="1652588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DA300B-4E57-424F-B46F-CB2C953FFE8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90850" y="1652588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40" name="o0">
            <a:extLst xmlns:a="http://schemas.openxmlformats.org/drawingml/2006/main">
              <a:ext uri="{FF2B5EF4-FFF2-40B4-BE49-F238E27FC236}">
                <a16:creationId xmlns:a16="http://schemas.microsoft.com/office/drawing/2014/main" id="{2FDDA020-6FE9-4DBF-9CE8-CAB31EDD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5686B816-6691-4636-B5FA-9C7BC5BB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PointNet网络结构与当前核验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9189D0E5-8856-4868-974D-FF8CDAAB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546ED908-4F56-4E01-A60B-10B10784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E35A7983-1075-44EB-90F0-97A299B4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PointNetClassifier.forward；project_reference §16.7–16.8；完整训练方法见附录A3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3786CD6E-ABB1-4860-BE4C-E378C8FB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11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DD4A2105-F016-4469-B0CA-35CEE111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38125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二维点集／转置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0DB00ABD-D2D7-4AB2-8561-58CCD33D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B × N × 2 → B × 2 × N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266131E6-C78C-4601-85D2-E2E301D6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81125"/>
            <a:ext cx="238125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Conv1d 2→128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E52D016C-1163-4D10-926F-575AF0D8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97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B × 128 × N</a:t>
            </a:r>
          </a:p>
        </p:txBody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4FEE4238-20A8-4601-80E1-56EE73C3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81125"/>
            <a:ext cx="238125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Conv1d 128→128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3653F8D6-2144-4164-8292-85156B47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97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B × 128 × N</a:t>
            </a:r>
          </a:p>
        </p:txBody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67E726BE-CE63-4CA8-9BA3-85D0B070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238125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Conv1d 128→128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81968781-3B2F-43B5-9B10-916ECC8B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97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B × 128 × N</a:t>
            </a:r>
          </a:p>
        </p:txBody>
      </p:sp>
      <p:sp>
        <p:nvSpPr>
          <p:cNvPr id="15" name="o17">
            <a:extLst xmlns:a="http://schemas.openxmlformats.org/drawingml/2006/main">
              <a:ext uri="{FF2B5EF4-FFF2-40B4-BE49-F238E27FC236}">
                <a16:creationId xmlns:a16="http://schemas.microsoft.com/office/drawing/2014/main" id="{5CB6EABC-D7C9-4CB3-B756-AD6E6B25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三层卷积核均为1，各层接BN＋ReLU；逐点共享权重，无T-Net。</a:t>
            </a:r>
          </a:p>
        </p:txBody>
      </p:sp>
      <p:sp>
        <p:nvSpPr>
          <p:cNvPr id="16" name="o18">
            <a:extLst xmlns:a="http://schemas.openxmlformats.org/drawingml/2006/main">
              <a:ext uri="{FF2B5EF4-FFF2-40B4-BE49-F238E27FC236}">
                <a16:creationId xmlns:a16="http://schemas.microsoft.com/office/drawing/2014/main" id="{74DE63C8-42E8-45AF-83D2-B81BD3C0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238125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lengths掩码</a:t>
            </a:r>
          </a:p>
        </p:txBody>
      </p:sp>
      <p:sp>
        <p:nvSpPr>
          <p:cNvPr id="17" name="o19">
            <a:extLst xmlns:a="http://schemas.openxmlformats.org/drawingml/2006/main">
              <a:ext uri="{FF2B5EF4-FFF2-40B4-BE49-F238E27FC236}">
                <a16:creationId xmlns:a16="http://schemas.microsoft.com/office/drawing/2014/main" id="{F03EB852-CC70-4F7B-8C1D-5AFE7CF1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B × 128 × N</a:t>
            </a:r>
          </a:p>
        </p:txBody>
      </p:sp>
      <p:sp>
        <p:nvSpPr>
          <p:cNvPr id="18" name="o20">
            <a:extLst xmlns:a="http://schemas.openxmlformats.org/drawingml/2006/main">
              <a:ext uri="{FF2B5EF4-FFF2-40B4-BE49-F238E27FC236}">
                <a16:creationId xmlns:a16="http://schemas.microsoft.com/office/drawing/2014/main" id="{3D5CD752-6058-4357-A851-964215C2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33725"/>
            <a:ext cx="238125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全局最大池化</a:t>
            </a:r>
          </a:p>
        </p:txBody>
      </p:sp>
      <p:sp>
        <p:nvSpPr>
          <p:cNvPr id="19" name="o21">
            <a:extLst xmlns:a="http://schemas.openxmlformats.org/drawingml/2006/main">
              <a:ext uri="{FF2B5EF4-FFF2-40B4-BE49-F238E27FC236}">
                <a16:creationId xmlns:a16="http://schemas.microsoft.com/office/drawing/2014/main" id="{418B1E33-FE13-4DEE-960C-9349477A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528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B × 128</a:t>
            </a:r>
          </a:p>
        </p:txBody>
      </p:sp>
      <p:sp>
        <p:nvSpPr>
          <p:cNvPr id="20" name="o22">
            <a:extLst xmlns:a="http://schemas.openxmlformats.org/drawingml/2006/main">
              <a:ext uri="{FF2B5EF4-FFF2-40B4-BE49-F238E27FC236}">
                <a16:creationId xmlns:a16="http://schemas.microsoft.com/office/drawing/2014/main" id="{E955EC7D-D228-4B48-B352-2A39593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33725"/>
            <a:ext cx="238125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FC 128→128</a:t>
            </a:r>
          </a:p>
        </p:txBody>
      </p:sp>
      <p:sp>
        <p:nvSpPr>
          <p:cNvPr id="21" name="o23">
            <a:extLst xmlns:a="http://schemas.openxmlformats.org/drawingml/2006/main">
              <a:ext uri="{FF2B5EF4-FFF2-40B4-BE49-F238E27FC236}">
                <a16:creationId xmlns:a16="http://schemas.microsoft.com/office/drawing/2014/main" id="{416F3D89-B31C-4E6A-9ABC-A41C5A56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528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ReLU／Dropout 0.3</a:t>
            </a:r>
          </a:p>
        </p:txBody>
      </p:sp>
      <p:sp>
        <p:nvSpPr>
          <p:cNvPr id="22" name="o24">
            <a:extLst xmlns:a="http://schemas.openxmlformats.org/drawingml/2006/main">
              <a:ext uri="{FF2B5EF4-FFF2-40B4-BE49-F238E27FC236}">
                <a16:creationId xmlns:a16="http://schemas.microsoft.com/office/drawing/2014/main" id="{8029282A-E04B-448A-8C13-AA70DFEA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33725"/>
            <a:ext cx="238125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FC 128→5</a:t>
            </a:r>
          </a:p>
        </p:txBody>
      </p:sp>
      <p:sp>
        <p:nvSpPr>
          <p:cNvPr id="23" name="o25">
            <a:extLst xmlns:a="http://schemas.openxmlformats.org/drawingml/2006/main">
              <a:ext uri="{FF2B5EF4-FFF2-40B4-BE49-F238E27FC236}">
                <a16:creationId xmlns:a16="http://schemas.microsoft.com/office/drawing/2014/main" id="{65855F6A-D4C7-44C6-A156-EE6EBFF9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528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logits／argmax</a:t>
            </a:r>
          </a:p>
        </p:txBody>
      </p:sp>
      <p:sp>
        <p:nvSpPr>
          <p:cNvPr id="24" name="line-21">
            <a:extLst xmlns:a="http://schemas.openxmlformats.org/drawingml/2006/main">
              <a:ext uri="{FF2B5EF4-FFF2-40B4-BE49-F238E27FC236}">
                <a16:creationId xmlns:a16="http://schemas.microsoft.com/office/drawing/2014/main" id="{C1C29540-A3C9-4FF9-BFF7-FC9F5BA4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0" y="1924050"/>
            <a:ext cx="953" cy="1038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3657A"/>
            </a:solidFill>
            <a:prstDash val="solid"/>
          </a:ln>
        </p:spPr>
      </p:sp>
      <p:sp>
        <p:nvSpPr>
          <p:cNvPr id="25" name="line-21">
            <a:extLst xmlns:a="http://schemas.openxmlformats.org/drawingml/2006/main">
              <a:ext uri="{FF2B5EF4-FFF2-40B4-BE49-F238E27FC236}">
                <a16:creationId xmlns:a16="http://schemas.microsoft.com/office/drawing/2014/main" id="{3EFBF2B9-5A9C-412D-BAAF-ADE9633E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47750" y="2962275"/>
            <a:ext cx="10287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3657A"/>
            </a:solidFill>
            <a:prstDash val="solid"/>
          </a:ln>
        </p:spPr>
      </p:sp>
      <p:sp>
        <p:nvSpPr>
          <p:cNvPr id="26" name="line-21">
            <a:extLst xmlns:a="http://schemas.openxmlformats.org/drawingml/2006/main">
              <a:ext uri="{FF2B5EF4-FFF2-40B4-BE49-F238E27FC236}">
                <a16:creationId xmlns:a16="http://schemas.microsoft.com/office/drawing/2014/main" id="{C48BC8AF-94DA-4BF5-924D-7C66573D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47750" y="2962275"/>
            <a:ext cx="953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3657A"/>
            </a:solidFill>
            <a:prstDash val="solid"/>
          </a:ln>
        </p:spPr>
      </p:sp>
      <p:sp>
        <p:nvSpPr>
          <p:cNvPr id="27" name="line-21">
            <a:extLst xmlns:a="http://schemas.openxmlformats.org/drawingml/2006/main">
              <a:ext uri="{FF2B5EF4-FFF2-40B4-BE49-F238E27FC236}">
                <a16:creationId xmlns:a16="http://schemas.microsoft.com/office/drawing/2014/main" id="{FBA9E3D4-7722-48E9-8A27-A00F6B9C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425767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28" name="o33">
            <a:extLst xmlns:a="http://schemas.openxmlformats.org/drawingml/2006/main">
              <a:ext uri="{FF2B5EF4-FFF2-40B4-BE49-F238E27FC236}">
                <a16:creationId xmlns:a16="http://schemas.microsoft.com/office/drawing/2014/main" id="{CC40630C-5ED6-47AF-8780-E66785ED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训练方法与结构</a:t>
            </a:r>
          </a:p>
        </p:txBody>
      </p:sp>
      <p:sp>
        <p:nvSpPr>
          <p:cNvPr id="29" name="o34">
            <a:extLst xmlns:a="http://schemas.openxmlformats.org/drawingml/2006/main">
              <a:ext uri="{FF2B5EF4-FFF2-40B4-BE49-F238E27FC236}">
                <a16:creationId xmlns:a16="http://schemas.microsoft.com/office/drawing/2014/main" id="{745C508C-DA2C-4060-95CD-9C736BC7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变长补齐＋掩码；交叉熵＋Adam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51,333参数；推理eval模式，通常B=1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按点维N聚合，排除填充点</a:t>
            </a:r>
          </a:p>
        </p:txBody>
      </p:sp>
      <p:sp>
        <p:nvSpPr>
          <p:cNvPr id="30" name="o35">
            <a:extLst xmlns:a="http://schemas.openxmlformats.org/drawingml/2006/main">
              <a:ext uri="{FF2B5EF4-FFF2-40B4-BE49-F238E27FC236}">
                <a16:creationId xmlns:a16="http://schemas.microsoft.com/office/drawing/2014/main" id="{4D3C33AF-0DEB-44B1-9507-889D7086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386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当前可核验结果</a:t>
            </a:r>
          </a:p>
        </p:txBody>
      </p:sp>
      <p:sp>
        <p:nvSpPr>
          <p:cNvPr id="31" name="o36">
            <a:extLst xmlns:a="http://schemas.openxmlformats.org/drawingml/2006/main">
              <a:ext uri="{FF2B5EF4-FFF2-40B4-BE49-F238E27FC236}">
                <a16:creationId xmlns:a16="http://schemas.microsoft.com/office/drawing/2014/main" id="{EB479BC2-A1D1-4807-AEDC-52E66C5E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5775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五成员固定样本：vshape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逆序点输入：logits最大差9.54×10⁻⁷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独立分类效果：证据尚未核实</a:t>
            </a:r>
          </a:p>
        </p:txBody>
      </p:sp>
      <p:sp>
        <p:nvSpPr>
          <p:cNvPr id="32" name="line-25">
            <a:extLst xmlns:a="http://schemas.openxmlformats.org/drawingml/2006/main">
              <a:ext uri="{FF2B5EF4-FFF2-40B4-BE49-F238E27FC236}">
                <a16:creationId xmlns:a16="http://schemas.microsoft.com/office/drawing/2014/main" id="{C25D81F4-A07E-4BE0-9475-68F57264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1341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33" name="o38">
            <a:extLst xmlns:a="http://schemas.openxmlformats.org/drawingml/2006/main">
              <a:ext uri="{FF2B5EF4-FFF2-40B4-BE49-F238E27FC236}">
                <a16:creationId xmlns:a16="http://schemas.microsoft.com/office/drawing/2014/main" id="{0D86DA41-D94D-44F6-BCE3-67E7DBE6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逆序检查是单样本一致性证据；代码注释acc 0.905不作为当前系统准确率。</a:t>
            </a:r>
          </a:p>
        </p:txBody>
      </p:sp>
    </p:spTree>
    <p:extLst>
      <p:ext uri="{BB962C8B-B14F-4D97-AF65-F5344CB8AC3E}">
        <p14:creationId xmlns:p14="http://schemas.microsoft.com/office/powerpoint/2010/main" val="5452016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04454-F031-48CE-80E1-B952F252D95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91350" y="30289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B5CAC-6082-4932-A09F-53A8E2199DF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30289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17" name="o0">
            <a:extLst xmlns:a="http://schemas.openxmlformats.org/drawingml/2006/main">
              <a:ext uri="{FF2B5EF4-FFF2-40B4-BE49-F238E27FC236}">
                <a16:creationId xmlns:a16="http://schemas.microsoft.com/office/drawing/2014/main" id="{70544626-DBD5-4A88-8A3D-A21C4614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4B3D12C7-671A-480B-8CE7-77558622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意图候选生成与确定性选择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70E37784-8E0D-480B-8B56-6144C9C2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38B537CD-B1CD-426D-BCDB-4C84DBE1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1A23A10A-9F8D-4E51-BD20-54BB8339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§8.1–§8.2、§8.5；F06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7E66A1D6-045F-4127-A583-B59522CF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12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F0FA671C-C5E3-46B9-BFAC-3B1B52A0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运动、群体、空间</a:t>
            </a:r>
          </a:p>
          <a:p xmlns:a="http://schemas.openxmlformats.org/drawingml/2006/main">
            <a: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身份与计划特征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027EF402-1129-4E25-8B4E-3B5AB0C8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2571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19项规则</a:t>
            </a:r>
          </a:p>
          <a:p xmlns:a="http://schemas.openxmlformats.org/drawingml/2006/main">
            <a:pPr algn="ctr">
              <a:def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分别评估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E3DADFC6-66FE-404D-9A79-B90490AD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76500"/>
            <a:ext cx="3638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主意图与其他候选</a:t>
            </a:r>
          </a:p>
          <a:p xmlns:a="http://schemas.openxmlformats.org/drawingml/2006/main">
            <a:pPr algn="ctr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保留触发证据</a:t>
            </a:r>
          </a:p>
        </p:txBody>
      </p:sp>
      <p:sp>
        <p:nvSpPr>
          <p:cNvPr id="10" name="o11">
            <a:extLst xmlns:a="http://schemas.openxmlformats.org/drawingml/2006/main">
              <a:ext uri="{FF2B5EF4-FFF2-40B4-BE49-F238E27FC236}">
                <a16:creationId xmlns:a16="http://schemas.microsoft.com/office/drawing/2014/main" id="{7D33F804-04BF-4037-B35A-61AB47BF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排序：优先级 → confidence → 完整度 → 代码</a:t>
            </a:r>
          </a:p>
        </p:txBody>
      </p:sp>
      <p:sp>
        <p:nvSpPr>
          <p:cNvPr id="11" name="o12">
            <a:extLst xmlns:a="http://schemas.openxmlformats.org/drawingml/2006/main">
              <a:ext uri="{FF2B5EF4-FFF2-40B4-BE49-F238E27FC236}">
                <a16:creationId xmlns:a16="http://schemas.microsoft.com/office/drawing/2014/main" id="{8FC5BA87-3FC5-4628-8383-83351609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单机与集群各自评估；无候选时空意图并复核</a:t>
            </a:r>
          </a:p>
        </p:txBody>
      </p:sp>
      <p:sp>
        <p:nvSpPr>
          <p:cNvPr id="12" name="line-9">
            <a:extLst xmlns:a="http://schemas.openxmlformats.org/drawingml/2006/main">
              <a:ext uri="{FF2B5EF4-FFF2-40B4-BE49-F238E27FC236}">
                <a16:creationId xmlns:a16="http://schemas.microsoft.com/office/drawing/2014/main" id="{5B8E8C7F-719E-46D3-8CD3-B475DF53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13" name="o14">
            <a:extLst xmlns:a="http://schemas.openxmlformats.org/drawingml/2006/main">
              <a:ext uri="{FF2B5EF4-FFF2-40B4-BE49-F238E27FC236}">
                <a16:creationId xmlns:a16="http://schemas.microsoft.com/office/drawing/2014/main" id="{5FBCD91D-AFDB-4C6A-9291-2BD4B07B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I-28不作兜底；规则confidence不是校准概率。</a:t>
            </a:r>
          </a:p>
        </p:txBody>
      </p:sp>
      <p:sp>
        <p:nvSpPr>
          <p:cNvPr id="14" name="o15">
            <a:extLst xmlns:a="http://schemas.openxmlformats.org/drawingml/2006/main">
              <a:ext uri="{FF2B5EF4-FFF2-40B4-BE49-F238E27FC236}">
                <a16:creationId xmlns:a16="http://schemas.microsoft.com/office/drawing/2014/main" id="{76F11D06-9366-4F0E-8751-E6267557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输入：行为／群体／空间／身份特征    产物：主意图、候选与证据    核验：规则回归</a:t>
            </a:r>
          </a:p>
        </p:txBody>
      </p:sp>
    </p:spTree>
    <p:extLst>
      <p:ext uri="{BB962C8B-B14F-4D97-AF65-F5344CB8AC3E}">
        <p14:creationId xmlns:p14="http://schemas.microsoft.com/office/powerpoint/2010/main" val="18510884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0512D-DCA4-467F-9287-7159F093E016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0034588" y="3543300"/>
            <a:ext cx="500063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80B"/>
            </a:solidFill>
            <a:prstDash val="solid"/>
            <a:tailEnd type="triangle" w="med" len="med"/>
          </a:ln>
        </p:spPr>
      </p:cxnSp>
      <p:sp>
        <p:nvSpPr>
          <p:cNvPr id="24" name="o0">
            <a:extLst xmlns:a="http://schemas.openxmlformats.org/drawingml/2006/main">
              <a:ext uri="{FF2B5EF4-FFF2-40B4-BE49-F238E27FC236}">
                <a16:creationId xmlns:a16="http://schemas.microsoft.com/office/drawing/2014/main" id="{900F8E38-5429-47DA-A5DD-B319B2E4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D2A10953-E20A-4290-A795-ED85DE22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历史投票成立后，还要检查最新运动状态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4A322EDF-9BC8-40C9-8C2D-7F4C160E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F18DFAFD-23EC-49AE-9554-0F6BAA23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BA654612-57BA-4F65-B94E-D3B4F1DE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§8.3；F07；以下为方法示意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C05B985E-859A-4B59-A198-0CB633A9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13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C2075CA1-96FF-44E6-B631-6BCCD66F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五个评估时刻，各自只使用当时已有观测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5732F7ED-BB21-446E-94ED-4FD74369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t−4</a:t>
            </a:r>
          </a:p>
        </p:txBody>
      </p:sp>
      <p:sp>
        <p:nvSpPr>
          <p:cNvPr id="9" name="vote0">
            <a:extLst xmlns:a="http://schemas.openxmlformats.org/drawingml/2006/main">
              <a:ext uri="{FF2B5EF4-FFF2-40B4-BE49-F238E27FC236}">
                <a16:creationId xmlns:a16="http://schemas.microsoft.com/office/drawing/2014/main" id="{65829B83-A7DA-46CC-AF6C-DAC0B261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有效 / 命中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33E34BCF-EE44-470B-BB55-B5DBC2EE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2764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t−3</a:t>
            </a:r>
          </a:p>
        </p:txBody>
      </p:sp>
      <p:sp>
        <p:nvSpPr>
          <p:cNvPr id="11" name="vote1">
            <a:extLst xmlns:a="http://schemas.openxmlformats.org/drawingml/2006/main">
              <a:ext uri="{FF2B5EF4-FFF2-40B4-BE49-F238E27FC236}">
                <a16:creationId xmlns:a16="http://schemas.microsoft.com/office/drawing/2014/main" id="{C18BC2E1-4792-470A-9F22-58EEC140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813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2383">
            <a:solidFill>
              <a:srgbClr val="B5680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缺失 / 不可用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05429445-D568-4E22-AAE6-49EA3D48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764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t−2</a:t>
            </a:r>
          </a:p>
        </p:txBody>
      </p:sp>
      <p:sp>
        <p:nvSpPr>
          <p:cNvPr id="13" name="vote2">
            <a:extLst xmlns:a="http://schemas.openxmlformats.org/drawingml/2006/main">
              <a:ext uri="{FF2B5EF4-FFF2-40B4-BE49-F238E27FC236}">
                <a16:creationId xmlns:a16="http://schemas.microsoft.com/office/drawing/2014/main" id="{EC775367-F99F-4CB7-B153-538B55C6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有效 / 命中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9B516C6C-BB30-49B8-B8F0-60E932C6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764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t−1</a:t>
            </a:r>
          </a:p>
        </p:txBody>
      </p:sp>
      <p:sp>
        <p:nvSpPr>
          <p:cNvPr id="15" name="vote3">
            <a:extLst xmlns:a="http://schemas.openxmlformats.org/drawingml/2006/main">
              <a:ext uri="{FF2B5EF4-FFF2-40B4-BE49-F238E27FC236}">
                <a16:creationId xmlns:a16="http://schemas.microsoft.com/office/drawing/2014/main" id="{4CF6C54D-0285-44E0-BFB0-106A223F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7813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有效 / 命中</a:t>
            </a:r>
          </a:p>
        </p:txBody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26C3EAB5-CDFE-4B4B-A3C4-60DEA5C7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764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t0</a:t>
            </a:r>
          </a:p>
        </p:txBody>
      </p:sp>
      <p:sp>
        <p:nvSpPr>
          <p:cNvPr id="17" name="vote4">
            <a:extLst xmlns:a="http://schemas.openxmlformats.org/drawingml/2006/main">
              <a:ext uri="{FF2B5EF4-FFF2-40B4-BE49-F238E27FC236}">
                <a16:creationId xmlns:a16="http://schemas.microsoft.com/office/drawing/2014/main" id="{0F4D85B9-CE25-4906-8527-BF5C5C00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813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2383">
            <a:solidFill>
              <a:srgbClr val="087F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有效 / 命中</a:t>
            </a:r>
          </a:p>
        </p:txBody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E405A336-6ADA-4368-B4DB-E03C7DA2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962400"/>
            <a:ext cx="3095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4E9"/>
          </a:solidFill>
          <a:ln xmlns:a="http://schemas.openxmlformats.org/drawingml/2006/main" w="12383">
            <a:solidFill>
              <a:srgbClr val="B5680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最新门控</a:t>
            </a:r>
          </a:p>
          <a:p xmlns:a="http://schemas.openxmlformats.org/drawingml/2006/main">
            <a:pPr algn="ctr">
              <a:def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闭合速度与朝向仍成立</a:t>
            </a:r>
          </a:p>
        </p:txBody>
      </p:sp>
      <p:sp>
        <p:nvSpPr>
          <p:cNvPr id="19" name="o19">
            <a:extLst xmlns:a="http://schemas.openxmlformats.org/drawingml/2006/main">
              <a:ext uri="{FF2B5EF4-FFF2-40B4-BE49-F238E27FC236}">
                <a16:creationId xmlns:a16="http://schemas.microsoft.com/office/drawing/2014/main" id="{5F069EFE-CAD0-4281-86A4-11336F31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至少3个有效评估＋至少3次命中＋最新门控</a:t>
            </a:r>
          </a:p>
        </p:txBody>
      </p:sp>
      <p:sp>
        <p:nvSpPr>
          <p:cNvPr id="20" name="line-17">
            <a:extLst xmlns:a="http://schemas.openxmlformats.org/drawingml/2006/main">
              <a:ext uri="{FF2B5EF4-FFF2-40B4-BE49-F238E27FC236}">
                <a16:creationId xmlns:a16="http://schemas.microsoft.com/office/drawing/2014/main" id="{0159BEFB-4963-435F-B46B-C72A2C07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21" name="o21">
            <a:extLst xmlns:a="http://schemas.openxmlformats.org/drawingml/2006/main">
              <a:ext uri="{FF2B5EF4-FFF2-40B4-BE49-F238E27FC236}">
                <a16:creationId xmlns:a16="http://schemas.microsoft.com/office/drawing/2014/main" id="{351C8EBF-8AB5-4945-90ED-7CF2A2F8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同一端点不重复计票；缺失、过旧或重复观测不补成命中。</a:t>
            </a:r>
          </a:p>
        </p:txBody>
      </p:sp>
      <p:sp>
        <p:nvSpPr>
          <p:cNvPr id="22" name="o22">
            <a:extLst xmlns:a="http://schemas.openxmlformats.org/drawingml/2006/main">
              <a:ext uri="{FF2B5EF4-FFF2-40B4-BE49-F238E27FC236}">
                <a16:creationId xmlns:a16="http://schemas.microsoft.com/office/drawing/2014/main" id="{9F7E03BB-55B3-47C8-B498-E942AC30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输入：请求内历史观测    产物：因果投票与最新门控    核验：23项I-24定向用例</a:t>
            </a:r>
          </a:p>
        </p:txBody>
      </p:sp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1" name="native-equation-i24"/>
              <p:cNvSpPr txBox="1">
                <a:spLocks noGrp="1"/>
              </p:cNvSpPr>
              <p:nvPr/>
            </p:nvSpPr>
            <p:spPr>
              <a:xfrm>
                <a:off x="609600" y="3857625"/>
                <a:ext cx="7524750" cy="1095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24</m:t>
                      </m:r>
                      <m:r>
                        <m:rPr>
                          <m:sty m:val="p"/>
                        </m:rP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Hit</m:t>
                      </m:r>
                      <m: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sz="2100" i="1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𝑗</m:t>
                              </m:r>
                              <m: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sz="21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zh-CN" sz="21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sz="21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≥3</m:t>
                          </m:r>
                        </m:e>
                      </m:d>
                      <m: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∧</m:t>
                      </m:r>
                      <m:d>
                        <m:dPr>
                          <m:begChr m:val="["/>
                          <m:endChr m:val="]"/>
                          <m:ctrlPr>
                            <a:rPr lang="zh-CN" sz="2100" i="1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𝑗</m:t>
                              </m:r>
                              <m: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sz="21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zh-CN" sz="21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sz="21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≥3</m:t>
                          </m:r>
                        </m:e>
                      </m:d>
                      <m: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∧</m:t>
                      </m:r>
                      <m:sSub>
                        <m:sSubPr>
                          <m:ctrl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latest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ns0:Choice>
        <ns0:Fallback>
          <p:sp>
            <p:nvSpPr>
              <p:cNvPr id="7001" name="native-equation-i24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857625"/>
                <a:ext cx="7524750" cy="1095375"/>
              </a:xfrm>
              <a:prstGeom prst="rect">
                <a:avLst/>
              </a:prstGeom>
              <a:blipFill>
                <a:blip r:embed="rNative700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ns0:Fallback>
      </ns0:AlternateContent>
    </p:spTree>
    <p:extLst>
      <p:ext uri="{BB962C8B-B14F-4D97-AF65-F5344CB8AC3E}">
        <p14:creationId xmlns:p14="http://schemas.microsoft.com/office/powerpoint/2010/main" val="5329435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o0">
            <a:extLst xmlns:a="http://schemas.openxmlformats.org/drawingml/2006/main">
              <a:ext uri="{FF2B5EF4-FFF2-40B4-BE49-F238E27FC236}">
                <a16:creationId xmlns:a16="http://schemas.microsoft.com/office/drawing/2014/main" id="{DC6C64F2-B760-4AC0-BD76-801ED75E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31404C09-0BA3-4C02-94D9-A2B34ABF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群体一致性特征与独立成员判读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6BC68013-02D0-47E1-98F7-52288407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B87D2990-8D3B-4B2D-8C40-F32BDCB6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B5C100A2-0DBB-4F34-8FD2-76C46E82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§8.4；F08；启发式而非通信图模型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32AB69DD-D430-41DA-944F-5B5E5981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14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F78C098E-33E3-4F0D-B509-3E1F2459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成员与设施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EA6F90DC-F8B1-488D-90B3-1C241F42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至少3成员，同一设施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50C3A043-72FB-44B9-9B44-DF988A5B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趋近占比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44244CFC-A5B1-4052-A4B4-9F3FF822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8122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至少2/3，长窗距离减小≥30米</a:t>
            </a:r>
          </a:p>
        </p:txBody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31F8830F-7879-44BF-82C5-4F18FE46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方向离散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8392FFC1-6944-40D1-B875-CC987D38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相对圆均值最大角差≤25°</a:t>
            </a:r>
          </a:p>
        </p:txBody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77791593-96DA-49D1-8861-73607E7C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ETA离散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7C0B25ED-84F1-4E8A-A364-AB44348C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194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有效值至少2个，极差≤20秒</a:t>
            </a:r>
          </a:p>
        </p:txBody>
      </p:sp>
      <p:sp>
        <p:nvSpPr>
          <p:cNvPr id="15" name="line-12">
            <a:extLst xmlns:a="http://schemas.openxmlformats.org/drawingml/2006/main">
              <a:ext uri="{FF2B5EF4-FFF2-40B4-BE49-F238E27FC236}">
                <a16:creationId xmlns:a16="http://schemas.microsoft.com/office/drawing/2014/main" id="{4F055959-85BD-48CA-A379-93C4946C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88EAA0C5-A509-47FA-A537-CFB3352D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群体ETA特征与公共ETA路径不同；没有推断真实通信关系或控制角色。</a:t>
            </a:r>
          </a:p>
        </p:txBody>
      </p:sp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1" name="native-equation-coord"/>
              <p:cNvSpPr txBox="1">
                <a:spLocks noGrp="1"/>
              </p:cNvSpPr>
              <p:nvPr/>
            </p:nvSpPr>
            <p:spPr>
              <a:xfrm>
                <a:off x="609600" y="4429125"/>
                <a:ext cx="10972800" cy="10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coord</m:t>
                          </m:r>
                        </m:sub>
                      </m:sSub>
                      <m:r>
                        <a:rPr lang="zh-CN" sz="22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>
                          <m:ctrlPr>
                            <a:rPr lang="zh-CN" sz="2200" i="1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clip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0,1</m:t>
                                  </m:r>
                                </m:e>
                              </m:d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0.45</m:t>
                              </m:r>
                              <m: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𝑓</m:t>
                              </m:r>
                              <m: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+0.30 </m:t>
                              </m:r>
                              <m:func>
                                <m:funcPr>
                                  <m:ctrl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zh-CN" sz="2200" dirty="0">
                                          <a:solidFill>
                                            <a:srgbClr val="1C2530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2200" dirty="0">
                                          <a:solidFill>
                                            <a:srgbClr val="1C2530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0,1−</m:t>
                                      </m:r>
                                      <m:f>
                                        <m:fPr>
                                          <m:ctrlPr>
                                            <a:rPr lang="zh-CN" sz="2200" i="1" dirty="0">
                                              <a:solidFill>
                                                <a:srgbClr val="1C2530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zh-CN" sz="2200" dirty="0">
                                                  <a:solidFill>
                                                    <a:srgbClr val="1C2530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sz="2200" dirty="0">
                                                  <a:solidFill>
                                                    <a:srgbClr val="1C2530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𝛿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2200" dirty="0">
                                                  <a:solidFill>
                                                    <a:srgbClr val="1C2530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ℎ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zh-CN" sz="2200" dirty="0">
                                              <a:solidFill>
                                                <a:srgbClr val="1C2530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25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+0.25 </m:t>
                              </m:r>
                              <m:func>
                                <m:funcPr>
                                  <m:ctrl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2200" dirty="0">
                                      <a:solidFill>
                                        <a:srgbClr val="1C253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zh-CN" sz="2200" dirty="0">
                                          <a:solidFill>
                                            <a:srgbClr val="1C2530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2200" dirty="0">
                                          <a:solidFill>
                                            <a:srgbClr val="1C2530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0,1−</m:t>
                                      </m:r>
                                      <m:f>
                                        <m:fPr>
                                          <m:ctrlPr>
                                            <a:rPr lang="zh-CN" sz="2200" i="1" dirty="0">
                                              <a:solidFill>
                                                <a:srgbClr val="1C2530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zh-CN" sz="2200" dirty="0">
                                                  <a:solidFill>
                                                    <a:srgbClr val="1C2530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sz="2200" dirty="0">
                                                  <a:solidFill>
                                                    <a:srgbClr val="1C2530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𝛿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2200" dirty="0">
                                                  <a:solidFill>
                                                    <a:srgbClr val="1C2530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𝜏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zh-CN" sz="2200" dirty="0">
                                              <a:solidFill>
                                                <a:srgbClr val="1C2530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20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/>
              </a:p>
            </p:txBody>
          </p:sp>
        </ns0:Choice>
        <ns0:Fallback>
          <p:sp>
            <p:nvSpPr>
              <p:cNvPr id="7001" name="native-equation-coord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429125"/>
                <a:ext cx="10972800" cy="1066800"/>
              </a:xfrm>
              <a:prstGeom prst="rect">
                <a:avLst/>
              </a:prstGeom>
              <a:blipFill>
                <a:blip r:embed="rNative700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ns0:Fallback>
      </ns0:AlternateContent>
    </p:spTree>
    <p:extLst>
      <p:ext uri="{BB962C8B-B14F-4D97-AF65-F5344CB8AC3E}">
        <p14:creationId xmlns:p14="http://schemas.microsoft.com/office/powerpoint/2010/main" val="20571914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o0">
            <a:extLst xmlns:a="http://schemas.openxmlformats.org/drawingml/2006/main">
              <a:ext uri="{FF2B5EF4-FFF2-40B4-BE49-F238E27FC236}">
                <a16:creationId xmlns:a16="http://schemas.microsoft.com/office/drawing/2014/main" id="{6A1B921E-B809-4DF9-A13B-2E1F7318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A31220B7-CC2A-4C53-8537-D4CFF6F6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十维威胁评分与案例复算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D288E67A-AA3F-4743-81AF-AF0F39E6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D8AAA0D2-6888-4EE5-8191-EB7B033C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BA7FB3BA-E58F-4444-98B8-576E22A8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project_reference §9；同次 case_response.json；完整修正公式见附录A6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B5B0350F-9309-45C8-BD73-D08CB21B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15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128D89A6-DF9C-440F-93A2-BF9C3541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523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配置权重（%）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E71BD9A3-568D-4A8D-8F8A-C12BA3FA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公式中的权重取0–1；图中显示百分比。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93E1E98A-8E77-4548-B7BB-B1073585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519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同一评分链：计算顺序与本例数值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C325697A-A5D8-4F5A-AD2D-CEC1B726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1  十维加权＋飞手偏置</a:t>
            </a:r>
          </a:p>
        </p:txBody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B0DA71C9-2D14-4658-9698-F0239765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本例十维加权值45.65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34EA900A-DFF1-439E-AD3B-E7FEB9CA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33725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2  置信修正 → 截断／取整</a:t>
            </a:r>
          </a:p>
        </p:txBody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51C41CE9-3923-4485-A301-6BB19B88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本例置信修正为0，取整46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8CA43847-DA0B-4280-9A2B-398C16BC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14825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3  硬规则抬底 → 空间约束</a:t>
            </a:r>
          </a:p>
        </p:txBody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9278CDD6-F5B0-488E-9FDC-90BB5941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本例抬底为0，最终46分mid</a:t>
            </a:r>
          </a:p>
        </p:txBody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37976441-1974-4EEB-8786-55835415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10225"/>
            <a:ext cx="519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另一组：32.23 → 32分low</a:t>
            </a:r>
          </a:p>
        </p:txBody>
      </p:sp>
      <p:sp>
        <p:nvSpPr>
          <p:cNvPr id="17" name="line-14">
            <a:extLst xmlns:a="http://schemas.openxmlformats.org/drawingml/2006/main">
              <a:ext uri="{FF2B5EF4-FFF2-40B4-BE49-F238E27FC236}">
                <a16:creationId xmlns:a16="http://schemas.microsoft.com/office/drawing/2014/main" id="{48B99BE0-D598-4EA0-97D4-BFF0591F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1341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E6A390C9-CE9A-4066-B6CB-2008B82F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单机与群体分别计算；权重属于当前规则基线，分数不是经统计标定的损失概率。</a:t>
            </a:r>
          </a:p>
        </p:txBody>
      </p:sp>
      <p:graphicFrame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GraphicFramePr>
          <p:cNvPr id="7001" name="Chart 24"/>
          <p:cNvGraphicFramePr>
            <a:graphicFrameLocks noGrp="1"/>
          </p:cNvGraphicFramePr>
          <p:nvPr/>
        </p:nvGraphicFramePr>
        <p:xfrm>
          <a:off x="609600" y="1504950"/>
          <a:ext cx="5238750" cy="3286125"/>
        </p:xfrm>
        <a:graphic>
          <a:graphicData uri="http://schemas.openxmlformats.org/drawingml/2006/chart">
            <ns0:chart xmlns:ns0="http://schemas.openxmlformats.org/drawingml/2006/chart" r:id="rNative7001"/>
          </a:graphicData>
        </a:graphic>
      </p:graphicFrame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2" name="native-equation-sraw"/>
              <p:cNvSpPr txBox="1">
                <a:spLocks noGrp="1"/>
              </p:cNvSpPr>
              <p:nvPr/>
            </p:nvSpPr>
            <p:spPr>
              <a:xfrm>
                <a:off x="609600" y="4886325"/>
                <a:ext cx="523875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𝑆</m:t>
                          </m:r>
                        </m:e>
                        <m:sub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m:rPr>
                              <m:sty m:val="p"/>
                            </m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raw</m:t>
                          </m:r>
                        </m:sub>
                      </m:sSub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lang="zh-CN" sz="22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𝑘</m:t>
                          </m:r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=1</m:t>
                          </m:r>
                        </m:sub>
                        <m:sup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sup>
                        <m:e>
                          <m:sSub>
                            <m:sSubPr>
                              <m:ctrl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𝑘</m:t>
                              </m:r>
                            </m:sub>
                          </m:sSub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 </m:t>
                          </m:r>
                          <m:sSub>
                            <m:sSubPr>
                              <m:ctrl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w:rPr>
                                  <w:sz w:val="44"/>
                                  <w:rFonts w:ascii="Cambria Math" w:hAnsi="Cambria Math" w:eastAsia="Cambria Math"/>
                                </w:rPr>
                                <a:rPr lang="zh-CN" sz="22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w:rPr>
                          <w:sz w:val="44"/>
                          <w:rFonts w:ascii="Cambria Math" w:hAnsi="Cambria Math" w:eastAsia="Cambria Math"/>
                        </w:rPr>
                        <a:rPr lang="zh-CN" sz="22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𝑏</m:t>
                          </m:r>
                        </m:e>
                        <m:sub>
                          <m:r>
                            <w:rPr>
                              <w:sz w:val="44"/>
                              <w:rFonts w:ascii="Cambria Math" w:hAnsi="Cambria Math" w:eastAsia="Cambria Math"/>
                            </w:rPr>
                            <m:rPr>
                              <m:sty m:val="p"/>
                            </m:rPr>
                            <a:rPr lang="zh-CN" sz="22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pilot</m:t>
                          </m:r>
                        </m:sub>
                      </m:sSub>
                    </m:oMath>
                  </m:oMathPara>
                </a14:m>
                <a:endParaRPr sz="2200"/>
              </a:p>
            </p:txBody>
          </p:sp>
        </ns0:Choice>
        <ns0:Fallback>
          <p:sp>
            <p:nvSpPr>
              <p:cNvPr id="7002" name="native-equation-sraw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25" y="4933950"/>
                <a:ext cx="5810250" cy="857250"/>
              </a:xfrm>
              <a:prstGeom prst="rect">
                <a:avLst/>
              </a:prstGeom>
              <a:blipFill>
                <a:blip r:embed="rNative700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 sz="2200">
                    <a:noFill/>
                  </a:rPr>
                  <a:t> </a:t>
                </a:r>
              </a:p>
            </p:txBody>
          </p:sp>
        </ns0:Fallback>
      </ns0:AlternateContent>
    </p:spTree>
    <p:extLst>
      <p:ext uri="{BB962C8B-B14F-4D97-AF65-F5344CB8AC3E}">
        <p14:creationId xmlns:p14="http://schemas.microsoft.com/office/powerpoint/2010/main" val="10480055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o0">
            <a:extLst xmlns:a="http://schemas.openxmlformats.org/drawingml/2006/main">
              <a:ext uri="{FF2B5EF4-FFF2-40B4-BE49-F238E27FC236}">
                <a16:creationId xmlns:a16="http://schemas.microsoft.com/office/drawing/2014/main" id="{356B315E-7234-4156-BDFF-90AA267E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30463D7A-B4C3-40C0-B9E6-70CEF05B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边界时间与设施 ETA 的三条计算路径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0E15B8A9-C8D1-4ACB-A1B8-D3D27AE7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13B4912F-42D3-4EAA-A100-76EF24DD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8E5C99F0-E077-4E5D-BE2C-A5CDB7FF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airspace_analysis.py；intention_recognition.py:429；engine.py:2103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EC5D3726-7AC4-416A-BBFA-58332850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16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104FD65C-9919-4B94-A1B1-712FFB3C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空域边界穿越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15D1533A-60F2-4F50-8463-9C15F1A4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668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适配器设施ETA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2EE22A79-97FF-4C2F-B8BD-3788A000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引擎设施ETA回退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F9C51244-2478-49D5-8D0B-60E2F912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边界距离按真实时间回归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运动条件成立才外推</a:t>
            </a:r>
          </a:p>
        </p:txBody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1689B00C-F2A1-4B06-91C0-B03D122D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7662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最近3点每步距离变化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乘窗口平均时间间隔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364E258A-C751-4728-B49D-57B95081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同一主设施与成员作用域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有效速度大于0.5 m/s</a:t>
            </a:r>
          </a:p>
        </p:txBody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A140A966-99F7-43E5-AC7E-797F6883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输出：predictedBoundaryCrossingSeconds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0DABAB23-02EC-4E7F-A0F0-CFD143DA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539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设施ETA：有效适配器值 → 条件回退 → null</a:t>
            </a:r>
          </a:p>
        </p:txBody>
      </p:sp>
      <p:sp>
        <p:nvSpPr>
          <p:cNvPr id="15" name="line-12">
            <a:extLst xmlns:a="http://schemas.openxmlformats.org/drawingml/2006/main">
              <a:ext uri="{FF2B5EF4-FFF2-40B4-BE49-F238E27FC236}">
                <a16:creationId xmlns:a16="http://schemas.microsoft.com/office/drawing/2014/main" id="{EF818024-FA92-483F-B680-5190034D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B0930BA3-D2F8-4803-B494-FC7987C0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边界时间和设施时间分别解释；当前不模拟未来转弯、绕障或多分支轨迹。</a:t>
            </a:r>
          </a:p>
        </p:txBody>
      </p:sp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1" name="equation-boundary"/>
              <p:cNvSpPr txBox="1">
                <a:spLocks noGrp="1"/>
              </p:cNvSpPr>
              <p:nvPr/>
            </p:nvSpPr>
            <p:spPr>
              <a:xfrm>
                <a:off x="609600" y="2476500"/>
                <a:ext cx="3381375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𝑏𝑜𝑢𝑛𝑑𝑎𝑟𝑦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𝑏𝑜𝑢𝑛𝑑𝑎𝑟𝑦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&lt; 0</m:t>
                      </m:r>
                    </m:oMath>
                  </m:oMathPara>
                </a14:m>
                <a:endParaRPr/>
              </a:p>
            </p:txBody>
          </p:sp>
        </ns0:Choice>
        <ns0:Fallback>
          <p:sp>
            <p:nvSpPr>
              <p:cNvPr id="7001" name="equation-boundary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76500"/>
                <a:ext cx="3381375" cy="714375"/>
              </a:xfrm>
              <a:prstGeom prst="rect">
                <a:avLst/>
              </a:prstGeom>
              <a:blipFill>
                <a:blip r:embed="rNative700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ns0:Fallback>
      </ns0:AlternateContent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2" name="equation-etaadapter"/>
              <p:cNvSpPr txBox="1">
                <a:spLocks noGrp="1"/>
              </p:cNvSpPr>
              <p:nvPr/>
            </p:nvSpPr>
            <p:spPr>
              <a:xfrm>
                <a:off x="4343400" y="2476500"/>
                <a:ext cx="3381375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𝑎𝑑𝑎𝑝𝑡𝑒𝑟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̄|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̄</m:t>
                      </m:r>
                    </m:oMath>
                  </m:oMathPara>
                </a14:m>
                <a:endParaRPr/>
              </a:p>
            </p:txBody>
          </p:sp>
        </ns0:Choice>
        <ns0:Fallback>
          <p:sp>
            <p:nvSpPr>
              <p:cNvPr id="7002" name="equation-etaadapter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2476500"/>
                <a:ext cx="3381375" cy="714375"/>
              </a:xfrm>
              <a:prstGeom prst="rect">
                <a:avLst/>
              </a:prstGeom>
              <a:blipFill>
                <a:blip r:embed="rNative700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ns0:Fallback>
      </ns0:AlternateContent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3" name="equation-etafallback"/>
              <p:cNvSpPr txBox="1">
                <a:spLocks noGrp="1"/>
              </p:cNvSpPr>
              <p:nvPr/>
            </p:nvSpPr>
            <p:spPr>
              <a:xfrm>
                <a:off x="8077200" y="2476500"/>
                <a:ext cx="3476625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𝑓𝑎𝑙𝑙𝑏𝑎𝑐𝑘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= ⌊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𝑓𝑎𝑐𝑖𝑙𝑖𝑡𝑦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𝑠𝑐𝑜𝑝𝑒</m:t>
                              </m:r>
                            </m:sub>
                          </m:sSub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⌋</m:t>
                      </m:r>
                    </m:oMath>
                  </m:oMathPara>
                </a14:m>
                <a:endParaRPr/>
              </a:p>
            </p:txBody>
          </p:sp>
        </ns0:Choice>
        <ns0:Fallback>
          <p:sp>
            <p:nvSpPr>
              <p:cNvPr id="7003" name="equation-etafallback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2476500"/>
                <a:ext cx="3476625" cy="714375"/>
              </a:xfrm>
              <a:prstGeom prst="rect">
                <a:avLst/>
              </a:prstGeom>
              <a:blipFill>
                <a:blip r:embed="rNative700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ns0:Fallback>
      </ns0:AlternateContent>
    </p:spTree>
    <p:extLst>
      <p:ext uri="{BB962C8B-B14F-4D97-AF65-F5344CB8AC3E}">
        <p14:creationId xmlns:p14="http://schemas.microsoft.com/office/powerpoint/2010/main" val="9838221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57D67C-FCFF-41AA-8821-38681CC6ECE0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943975" y="40576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4BC882-76AE-46A9-B5C4-B6648DFBE382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8943975" y="32385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6E59CC-B1C9-40EB-866C-4BE3B3103B4A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943975" y="24193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29" name="o0">
            <a:extLst xmlns:a="http://schemas.openxmlformats.org/drawingml/2006/main">
              <a:ext uri="{FF2B5EF4-FFF2-40B4-BE49-F238E27FC236}">
                <a16:creationId xmlns:a16="http://schemas.microsoft.com/office/drawing/2014/main" id="{89947F74-D814-4726-BD91-99188E67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4A35B68B-D4AF-4D9E-BD10-B395B28B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覆盖与基础资源辅助评估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7971447D-0B47-4F71-950A-6FAB15B6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F2783C59-2B88-4516-A3D1-3F5DDFF7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0475D81E-CDE0-4867-BD0C-C0D5A2D0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project_reference §16.13–16.14；Word §23.13–23.14；字段语义见附录A7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73350389-57A8-4C22-94BD-5F42140F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17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E01B8889-2333-411C-A509-8F8D4BF0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代表点覆盖与组合值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8B74DC82-2D63-4D0B-8F91-C46EE916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2524125" cy="2286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4E88"/>
            </a:solidFill>
            <a:prstDash val="solid"/>
          </a:ln>
        </p:spPr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67703AC5-F341-43D5-AD5C-2A00B228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52650"/>
            <a:ext cx="2524125" cy="2286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87F70"/>
            </a:solidFill>
            <a:prstDash val="solid"/>
          </a:ln>
        </p:spPr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C09BC73A-4E7F-4DF8-AAF8-03F67DC1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9BC84AF3-F5FB-4BF3-B4B7-50211792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FE202BB0-AFA5-4012-B0AF-9FC40CD8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2DC63A4A-2480-4EC2-B3B4-705C0D42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00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8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273F4673-0313-4172-BFF6-A7B7E9BC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09900"/>
            <a:ext cx="171450" cy="171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375B43D1-187A-43ED-968B-9ABA30BB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337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代表点</a:t>
            </a:r>
          </a:p>
        </p:txBody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220C9778-6FE8-405F-8F7A-16B9BEB0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覆盖外成员</a:t>
            </a:r>
          </a:p>
        </p:txBody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CE4D94B7-B680-4F89-A483-45AFB15D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C：有效且覆盖代表点的设备</a:t>
            </a:r>
          </a:p>
          <a:p xmlns:a="http://schemas.openxmlformats.org/drawingml/2006/main">
            <a: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p：输入概率；组合形式采用独立事件假设</a:t>
            </a:r>
          </a:p>
        </p:txBody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B25EEB08-BB7F-4828-A302-423D9CA9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31445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请求内资源评估流程</a:t>
            </a:r>
          </a:p>
        </p:txBody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88C9ADE9-5888-40B8-BCF8-A55DC876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47850"/>
            <a:ext cx="5257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群体等级／分数排序 → 按成员数形成需求</a:t>
            </a:r>
          </a:p>
        </p:txBody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3A9AFE6A-CA87-4037-BB95-8013B70C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67000"/>
            <a:ext cx="5257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检查启用、范围与响应条件</a:t>
            </a:r>
          </a:p>
        </p:txBody>
      </p:sp>
      <p:sp>
        <p:nvSpPr>
          <p:cNvPr id="21" name="o20">
            <a:extLst xmlns:a="http://schemas.openxmlformats.org/drawingml/2006/main">
              <a:ext uri="{FF2B5EF4-FFF2-40B4-BE49-F238E27FC236}">
                <a16:creationId xmlns:a16="http://schemas.microsoft.com/office/drawing/2014/main" id="{900EAE92-8D43-4F52-B53C-B869798F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86150"/>
            <a:ext cx="5257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按响应时间、距离排序</a:t>
            </a:r>
          </a:p>
        </p:txBody>
      </p:sp>
      <p:sp>
        <p:nvSpPr>
          <p:cNvPr id="22" name="o21">
            <a:extLst xmlns:a="http://schemas.openxmlformats.org/drawingml/2006/main">
              <a:ext uri="{FF2B5EF4-FFF2-40B4-BE49-F238E27FC236}">
                <a16:creationId xmlns:a16="http://schemas.microsoft.com/office/drawing/2014/main" id="{92512155-7D16-4C4E-AA95-FB980F18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305300"/>
            <a:ext cx="5257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取可用数量 → 扣减本请求余量</a:t>
            </a:r>
          </a:p>
        </p:txBody>
      </p:sp>
      <p:sp>
        <p:nvSpPr>
          <p:cNvPr id="23" name="o25">
            <a:extLst xmlns:a="http://schemas.openxmlformats.org/drawingml/2006/main">
              <a:ext uri="{FF2B5EF4-FFF2-40B4-BE49-F238E27FC236}">
                <a16:creationId xmlns:a16="http://schemas.microsoft.com/office/drawing/2014/main" id="{5952EEB1-4537-4297-89D1-B900E0BF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334000"/>
            <a:ext cx="5257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输出：分配数、剩余量、响应时间、评估状态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ETA缺失时，响应时限筛选不生效。</a:t>
            </a:r>
          </a:p>
        </p:txBody>
      </p:sp>
      <p:sp>
        <p:nvSpPr>
          <p:cNvPr id="24" name="line-21">
            <a:extLst xmlns:a="http://schemas.openxmlformats.org/drawingml/2006/main">
              <a:ext uri="{FF2B5EF4-FFF2-40B4-BE49-F238E27FC236}">
                <a16:creationId xmlns:a16="http://schemas.microsoft.com/office/drawing/2014/main" id="{BB05A38B-5853-4B40-AD7E-4DC8A04B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1341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25" name="o27">
            <a:extLst xmlns:a="http://schemas.openxmlformats.org/drawingml/2006/main">
              <a:ext uri="{FF2B5EF4-FFF2-40B4-BE49-F238E27FC236}">
                <a16:creationId xmlns:a16="http://schemas.microsoft.com/office/drawing/2014/main" id="{CFE253EA-148B-44D0-821E-A3CD451F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代表点覆盖不等于全群覆盖；输入概率与successRate不作为实测效能；缺输入单列状态。</a:t>
            </a:r>
          </a:p>
        </p:txBody>
      </p:sp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1" name="equation-coverage"/>
              <p:cNvSpPr txBox="1">
                <a:spLocks noGrp="1"/>
              </p:cNvSpPr>
              <p:nvPr/>
            </p:nvSpPr>
            <p:spPr>
              <a:xfrm>
                <a:off x="609600" y="4562475"/>
                <a:ext cx="51435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sSub>
                        <m:sSubPr>
                          <m:ctrlPr>
                            <a:rPr sz="23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𝑑𝑒𝑡𝑒𝑐𝑡</m:t>
                          </m:r>
                        </m:sub>
                      </m:sSub>
                      <m:r>
                        <w:rPr>
                          <w:sz w:val="46"/>
                          <w:rFonts w:ascii="Cambria Math" w:hAnsi="Cambria Math" w:eastAsia="Cambria Math"/>
                        </w:rPr>
                        <a:rPr sz="2300">
                          <a:latin typeface="Cambria Math" panose="02040503050406030204" pitchFamily="18" charset="0"/>
                        </a:rPr>
                        <m:t> = 1 − </m:t>
                      </m:r>
                      <m:sSub>
                        <m:sSubPr>
                          <m:ctrlPr>
                            <a:rPr sz="23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∏</m:t>
                          </m:r>
                        </m:e>
                        <m:sub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w:rPr>
                          <w:sz w:val="46"/>
                          <w:rFonts w:ascii="Cambria Math" w:hAnsi="Cambria Math" w:eastAsia="Cambria Math"/>
                        </w:rPr>
                        <a:rPr sz="2300">
                          <a:latin typeface="Cambria Math" panose="02040503050406030204" pitchFamily="18" charset="0"/>
                        </a:rPr>
                        <m:t>(1 − </m:t>
                      </m:r>
                      <m:sSub>
                        <m:sSubPr>
                          <m:ctrlPr>
                            <a:rPr sz="23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w:rPr>
                          <w:sz w:val="46"/>
                          <w:rFonts w:ascii="Cambria Math" w:hAnsi="Cambria Math" w:eastAsia="Cambria Math"/>
                        </w:rPr>
                        <a:rPr sz="23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300"/>
              </a:p>
            </p:txBody>
          </p:sp>
        </ns0:Choice>
        <ns0:Fallback>
          <p:sp>
            <p:nvSpPr>
              <p:cNvPr id="7001" name="equation-coverage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2190750"/>
                <a:ext cx="4667250" cy="857250"/>
              </a:xfrm>
              <a:prstGeom prst="rect">
                <a:avLst/>
              </a:prstGeom>
              <a:blipFill>
                <a:blip r:embed="rNative700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 sz="2300">
                    <a:noFill/>
                  </a:rPr>
                  <a:t> </a:t>
                </a:r>
              </a:p>
            </p:txBody>
          </p:sp>
        </ns0:Fallback>
      </ns0:AlternateContent>
    </p:spTree>
    <p:extLst>
      <p:ext uri="{BB962C8B-B14F-4D97-AF65-F5344CB8AC3E}">
        <p14:creationId xmlns:p14="http://schemas.microsoft.com/office/powerpoint/2010/main" val="10682234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431FB-7400-4559-BF36-2132F199D89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53450" y="1690688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44DE9-8606-4E3B-8028-8CB7DD95AD9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72150" y="1690688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92A9F-9E78-4618-91C5-116CE6DAB86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90850" y="1690688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17" name="o0">
            <a:extLst xmlns:a="http://schemas.openxmlformats.org/drawingml/2006/main">
              <a:ext uri="{FF2B5EF4-FFF2-40B4-BE49-F238E27FC236}">
                <a16:creationId xmlns:a16="http://schemas.microsoft.com/office/drawing/2014/main" id="{A9D4DB2F-916E-46E0-9CD4-FBB4D890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F90B04D5-CD69-4F79-90E5-6629A4D9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同一次请求的完整算法输出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C8C50192-E7AA-402B-9994-E8483238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B35A00BC-D88E-415F-A115-0308001C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C42E69D9-4144-405F-BEAA-E6457E44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同次 case_request／case_response／case_trace；project_reference §11.1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38AD945D-13A9-4605-8BCE-5C250AF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18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FEB8648C-4534-47D1-B4F6-0ACF2BB7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38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13个目标输入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04CAA5B1-3210-4704-8BD0-1B324659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81125"/>
            <a:ext cx="238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4个目标独立豁免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E307262B-D620-42C7-B739-527529DE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81125"/>
            <a:ext cx="238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9个目标进入聚类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815A2A81-243F-49D3-8171-0D82E0C9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238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形成5＋4两组</a:t>
            </a:r>
          </a:p>
        </p:txBody>
      </p:sp>
      <p:sp>
        <p:nvSpPr>
          <p:cNvPr id="11" name="o13">
            <a:extLst xmlns:a="http://schemas.openxmlformats.org/drawingml/2006/main">
              <a:ext uri="{FF2B5EF4-FFF2-40B4-BE49-F238E27FC236}">
                <a16:creationId xmlns:a16="http://schemas.microsoft.com/office/drawing/2014/main" id="{5D6AF706-AA55-419F-8448-983D3A3B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响应同时保留：群体结论＋成员独立结论＋空间依据＋质量诊断</a:t>
            </a:r>
          </a:p>
        </p:txBody>
      </p:sp>
      <p:sp>
        <p:nvSpPr>
          <p:cNvPr id="12" name="line-9">
            <a:extLst xmlns:a="http://schemas.openxmlformats.org/drawingml/2006/main">
              <a:ext uri="{FF2B5EF4-FFF2-40B4-BE49-F238E27FC236}">
                <a16:creationId xmlns:a16="http://schemas.microsoft.com/office/drawing/2014/main" id="{285EA013-1B6A-481C-A431-F124A346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1341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13" name="o15">
            <a:extLst xmlns:a="http://schemas.openxmlformats.org/drawingml/2006/main">
              <a:ext uri="{FF2B5EF4-FFF2-40B4-BE49-F238E27FC236}">
                <a16:creationId xmlns:a16="http://schemas.microsoft.com/office/drawing/2014/main" id="{4989D749-92BF-4B28-B5FD-C922B753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同一个requestId贯穿输入、追踪和响应；缺失原因属于输出，建议不表示已执行设备控制。</a:t>
            </a:r>
          </a:p>
        </p:txBody>
      </p:sp>
      <p:graphicFrame>
        <p:nvGraphicFramePr>
          <p:cNvPr id="7001" name="native-table-7001"/>
          <p:cNvGraphicFramePr/>
          <p:nvPr/>
        </p:nvGraphicFramePr>
        <p:xfrm>
          <a:off xmlns:a="http://schemas.openxmlformats.org/drawingml/2006/main" x="609600" y="239077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14016"/>
                <a:gridCol w="4279392"/>
                <a:gridCol w="4279392"/>
              </a:tblGrid>
              <a:tr h="449036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输出字段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5成员组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4成员组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449036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成员关系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保留5个成员ID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保留4个成员ID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9036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PointNet队形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vshape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vshape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449036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主意图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I-13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I-29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9036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威胁评分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45.65 → 46（mid）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32.23 → 32（low）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449036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空间与解释证据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关联上下文、触发成员与观测量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关联上下文、触发成员与观测量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9036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辅助状态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本例缺设备、资源及有效设施ETA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本例缺设备、资源及有效设施ETA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3115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FB88E8-2261-4E8B-8760-E9B2695DF8A5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096000" y="493871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9EDDBE-46AB-4EF7-A952-164293D990F6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096000" y="396716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736786-2F90-4316-B129-AA1CE2A3ECF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96000" y="299561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A8E2C1-2E88-4DEF-8752-2AFDC43F9E4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96000" y="202406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57A"/>
            </a:solidFill>
            <a:prstDash val="solid"/>
            <a:tailEnd type="triangle" w="med" len="med"/>
          </a:ln>
        </p:spPr>
      </p:cxnSp>
      <p:sp>
        <p:nvSpPr>
          <p:cNvPr id="26" name="o0">
            <a:extLst xmlns:a="http://schemas.openxmlformats.org/drawingml/2006/main">
              <a:ext uri="{FF2B5EF4-FFF2-40B4-BE49-F238E27FC236}">
                <a16:creationId xmlns:a16="http://schemas.microsoft.com/office/drawing/2014/main" id="{90FED4FB-F665-4B2E-A543-784DAF77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B9A2469D-2D8E-4999-B220-68CD3EC3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多无人机场景的优化位置与计算方法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DAF4A279-48B1-40D4-AAD0-61ED48A3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A0909E99-20FD-4A8C-B24E-3E20F318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3449026F-C303-4A0A-BA30-89055725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§12.5；Word第18.1–18.7节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224C9C5A-142C-4D6D-9EEC-78E604FB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19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D702FCC3-E19E-453D-97B5-B09778D0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行为特征</a:t>
            </a:r>
          </a:p>
        </p:txBody>
      </p:sp>
      <p:sp>
        <p:nvSpPr>
          <p:cNvPr id="8" name="old0">
            <a:extLst xmlns:a="http://schemas.openxmlformats.org/drawingml/2006/main">
              <a:ext uri="{FF2B5EF4-FFF2-40B4-BE49-F238E27FC236}">
                <a16:creationId xmlns:a16="http://schemas.microsoft.com/office/drawing/2014/main" id="{CAB78F6C-7EA8-4843-9944-8E398ABE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3238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逐目标分析</a:t>
            </a:r>
          </a:p>
        </p:txBody>
      </p:sp>
      <p:sp>
        <p:nvSpPr>
          <p:cNvPr id="9" name="new0">
            <a:extLst xmlns:a="http://schemas.openxmlformats.org/drawingml/2006/main">
              <a:ext uri="{FF2B5EF4-FFF2-40B4-BE49-F238E27FC236}">
                <a16:creationId xmlns:a16="http://schemas.microsoft.com/office/drawing/2014/main" id="{A04DDC31-A283-4F79-897A-28F0B55C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14500"/>
            <a:ext cx="45815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统一数组与NumPy规约</a:t>
            </a:r>
          </a:p>
        </p:txBody>
      </p:sp>
      <p:sp>
        <p:nvSpPr>
          <p:cNvPr id="10" name="o10">
            <a:extLst xmlns:a="http://schemas.openxmlformats.org/drawingml/2006/main">
              <a:ext uri="{FF2B5EF4-FFF2-40B4-BE49-F238E27FC236}">
                <a16:creationId xmlns:a16="http://schemas.microsoft.com/office/drawing/2014/main" id="{0DAFD210-BD7B-4660-9BCB-C12BABE4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轨迹跨度</a:t>
            </a:r>
          </a:p>
        </p:txBody>
      </p:sp>
      <p:sp>
        <p:nvSpPr>
          <p:cNvPr id="11" name="old1">
            <a:extLst xmlns:a="http://schemas.openxmlformats.org/drawingml/2006/main">
              <a:ext uri="{FF2B5EF4-FFF2-40B4-BE49-F238E27FC236}">
                <a16:creationId xmlns:a16="http://schemas.microsoft.com/office/drawing/2014/main" id="{9CD5AE2A-521F-4CA3-8CEC-436CA1C2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3238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Python点对循环</a:t>
            </a:r>
          </a:p>
        </p:txBody>
      </p:sp>
      <p:sp>
        <p:nvSpPr>
          <p:cNvPr id="12" name="new1">
            <a:extLst xmlns:a="http://schemas.openxmlformats.org/drawingml/2006/main">
              <a:ext uri="{FF2B5EF4-FFF2-40B4-BE49-F238E27FC236}">
                <a16:creationId xmlns:a16="http://schemas.microsoft.com/office/drawing/2014/main" id="{65A67822-64A7-40EF-B0DC-DD7BD4EA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45815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广播矩阵求最大距离</a:t>
            </a:r>
          </a:p>
        </p:txBody>
      </p:sp>
      <p:sp>
        <p:nvSpPr>
          <p:cNvPr id="13" name="o14">
            <a:extLst xmlns:a="http://schemas.openxmlformats.org/drawingml/2006/main">
              <a:ext uri="{FF2B5EF4-FFF2-40B4-BE49-F238E27FC236}">
                <a16:creationId xmlns:a16="http://schemas.microsoft.com/office/drawing/2014/main" id="{78F66CB1-0038-436F-9BE6-329ACD7D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回退分组</a:t>
            </a:r>
          </a:p>
        </p:txBody>
      </p:sp>
      <p:sp>
        <p:nvSpPr>
          <p:cNvPr id="14" name="old2">
            <a:extLst xmlns:a="http://schemas.openxmlformats.org/drawingml/2006/main">
              <a:ext uri="{FF2B5EF4-FFF2-40B4-BE49-F238E27FC236}">
                <a16:creationId xmlns:a16="http://schemas.microsoft.com/office/drawing/2014/main" id="{276CF1AC-D936-4928-986C-5AB80EA7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3238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遍历候选与查索引</a:t>
            </a:r>
          </a:p>
        </p:txBody>
      </p:sp>
      <p:sp>
        <p:nvSpPr>
          <p:cNvPr id="15" name="new2">
            <a:extLst xmlns:a="http://schemas.openxmlformats.org/drawingml/2006/main">
              <a:ext uri="{FF2B5EF4-FFF2-40B4-BE49-F238E27FC236}">
                <a16:creationId xmlns:a16="http://schemas.microsoft.com/office/drawing/2014/main" id="{94E732E4-94D8-4CD2-8238-8909A346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57600"/>
            <a:ext cx="45815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KD-tree＋ID字典</a:t>
            </a:r>
          </a:p>
        </p:txBody>
      </p:sp>
      <p:sp>
        <p:nvSpPr>
          <p:cNvPr id="16" name="o18">
            <a:extLst xmlns:a="http://schemas.openxmlformats.org/drawingml/2006/main">
              <a:ext uri="{FF2B5EF4-FFF2-40B4-BE49-F238E27FC236}">
                <a16:creationId xmlns:a16="http://schemas.microsoft.com/office/drawing/2014/main" id="{317812CA-8098-4DDB-9D2A-0691F8D8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成员特征</a:t>
            </a:r>
          </a:p>
        </p:txBody>
      </p:sp>
      <p:sp>
        <p:nvSpPr>
          <p:cNvPr id="17" name="old3">
            <a:extLst xmlns:a="http://schemas.openxmlformats.org/drawingml/2006/main">
              <a:ext uri="{FF2B5EF4-FFF2-40B4-BE49-F238E27FC236}">
                <a16:creationId xmlns:a16="http://schemas.microsoft.com/office/drawing/2014/main" id="{5B61A563-0884-4542-B00E-6B8673EA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29150"/>
            <a:ext cx="3238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集群与成员重复计算</a:t>
            </a:r>
          </a:p>
        </p:txBody>
      </p:sp>
      <p:sp>
        <p:nvSpPr>
          <p:cNvPr id="18" name="new3">
            <a:extLst xmlns:a="http://schemas.openxmlformats.org/drawingml/2006/main">
              <a:ext uri="{FF2B5EF4-FFF2-40B4-BE49-F238E27FC236}">
                <a16:creationId xmlns:a16="http://schemas.microsoft.com/office/drawing/2014/main" id="{8191FD93-C78C-4B97-9A8C-D3959473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29150"/>
            <a:ext cx="45815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383">
            <a:solidFill>
              <a:srgbClr val="224E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一次请求内缓存复用</a:t>
            </a:r>
          </a:p>
        </p:txBody>
      </p:sp>
      <p:sp>
        <p:nvSpPr>
          <p:cNvPr id="19" name="line-16">
            <a:extLst xmlns:a="http://schemas.openxmlformats.org/drawingml/2006/main">
              <a:ext uri="{FF2B5EF4-FFF2-40B4-BE49-F238E27FC236}">
                <a16:creationId xmlns:a16="http://schemas.microsoft.com/office/drawing/2014/main" id="{196E17B3-4DF1-46F3-999E-71E23913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20" name="o23">
            <a:extLst xmlns:a="http://schemas.openxmlformats.org/drawingml/2006/main">
              <a:ext uri="{FF2B5EF4-FFF2-40B4-BE49-F238E27FC236}">
                <a16:creationId xmlns:a16="http://schemas.microsoft.com/office/drawing/2014/main" id="{6298D69E-49E5-4A04-8EDE-48DB2A21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本次案例／基准均启用向量化；模型预热与空间复用未单独量化。</a:t>
            </a:r>
          </a:p>
        </p:txBody>
      </p:sp>
      <p:sp>
        <p:nvSpPr>
          <p:cNvPr id="21" name="o24">
            <a:extLst xmlns:a="http://schemas.openxmlformats.org/drawingml/2006/main">
              <a:ext uri="{FF2B5EF4-FFF2-40B4-BE49-F238E27FC236}">
                <a16:creationId xmlns:a16="http://schemas.microsoft.com/office/drawing/2014/main" id="{0DB53FC8-70C2-4DB9-824F-A4FF7A6A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启用条件：VECTORIZED_FEATURES=1；Docker已设置；直接Python未设置时走legacy</a:t>
            </a:r>
          </a:p>
        </p:txBody>
      </p:sp>
    </p:spTree>
    <p:extLst>
      <p:ext uri="{BB962C8B-B14F-4D97-AF65-F5344CB8AC3E}">
        <p14:creationId xmlns:p14="http://schemas.microsoft.com/office/powerpoint/2010/main" val="15384765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o0">
            <a:extLst xmlns:a="http://schemas.openxmlformats.org/drawingml/2006/main">
              <a:ext uri="{FF2B5EF4-FFF2-40B4-BE49-F238E27FC236}">
                <a16:creationId xmlns:a16="http://schemas.microsoft.com/office/drawing/2014/main" id="{85616B57-4D0C-4240-976A-89A0A4A2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54682CAF-3B9D-4219-9FF2-A7F47588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仿真实验设置与路由P95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66497338-921B-4636-83F6-BABAD00B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71CEF651-D5F1-497A-8E04-0FD500C9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5E9D2C94-DF31-4969-9290-2D79BF69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results.json；project_reference §12.5；完整矩阵见附录A8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FCF72AFC-E2C1-472C-8B72-846E1EB3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20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88EAE62C-C342-4DEB-A53E-FAD0521E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CPU／进程内／串行热态；曲线为每架120输入点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A040127E-1133-41D4-ACF0-36F578A5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0492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实验覆盖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248B9A00-8F21-4139-8CBB-D02BE90D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81175"/>
            <a:ext cx="3619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4种目标数 × 3种输入长度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× 2种布局 = 24组合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72份输入／3个随机种子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576次计时＋144次预热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4E1FAE4A-76B1-47BA-9592-0D291048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3852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路由P95</a:t>
            </a:r>
          </a:p>
        </p:txBody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1114E6ED-874C-4C3E-872A-CF3E2A74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05250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100目标：466–580 ms</a:t>
            </a:r>
          </a:p>
          <a:p xmlns:a="http://schemas.openxmlformats.org/drawingml/2006/main">
            <a: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200目标：935–1182 ms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0952950E-3465-42F6-B76B-566FD7BA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67300"/>
            <a:ext cx="3619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分散：每5架邻近，组间约650m</a:t>
            </a:r>
          </a:p>
          <a:p xmlns:a="http://schemas.openxmlformats.org/drawingml/2006/main">
            <a:pPr algn="l">
              <a:def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密集：末位置集中于几十米内</a:t>
            </a:r>
          </a:p>
        </p:txBody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C0C7DF72-3E88-433F-961B-29E97FC5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P95：24次样本取有序第23项；不含网络、排队与并发。</a:t>
            </a:r>
          </a:p>
        </p:txBody>
      </p:sp>
      <p:sp>
        <p:nvSpPr>
          <p:cNvPr id="14" name="line-11">
            <a:extLst xmlns:a="http://schemas.openxmlformats.org/drawingml/2006/main">
              <a:ext uri="{FF2B5EF4-FFF2-40B4-BE49-F238E27FC236}">
                <a16:creationId xmlns:a16="http://schemas.microsoft.com/office/drawing/2014/main" id="{082807B3-09E1-4847-A38E-F23CEF0B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1341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3161DDCB-2D0D-405A-98D3-10AF3C87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240输入点在120秒窗内实际保留121点；尚无业务时延阈值，未绘制达标线。</a:t>
            </a:r>
          </a:p>
        </p:txBody>
      </p:sp>
      <p:graphicFrame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GraphicFramePr>
          <p:cNvPr id="7001" name="Chart 14"/>
          <p:cNvGraphicFramePr>
            <a:graphicFrameLocks noGrp="1"/>
          </p:cNvGraphicFramePr>
          <p:nvPr/>
        </p:nvGraphicFramePr>
        <p:xfrm>
          <a:off x="609600" y="1657350"/>
          <a:ext cx="6905625" cy="3810000"/>
        </p:xfrm>
        <a:graphic>
          <a:graphicData uri="http://schemas.openxmlformats.org/drawingml/2006/chart">
            <ns0:chart xmlns:ns0="http://schemas.openxmlformats.org/drawingml/2006/chart" r:id="rNative7001"/>
          </a:graphicData>
        </a:graphic>
      </p:graphicFrame>
    </p:spTree>
    <p:extLst>
      <p:ext uri="{BB962C8B-B14F-4D97-AF65-F5344CB8AC3E}">
        <p14:creationId xmlns:p14="http://schemas.microsoft.com/office/powerpoint/2010/main" val="20981779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o0">
            <a:extLst xmlns:a="http://schemas.openxmlformats.org/drawingml/2006/main">
              <a:ext uri="{FF2B5EF4-FFF2-40B4-BE49-F238E27FC236}">
                <a16:creationId xmlns:a16="http://schemas.microsoft.com/office/drawing/2014/main" id="{F2A36A37-17B6-4038-B31C-335BF5B7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5430A0E3-BF69-4AD1-911A-C649351A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报告计算收益，同时保留场景与结果差异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6E555B2D-D955-46C2-96F3-D6DBDA30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33DC4E29-F7DC-462A-B237-2F38AB8E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B8546E11-8480-41A9-A59C-E6E01AEF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results.json：components、cacheComparison；缓存差异复核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9ED7A145-C6F2-4ADB-ABB0-630B30AE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21 / 32</a:t>
            </a:r>
          </a:p>
        </p:txBody>
      </p:sp>
      <p:sp>
        <p:nvSpPr>
          <p:cNvPr id="7" name="line-4">
            <a:extLst xmlns:a="http://schemas.openxmlformats.org/drawingml/2006/main">
              <a:ext uri="{FF2B5EF4-FFF2-40B4-BE49-F238E27FC236}">
                <a16:creationId xmlns:a16="http://schemas.microsoft.com/office/drawing/2014/main" id="{7CD18B49-7E6C-4606-A7D9-1252D769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733550"/>
            <a:ext cx="5238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0"/>
            </a:solidFill>
            <a:prstDash val="solid"/>
          </a:ln>
        </p:spPr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62514C1F-CCD8-49A2-88A5-1347931E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跨度矩阵化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60044927-404B-40A7-B4F6-55CCBD15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20.07倍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61BE0E78-1904-43B4-B419-9FF07225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120点：4.64 → 0.23 ms</a:t>
            </a:r>
          </a:p>
        </p:txBody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325B1755-FB09-413A-B4B9-0D9034FB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数值差 &lt; 2×10⁻⁹米；仍是平方开销</a:t>
            </a:r>
          </a:p>
        </p:txBody>
      </p:sp>
      <p:sp>
        <p:nvSpPr>
          <p:cNvPr id="12" name="line-8">
            <a:extLst xmlns:a="http://schemas.openxmlformats.org/drawingml/2006/main">
              <a:ext uri="{FF2B5EF4-FFF2-40B4-BE49-F238E27FC236}">
                <a16:creationId xmlns:a16="http://schemas.microsoft.com/office/drawing/2014/main" id="{77084DA2-23C5-4781-9FB0-D2064696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24600" y="1733550"/>
            <a:ext cx="5238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70"/>
            </a:solidFill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20C2A195-D933-4753-BD9D-5B17A595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764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请求内成员缓存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A02B1DFE-FB9F-4A28-B54F-AB4261CE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71725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降低16.13%</a:t>
            </a:r>
          </a:p>
        </p:txBody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F5D10F3C-1937-4F23-B3B6-5FF5E15E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100目标：548.18 → 459.78 ms</a:t>
            </a:r>
          </a:p>
        </p:txBody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999A1C6C-AE5C-448D-B08E-0944221A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0425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每请求计算200→100次；算法data一致</a:t>
            </a:r>
          </a:p>
        </p:txBody>
      </p:sp>
      <p:sp>
        <p:nvSpPr>
          <p:cNvPr id="17" name="line-12">
            <a:extLst xmlns:a="http://schemas.openxmlformats.org/drawingml/2006/main">
              <a:ext uri="{FF2B5EF4-FFF2-40B4-BE49-F238E27FC236}">
                <a16:creationId xmlns:a16="http://schemas.microsoft.com/office/drawing/2014/main" id="{B01DB92B-4024-4480-81F9-365E4F9F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3876675"/>
            <a:ext cx="5238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680B"/>
            </a:solidFill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6BD3F3E4-3904-4D0A-B845-4EE54B18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KD-tree回退</a:t>
            </a:r>
          </a:p>
        </p:txBody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7D74D04A-D7A4-4580-85E8-F907B3DC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分散4.36倍</a:t>
            </a:r>
          </a:p>
        </p:txBody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2A586224-97A4-424B-BF2C-F69C15AC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密集：0.38 → 1.26 ms，反而更慢</a:t>
            </a:r>
          </a:p>
        </p:txBody>
      </p:sp>
      <p:sp>
        <p:nvSpPr>
          <p:cNvPr id="21" name="o20">
            <a:extLst xmlns:a="http://schemas.openxmlformats.org/drawingml/2006/main">
              <a:ext uri="{FF2B5EF4-FFF2-40B4-BE49-F238E27FC236}">
                <a16:creationId xmlns:a16="http://schemas.microsoft.com/office/drawing/2014/main" id="{B2029238-5F8D-435F-810B-69395765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成员集合一致；不代表正常DBSCAN加速</a:t>
            </a:r>
          </a:p>
        </p:txBody>
      </p:sp>
      <p:sp>
        <p:nvSpPr>
          <p:cNvPr id="22" name="line-16">
            <a:extLst xmlns:a="http://schemas.openxmlformats.org/drawingml/2006/main">
              <a:ext uri="{FF2B5EF4-FFF2-40B4-BE49-F238E27FC236}">
                <a16:creationId xmlns:a16="http://schemas.microsoft.com/office/drawing/2014/main" id="{1DCE9963-066C-4665-B0F6-7CD605E0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24600" y="3876675"/>
            <a:ext cx="5238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680B"/>
            </a:solidFill>
            <a:prstDash val="solid"/>
          </a:ln>
        </p:spPr>
      </p:sp>
      <p:sp>
        <p:nvSpPr>
          <p:cNvPr id="23" name="o22">
            <a:extLst xmlns:a="http://schemas.openxmlformats.org/drawingml/2006/main">
              <a:ext uri="{FF2B5EF4-FFF2-40B4-BE49-F238E27FC236}">
                <a16:creationId xmlns:a16="http://schemas.microsoft.com/office/drawing/2014/main" id="{DA9C478F-ED9A-45CE-8F64-29C421B1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行为向量化</a:t>
            </a:r>
          </a:p>
        </p:txBody>
      </p:sp>
      <p:sp>
        <p:nvSpPr>
          <p:cNvPr id="24" name="o23">
            <a:extLst xmlns:a="http://schemas.openxmlformats.org/drawingml/2006/main">
              <a:ext uri="{FF2B5EF4-FFF2-40B4-BE49-F238E27FC236}">
                <a16:creationId xmlns:a16="http://schemas.microsoft.com/office/drawing/2014/main" id="{C5BD6B47-2623-4BDA-AD69-B5483656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耗时比13.16</a:t>
            </a:r>
          </a:p>
        </p:txBody>
      </p:sp>
      <p:sp>
        <p:nvSpPr>
          <p:cNvPr id="25" name="o24">
            <a:extLst xmlns:a="http://schemas.openxmlformats.org/drawingml/2006/main">
              <a:ext uri="{FF2B5EF4-FFF2-40B4-BE49-F238E27FC236}">
                <a16:creationId xmlns:a16="http://schemas.microsoft.com/office/drawing/2014/main" id="{D8526779-9F90-4076-9FF9-A8C7901C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95875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100目标：57.85 → 4.40 ms</a:t>
            </a:r>
          </a:p>
        </p:txBody>
      </p:sp>
      <p:sp>
        <p:nvSpPr>
          <p:cNvPr id="26" name="o25">
            <a:extLst xmlns:a="http://schemas.openxmlformats.org/drawingml/2006/main">
              <a:ext uri="{FF2B5EF4-FFF2-40B4-BE49-F238E27FC236}">
                <a16:creationId xmlns:a16="http://schemas.microsoft.com/office/drawing/2014/main" id="{151CF48D-4260-45DB-B6AA-20B7186E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43550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加速6／减速9／转向3项判定不同</a:t>
            </a:r>
          </a:p>
        </p:txBody>
      </p:sp>
    </p:spTree>
    <p:extLst>
      <p:ext uri="{BB962C8B-B14F-4D97-AF65-F5344CB8AC3E}">
        <p14:creationId xmlns:p14="http://schemas.microsoft.com/office/powerpoint/2010/main" val="2281321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0">
            <a:extLst xmlns:a="http://schemas.openxmlformats.org/drawingml/2006/main">
              <a:ext uri="{FF2B5EF4-FFF2-40B4-BE49-F238E27FC236}">
                <a16:creationId xmlns:a16="http://schemas.microsoft.com/office/drawing/2014/main" id="{F44FAC5F-6B79-41F9-808B-A0D7E201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5F6D959E-50FD-4600-A511-6111A7DE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阶段验证结果与证据边界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6D2A7BF5-F393-4EA4-9105-DD456764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31F0A5C1-EE26-4CD5-A8F2-C315C1CE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4D9AD8A5-E8E6-4C61-9258-C9F98348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project_reference §12、§16.15；method_evidence.json；results.json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DD4CCFBD-0472-4CF4-8B09-D888D1DA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22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0CA4D4B2-533C-48C8-BEF2-0DF5AE42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本轮辅助输入测试使用独立夹具；不能与13目标贯穿案例混为同一响应。</a:t>
            </a:r>
          </a:p>
        </p:txBody>
      </p:sp>
      <p:sp>
        <p:nvSpPr>
          <p:cNvPr id="8" name="line-5">
            <a:extLst xmlns:a="http://schemas.openxmlformats.org/drawingml/2006/main">
              <a:ext uri="{FF2B5EF4-FFF2-40B4-BE49-F238E27FC236}">
                <a16:creationId xmlns:a16="http://schemas.microsoft.com/office/drawing/2014/main" id="{62B832DC-9E80-4838-96CE-4A7D6F5F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1341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4A267435-07FF-4DE9-8427-6A10EA40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功能回归、仿真耗时和独立识别效果是不同证据；不把回归通过率写成准确率。</a:t>
            </a:r>
          </a:p>
        </p:txBody>
      </p:sp>
      <p:graphicFrame>
        <p:nvGraphicFramePr>
          <p:cNvPr id="7001" name="native-table-7001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84832"/>
                <a:gridCol w="4608576"/>
                <a:gridCol w="4279392"/>
              </a:tblGrid>
              <a:tr h="521494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验证对象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当前可报告的证据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尚需独立核验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521494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功能与分支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历史103项；本轮12/12定向回归通过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更多边界与真实输入组合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本轮12项构成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聚类3项＋身份豁免7项＋辅助状态2项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与历史项重叠，不累加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521494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聚类与队形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三类聚类回归；两组队形；单例点序检查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独立成员标签、混淆矩阵与F1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意图与评分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规则断言、触发证据、同次评分复算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独立标注、误报漏报与等级一致性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521494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计算性能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24组合／576计时；中位数与P95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部署并发、网络、冷启动、长尾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优化一致性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跨度数值误差、缓存data、成员集合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行为路径差异；最终意图未证明等价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521494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ETA与辅助评估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完整／缺失输入分支；字段与条件检查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抵达真值与完整资源输入对照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436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o0">
            <a:extLst xmlns:a="http://schemas.openxmlformats.org/drawingml/2006/main">
              <a:ext uri="{FF2B5EF4-FFF2-40B4-BE49-F238E27FC236}">
                <a16:creationId xmlns:a16="http://schemas.microsoft.com/office/drawing/2014/main" id="{DBA25701-16D6-4257-8528-FCDA6292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2F119E9E-5414-48F7-9824-9B2FABAE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项目贡献与下一阶段验证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41787C4E-BEEA-4F67-BCB2-822FC179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291A12BF-3A6F-4543-82AC-15F61ECE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58008413-D0A1-4694-89B1-C0AC2319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§13；代码、模型、配置和输入哈希见案例回执与性能材料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25700604-0E24-407D-9B57-AD8456A7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23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3415306A-A89A-478E-A734-1374497E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本阶段构成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197C23FF-5C4D-413D-B240-4F463208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22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4A018E31-F122-46CB-ADA1-BD7841F5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502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复用：DBSCAN与PointNet等子算法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F15BD178-B4C3-48F6-BC0B-ABF7ED9F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8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9B6BD415-3104-4D9A-90A7-5DCEB8AD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502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适配：双窗口、可靠度与共享空间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89055539-1CC5-498F-93BA-AAFD34A1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57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0955D2BA-A6DA-4F2D-A3F8-7783D68E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502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判读：独立规则、评分及可用性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B1B1049A-41DA-415B-B6B5-48431022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24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BBD3AF81-44C5-4B71-9485-16A96180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502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优化：矩阵化、索引与请求缓存</a:t>
            </a:r>
          </a:p>
        </p:txBody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6F731B20-5918-4665-BECF-00096C43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24025"/>
            <a:ext cx="468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下一步评审事项</a:t>
            </a:r>
          </a:p>
        </p:txBody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3CEE5041-3BDA-4411-A68E-7793A2F7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622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514A887A-7A8E-42CA-BD41-CC7072D7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确认公司实际持续输入条件</a:t>
            </a:r>
          </a:p>
        </p:txBody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9095AB9D-4EFC-4D0C-A79B-49B1F442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28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E97866E6-8AC9-47C6-B463-4246854F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480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补齐独立效果标签与验收指标</a:t>
            </a:r>
          </a:p>
        </p:txBody>
      </p:sp>
      <p:sp>
        <p:nvSpPr>
          <p:cNvPr id="21" name="o20">
            <a:extLst xmlns:a="http://schemas.openxmlformats.org/drawingml/2006/main">
              <a:ext uri="{FF2B5EF4-FFF2-40B4-BE49-F238E27FC236}">
                <a16:creationId xmlns:a16="http://schemas.microsoft.com/office/drawing/2014/main" id="{9267A920-1A65-44B7-9324-F206A8E3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957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21">
            <a:extLst xmlns:a="http://schemas.openxmlformats.org/drawingml/2006/main">
              <a:ext uri="{FF2B5EF4-FFF2-40B4-BE49-F238E27FC236}">
                <a16:creationId xmlns:a16="http://schemas.microsoft.com/office/drawing/2014/main" id="{70A2EBED-87CE-429C-9009-FADE1900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147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固定运行模式与处理周期</a:t>
            </a:r>
          </a:p>
        </p:txBody>
      </p:sp>
      <p:sp>
        <p:nvSpPr>
          <p:cNvPr id="23" name="o22">
            <a:extLst xmlns:a="http://schemas.openxmlformats.org/drawingml/2006/main">
              <a:ext uri="{FF2B5EF4-FFF2-40B4-BE49-F238E27FC236}">
                <a16:creationId xmlns:a16="http://schemas.microsoft.com/office/drawing/2014/main" id="{924141E1-FA17-4D13-AA2B-CA736270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624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23">
            <a:extLst xmlns:a="http://schemas.openxmlformats.org/drawingml/2006/main">
              <a:ext uri="{FF2B5EF4-FFF2-40B4-BE49-F238E27FC236}">
                <a16:creationId xmlns:a16="http://schemas.microsoft.com/office/drawing/2014/main" id="{4CC30000-F3B0-4F0A-A2D0-8DD983CC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815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验证并发、冷启动及完整辅助路径</a:t>
            </a:r>
          </a:p>
        </p:txBody>
      </p:sp>
      <p:sp>
        <p:nvSpPr>
          <p:cNvPr id="25" name="line-22">
            <a:extLst xmlns:a="http://schemas.openxmlformats.org/drawingml/2006/main">
              <a:ext uri="{FF2B5EF4-FFF2-40B4-BE49-F238E27FC236}">
                <a16:creationId xmlns:a16="http://schemas.microsoft.com/office/drawing/2014/main" id="{107F5379-42CA-40D9-A970-4AF63116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26" name="o25">
            <a:extLst xmlns:a="http://schemas.openxmlformats.org/drawingml/2006/main">
              <a:ext uri="{FF2B5EF4-FFF2-40B4-BE49-F238E27FC236}">
                <a16:creationId xmlns:a16="http://schemas.microsoft.com/office/drawing/2014/main" id="{F911CE4C-B81D-47FC-8C53-F3F10682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交付固定输入、代码／模型／配置版本、结构化结果和可回放证据。</a:t>
            </a:r>
          </a:p>
        </p:txBody>
      </p:sp>
    </p:spTree>
    <p:extLst>
      <p:ext uri="{BB962C8B-B14F-4D97-AF65-F5344CB8AC3E}">
        <p14:creationId xmlns:p14="http://schemas.microsoft.com/office/powerpoint/2010/main" val="14135594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o0">
            <a:extLst xmlns:a="http://schemas.openxmlformats.org/drawingml/2006/main">
              <a:ext uri="{FF2B5EF4-FFF2-40B4-BE49-F238E27FC236}">
                <a16:creationId xmlns:a16="http://schemas.microsoft.com/office/drawing/2014/main" id="{C5A21D11-58AA-4DDA-AC78-C252B7CF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CF0AFE60-B0CD-4960-8217-F9320028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A1 身份与计划判定表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11594D50-CF08-4311-9736-E33DF124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A55276C6-8AF8-4E0B-A88C-CE66ABAF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96969433-219C-420B-84B5-AD564DC4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v32_gateway.py；engine.py _target_exemption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B47E7E4E-EAFE-4417-9EF8-FA9AAB99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24 / 32</a:t>
            </a:r>
          </a:p>
        </p:txBody>
      </p:sp>
      <p:graphicFrame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GraphicFramePr>
          <p:cNvPr id="7001" name="native-table-7001"/>
          <p:cNvGraphicFramePr/>
          <p:nvPr/>
        </p:nvGraphicFramePr>
        <p:xfrm>
          <a:off x="609600" y="1762125"/>
          <a:ext cx="10972800" cy="3905250"/>
        </p:xfrm>
        <a:graphic>
          <a:graphicData uri="http://schemas.openxmlformats.org/drawingml/2006/table">
            <a:tbl>
              <a:tblPr firstRow="1" bandRow="1"/>
              <a:tblGrid>
                <a:gridCol w="3657600">
                  <a:extLst>
                    <a:ext uri="{9D8B030D-6E8A-4147-A177-3AD203B41FA5}">
                      <ns0:colId xmlns:ns0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ns0:colId xmlns:ns0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ns0:colId xmlns:ns0="http://schemas.microsoft.com/office/drawing/2014/main" val="20002"/>
                    </a:ext>
                  </a:extLst>
                </a:gridCol>
              </a:tblGrid>
              <a:tr h="557893">
                <a:tc>
                  <a:txBody>
                    <a:bodyPr/>
                    <a:lstStyle/>
                    <a:p>
                      <a:pPr algn="l"/>
                      <a:r>
                        <a:rPr lang="zh-CN" sz="16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当前行为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0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无SN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registrationStatus=unknown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身份来源不足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1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有SN，无有效设备记录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unregistered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明确未登记路径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2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重复有效设备SN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拒绝请求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防止任意选择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3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有效白名单重复／型号冲突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禁用相关白名单并诊断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不能据此豁免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4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计划当前点不在路线容差内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该计划不命中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保留正常判读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5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多条计划命中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偏差、申报时间、ID排序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65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稳定选择并留记录</a:t>
                      </a:r>
                      <a:endParaRPr lang="zh-CN" sz="165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3794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0">
            <a:extLst xmlns:a="http://schemas.openxmlformats.org/drawingml/2006/main">
              <a:ext uri="{FF2B5EF4-FFF2-40B4-BE49-F238E27FC236}">
                <a16:creationId xmlns:a16="http://schemas.microsoft.com/office/drawing/2014/main" id="{8E447A6D-3462-4E96-85A7-DF6F3DEC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7625061A-5F4A-48D1-8904-E780E7DD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A2 聚类伪代码与特殊配置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482CDD78-03A5-4E46-A1A1-CDCDD70D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3FDD056B-4F42-44B5-82C6-953C1090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ED7149FC-35F9-4ED1-BB3E-A7374B7A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SplitClusters；当前参数；正常DBSCAN与回退分组分别计量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9BAA1A9B-4F3B-4F93-A772-951B73AE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25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073DC9F8-C43F-400E-97F7-AF87B882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01  提取末位置与有效短窗运动段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02  中位速度／单位方向，估计可靠度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03  分别标准化位置、方向和速度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04  成对取最小可靠度，计算完整距离矩阵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05  DBSCAN(metric=precomputed, eps=1.5, min_samples=1)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06  输出成员集合与成员集合生成的ID</a:t>
            </a:r>
          </a:p>
        </p:txBody>
      </p:sp>
      <p:sp>
        <p:nvSpPr>
          <p:cNvPr id="8" name="line-5">
            <a:extLst xmlns:a="http://schemas.openxmlformats.org/drawingml/2006/main">
              <a:ext uri="{FF2B5EF4-FFF2-40B4-BE49-F238E27FC236}">
                <a16:creationId xmlns:a16="http://schemas.microsoft.com/office/drawing/2014/main" id="{E574FDB3-927E-454E-9628-DF3BDF80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507239DB-0FB0-41F6-A388-28D87EB9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无可用分组才走引擎距离／航向连通回退；当前无持续群体身份跟踪。</a:t>
            </a:r>
          </a:p>
        </p:txBody>
      </p:sp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1" name="equation-neighbors"/>
              <p:cNvSpPr txBox="1">
                <a:spLocks noGrp="1"/>
              </p:cNvSpPr>
              <p:nvPr/>
            </p:nvSpPr>
            <p:spPr>
              <a:xfrm>
                <a:off x="609600" y="5095875"/>
                <a:ext cx="6667500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) = {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: 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/>
              </a:p>
            </p:txBody>
          </p:sp>
        </ns0:Choice>
        <ns0:Fallback>
          <p:sp>
            <p:nvSpPr>
              <p:cNvPr id="7001" name="equation-neighbors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095875"/>
                <a:ext cx="6667500" cy="523875"/>
              </a:xfrm>
              <a:prstGeom prst="rect">
                <a:avLst/>
              </a:prstGeom>
              <a:blipFill>
                <a:blip r:embed="rNative700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ns0:Fallback>
      </ns0:AlternateContent>
    </p:spTree>
    <p:extLst>
      <p:ext uri="{BB962C8B-B14F-4D97-AF65-F5344CB8AC3E}">
        <p14:creationId xmlns:p14="http://schemas.microsoft.com/office/powerpoint/2010/main" val="3751880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o0">
            <a:extLst xmlns:a="http://schemas.openxmlformats.org/drawingml/2006/main">
              <a:ext uri="{FF2B5EF4-FFF2-40B4-BE49-F238E27FC236}">
                <a16:creationId xmlns:a16="http://schemas.microsoft.com/office/drawing/2014/main" id="{50F24034-AE92-4E08-9978-2CB9A6A2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DD62B7E4-EEEE-4466-9BE6-C289FA85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A3 网络参数、训练方法与证据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DEA6B9BF-DD4D-4730-B736-0D9D026B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141A4E3F-851E-4C19-A685-A5DE8B7D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09537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64891316-6765-432B-884A-0E14CEB1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project_reference §16.7–16.8；Word §23.7–23.8；Origin训练实现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A6B7F09D-4DB4-4874-A51F-66E19A1B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26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E4627952-B1CC-4347-94D4-A8E607B3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429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输入2维／隐藏128／5类／Dropout 0.3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卷积核1；无T-Net；lengths排除填充。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49EB30D0-C4A0-4ADE-8B22-3D48E328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323975"/>
            <a:ext cx="604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训练与评估流程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B8E2539C-13F5-4B9B-B546-ABD06B98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38325"/>
            <a:ext cx="6048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独立训练／评估文件 → 变长补齐与掩码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交叉熵＋Adam＋验证损失学习率调度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输出分类报告与混淆矩阵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6BED74C9-D238-455E-9F84-7E78B5C0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67175"/>
            <a:ext cx="604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70"/>
                </a:solidFill>
                <a:latin typeface="Microsoft YaHei"/>
                <a:ea typeface="Microsoft YaHei"/>
                <a:cs typeface="Microsoft YaHei"/>
              </a:rPr>
              <a:t>当前证据</a:t>
            </a:r>
          </a:p>
        </p:txBody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AE718FE9-A1B4-4FDF-AE52-B4DBBFEF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52950"/>
            <a:ext cx="60483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权重与架构已核对；固定五成员输出vshape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逆序输入最大logits差9.54×10⁻⁷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没有本轮重训或成套独立分类效果记录</a:t>
            </a:r>
          </a:p>
        </p:txBody>
      </p:sp>
      <p:sp>
        <p:nvSpPr>
          <p:cNvPr id="12" name="line-9">
            <a:extLst xmlns:a="http://schemas.openxmlformats.org/drawingml/2006/main">
              <a:ext uri="{FF2B5EF4-FFF2-40B4-BE49-F238E27FC236}">
                <a16:creationId xmlns:a16="http://schemas.microsoft.com/office/drawing/2014/main" id="{07159813-4130-445C-9C47-C9062653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1341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CD6E3"/>
            </a:solidFill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32E722DA-DFB4-436E-9212-CBBE2AB0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训练代码可追溯不等于当前权重精度已认证；acc 0.905注释不作为系统准确率。</a:t>
            </a:r>
          </a:p>
        </p:txBody>
      </p:sp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1" name="equation-crossentropy"/>
              <p:cNvSpPr txBox="1">
                <a:spLocks noGrp="1"/>
              </p:cNvSpPr>
              <p:nvPr/>
            </p:nvSpPr>
            <p:spPr>
              <a:xfrm>
                <a:off x="5524500" y="3105150"/>
                <a:ext cx="6048375" cy="704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r>
                        <w:rPr>
                          <w:sz w:val="46"/>
                          <w:rFonts w:ascii="Cambria Math" w:hAnsi="Cambria Math" w:eastAsia="Cambria Math"/>
                        </w:rPr>
                        <a:rPr sz="2300">
                          <a:latin typeface="Cambria Math" panose="02040503050406030204" pitchFamily="18" charset="0"/>
                        </a:rPr>
                        <m:t>𝐿</m:t>
                      </m:r>
                      <m:r>
                        <w:rPr>
                          <w:sz w:val="46"/>
                          <w:rFonts w:ascii="Cambria Math" w:hAnsi="Cambria Math" w:eastAsia="Cambria Math"/>
                        </w:rPr>
                        <a:rPr sz="2300">
                          <a:latin typeface="Cambria Math" panose="02040503050406030204" pitchFamily="18" charset="0"/>
                        </a:rPr>
                        <m:t> = −</m:t>
                      </m:r>
                      <m:f>
                        <m:fPr>
                          <m:ctrlPr>
                            <a:rPr sz="23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sSub>
                        <m:sSubPr>
                          <m:ctrlPr>
                            <a:rPr sz="23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w:rPr>
                          <w:sz w:val="46"/>
                          <w:rFonts w:ascii="Cambria Math" w:hAnsi="Cambria Math" w:eastAsia="Cambria Math"/>
                        </w:rPr>
                        <a:rPr sz="2300">
                          <a:latin typeface="Cambria Math" panose="02040503050406030204" pitchFamily="18" charset="0"/>
                        </a:rPr>
                        <m:t> </m:t>
                      </m:r>
                      <m:r>
                        <w:rPr>
                          <w:sz w:val="46"/>
                          <w:rFonts w:ascii="Cambria Math" w:hAnsi="Cambria Math" w:eastAsia="Cambria Math"/>
                        </w:rPr>
                        <a:rPr sz="2300"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w:rPr>
                          <w:sz w:val="46"/>
                          <w:rFonts w:ascii="Cambria Math" w:hAnsi="Cambria Math" w:eastAsia="Cambria Math"/>
                        </w:rPr>
                        <a:rPr sz="230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sz="23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𝑒𝑥𝑝</m:t>
                          </m:r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sz="23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w:rPr>
                                  <w:sz w:val="46"/>
                                  <w:rFonts w:ascii="Cambria Math" w:hAnsi="Cambria Math" w:eastAsia="Cambria Math"/>
                                </w:rPr>
                                <a:rPr sz="230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w:rPr>
                                  <w:sz w:val="46"/>
                                  <w:rFonts w:ascii="Cambria Math" w:hAnsi="Cambria Math" w:eastAsia="Cambria Math"/>
                                </w:rPr>
                                <a:rPr sz="23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w:rPr>
                                  <w:sz w:val="46"/>
                                  <w:rFonts w:ascii="Cambria Math" w:hAnsi="Cambria Math" w:eastAsia="Cambria Math"/>
                                </w:rPr>
                                <a:rPr sz="23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w:rPr>
                                  <w:sz w:val="46"/>
                                  <w:rFonts w:ascii="Cambria Math" w:hAnsi="Cambria Math" w:eastAsia="Cambria Math"/>
                                </w:rPr>
                                <a:rPr sz="2300">
                                  <a:latin typeface="Cambria Math" panose="02040503050406030204" pitchFamily="18" charset="0"/>
                                </a:rPr>
                                <m:t>𝑦𝑏</m:t>
                              </m:r>
                            </m:sub>
                          </m:sSub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sz="23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w:rPr>
                                  <w:sz w:val="46"/>
                                  <w:rFonts w:ascii="Cambria Math" w:hAnsi="Cambria Math" w:eastAsia="Cambria Math"/>
                                </w:rPr>
                                <a:rPr sz="2300">
                                  <a:latin typeface="Cambria Math" panose="02040503050406030204" pitchFamily="18" charset="0"/>
                                </a:rPr>
                                <m:t>𝛴</m:t>
                              </m:r>
                            </m:e>
                            <m:sub>
                              <m:r>
                                <w:rPr>
                                  <w:sz w:val="46"/>
                                  <w:rFonts w:ascii="Cambria Math" w:hAnsi="Cambria Math" w:eastAsia="Cambria Math"/>
                                </w:rPr>
                                <a:rPr sz="23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𝑒𝑥𝑝</m:t>
                          </m:r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sz="23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w:rPr>
                                  <w:sz w:val="46"/>
                                  <w:rFonts w:ascii="Cambria Math" w:hAnsi="Cambria Math" w:eastAsia="Cambria Math"/>
                                </w:rPr>
                                <a:rPr sz="230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w:rPr>
                                  <w:sz w:val="46"/>
                                  <w:rFonts w:ascii="Cambria Math" w:hAnsi="Cambria Math" w:eastAsia="Cambria Math"/>
                                </w:rPr>
                                <a:rPr sz="23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w:rPr>
                                  <w:sz w:val="46"/>
                                  <w:rFonts w:ascii="Cambria Math" w:hAnsi="Cambria Math" w:eastAsia="Cambria Math"/>
                                </w:rPr>
                                <a:rPr sz="23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w:rPr>
                                  <w:sz w:val="46"/>
                                  <w:rFonts w:ascii="Cambria Math" w:hAnsi="Cambria Math" w:eastAsia="Cambria Math"/>
                                </w:rPr>
                                <a:rPr sz="23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w:rPr>
                              <w:sz w:val="46"/>
                              <w:rFonts w:ascii="Cambria Math" w:hAnsi="Cambria Math" w:eastAsia="Cambria Math"/>
                            </w:rPr>
                            <a:rPr sz="230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sz="2300"/>
              </a:p>
            </p:txBody>
          </p:sp>
        </ns0:Choice>
        <ns0:Fallback>
          <p:sp>
            <p:nvSpPr>
              <p:cNvPr id="7001" name="equation-crossentropy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943225"/>
                <a:ext cx="5905500" cy="762000"/>
              </a:xfrm>
              <a:prstGeom prst="rect">
                <a:avLst/>
              </a:prstGeom>
              <a:blipFill>
                <a:blip r:embed="rNative700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 sz="2300">
                    <a:noFill/>
                  </a:rPr>
                  <a:t> </a:t>
                </a:r>
              </a:p>
            </p:txBody>
          </p:sp>
        </ns0:Fallback>
      </ns0:AlternateContent>
      <p:graphicFrame>
        <p:nvGraphicFramePr>
          <p:cNvPr id="7002" name="native-table-7002"/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4429125" cy="33242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00388"/>
                <a:gridCol w="1328738"/>
              </a:tblGrid>
              <a:tr h="474889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参数量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</a:tr>
              <a:tr h="474889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Conv1d 2→128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889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Conv1d 128→128 ×2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33,024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474889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BatchNorm ×3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768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889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FC 128→128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16,512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  <a:tr h="474889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FC 128→5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645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889"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51,333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26432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0">
            <a:extLst xmlns:a="http://schemas.openxmlformats.org/drawingml/2006/main">
              <a:ext uri="{FF2B5EF4-FFF2-40B4-BE49-F238E27FC236}">
                <a16:creationId xmlns:a16="http://schemas.microsoft.com/office/drawing/2014/main" id="{3EDE943E-17F8-4118-AC90-E2ECE960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6A460C53-375C-4007-9A4C-30283F1F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A4 空间相关性与高度不确定性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33078CC4-F54A-439E-B9DC-DA270180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1CFCEEBD-9CB7-4223-A684-7FBFC8F6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A9CFBEDC-B501-4ABC-A115-A920B3C1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airspace_analysis.py；engine.py空间作用域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2359D47B-4F41-466C-A77F-2356015A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27 / 32</a:t>
            </a:r>
          </a:p>
        </p:txBody>
      </p:sp>
      <p:sp>
        <p:nvSpPr>
          <p:cNvPr id="7" name="line-4">
            <a:extLst xmlns:a="http://schemas.openxmlformats.org/drawingml/2006/main">
              <a:ext uri="{FF2B5EF4-FFF2-40B4-BE49-F238E27FC236}">
                <a16:creationId xmlns:a16="http://schemas.microsoft.com/office/drawing/2014/main" id="{BCB0E2D3-12F9-4870-9388-DA4FDFE9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884F40F9-5F37-4700-813A-4F353DE6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圈层、法定禁飞区、设施分别有标识；主区域与设施关联不可混用。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58409796-50B7-4EDA-9B10-4F37B6FB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参数基线：边界容差10 m；外层关联范围5000 m</a:t>
            </a:r>
          </a:p>
        </p:txBody>
      </p:sp>
      <p:graphicFrame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GraphicFramePr>
          <p:cNvPr id="7001" name="native-table-7001"/>
          <p:cNvGraphicFramePr/>
          <p:nvPr/>
        </p:nvGraphicFramePr>
        <p:xfrm>
          <a:off x="609600" y="1762125"/>
          <a:ext cx="10972800" cy="3714750"/>
        </p:xfrm>
        <a:graphic>
          <a:graphicData uri="http://schemas.openxmlformats.org/drawingml/2006/table">
            <a:tbl>
              <a:tblPr firstRow="1" bandRow="1"/>
              <a:tblGrid>
                <a:gridCol w="3657600">
                  <a:extLst>
                    <a:ext uri="{9D8B030D-6E8A-4147-A177-3AD203B41FA5}">
                      <ns0:colId xmlns:ns0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ns0:colId xmlns:ns0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ns0:colId xmlns:ns0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情况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空间处理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下游语义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命中有效区域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relevant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同一主上下文判读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区域外且接近外warning边界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按关联范围筛选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不使用全图任意最近设施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已知超出关联范围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irrelevant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本地评分限制；不做本地ETA/分配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地图不足／高度不可比较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unavailable或uncertain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保守复核，避免错误低档化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多个设施但未明确绑定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不猜测设施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设施ETA可能为空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48969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o0">
            <a:extLst xmlns:a="http://schemas.openxmlformats.org/drawingml/2006/main">
              <a:ext uri="{FF2B5EF4-FFF2-40B4-BE49-F238E27FC236}">
                <a16:creationId xmlns:a16="http://schemas.microsoft.com/office/drawing/2014/main" id="{9D6B259C-D6AA-4A23-89EC-4F163B77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7C59BCB8-C453-4199-8142-C7748FEB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A5 启用规则与原始定义差异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D7325434-6CEC-4BB8-B6BB-F50F59A7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2EB88992-1520-4426-89CB-31FD6BFE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054BD701-44C0-465E-8E42-1A65E119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§8.2、§14.3；原需求与当前行为分列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0A5249B4-8F51-43D7-9F3A-90642BDE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28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7E26DA4D-54E8-4ADB-A970-B093C039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30项目录 ≠ 30项已经实现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8C0D3B15-0757-407A-8F29-2FD25761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启用：01、02、03、05、08、10、11、12、13、14、15、17、18、21、22、24、26、29、30</a:t>
            </a:r>
          </a:p>
        </p:txBody>
      </p:sp>
      <p:sp>
        <p:nvSpPr>
          <p:cNvPr id="9" name="line-6">
            <a:extLst xmlns:a="http://schemas.openxmlformats.org/drawingml/2006/main">
              <a:ext uri="{FF2B5EF4-FFF2-40B4-BE49-F238E27FC236}">
                <a16:creationId xmlns:a16="http://schemas.microsoft.com/office/drawing/2014/main" id="{A031F7EA-0FDF-4D49-9DC8-18BFC0F5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42F1738D-916F-4ABE-A574-73293B0D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保留原始定义，追加实际行为；目录名称不等于真实动机已被证实。</a:t>
            </a:r>
          </a:p>
        </p:txBody>
      </p:sp>
      <p:graphicFrame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GraphicFramePr>
          <p:cNvPr id="7001" name="Table 11"/>
          <p:cNvGraphicFramePr>
            <a:graphicFrameLocks noGrp="1"/>
          </p:cNvGraphicFramePr>
          <p:nvPr/>
        </p:nvGraphicFramePr>
        <p:xfrm>
          <a:off x="609600" y="2628900"/>
          <a:ext cx="10972800" cy="2714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ns0:colId xmlns:ns0="http://schemas.microsoft.com/office/drawing/2014/main" val="20000"/>
                    </a:ext>
                  </a:extLst>
                </a:gridCol>
                <a:gridCol w="3072384">
                  <a:extLst>
                    <a:ext uri="{9D8B030D-6E8A-4147-A177-3AD203B41FA5}">
                      <ns0:colId xmlns:ns0="http://schemas.microsoft.com/office/drawing/2014/main" val="20001"/>
                    </a:ext>
                  </a:extLst>
                </a:gridCol>
                <a:gridCol w="5705856">
                  <a:extLst>
                    <a:ext uri="{9D8B030D-6E8A-4147-A177-3AD203B41FA5}">
                      <ns0:colId xmlns:ns0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差异条目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原始定义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当前实际行为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悬停时间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旧表各自阈值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I-05／10／15统一10秒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I-28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目录兜底意图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禁用；无候选时空意图并复核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飞手偏置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负3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全部low为−4；任一high为＋5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R3高度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高于130米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2000">
                          <a:latin typeface="Microsoft YaHei"/>
                          <a:ea typeface="Microsoft YaHei"/>
                          <a:cs typeface="Microsoft YaHei"/>
                        </a:rPr>
                        <a:t>130至180米，含端点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9003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o0">
            <a:extLst xmlns:a="http://schemas.openxmlformats.org/drawingml/2006/main">
              <a:ext uri="{FF2B5EF4-FFF2-40B4-BE49-F238E27FC236}">
                <a16:creationId xmlns:a16="http://schemas.microsoft.com/office/drawing/2014/main" id="{45AB2C30-8C5B-4D51-8915-00EBD6E1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A8A54732-ECF0-4ED9-9497-6A227051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A6 评分公式、修正顺序与空间约束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A2DE34DC-F2FF-4A6D-B91B-3C122EDE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6EEBE9FD-DD42-4CE6-8D80-A434C3CD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24F4A443-58D1-4F9F-971F-360E9F07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§9.2–§9.3；F09–F11；原生Office Math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B7C225AA-5DA1-4B25-9751-5DDF888F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29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11C566FA-7565-4577-8D46-3484AAE4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加权与置信修正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7BAA11B4-6B96-4B67-AD63-2D785A29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取整、抬底与空间限制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3F37CF59-C155-49F4-86E6-A6979BBE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954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参数和边界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66BD89B5-6465-4543-BC31-D606A387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38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10">
            <a:extLst xmlns:a="http://schemas.openxmlformats.org/drawingml/2006/main">
              <a:ext uri="{FF2B5EF4-FFF2-40B4-BE49-F238E27FC236}">
                <a16:creationId xmlns:a16="http://schemas.microsoft.com/office/drawing/2014/main" id="{0B2FEC35-9096-4F6C-8BE8-AF807E22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28850"/>
            <a:ext cx="3524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默认等级线36／66</a:t>
            </a:r>
          </a:p>
        </p:txBody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8EDC1624-B21E-421C-B4B2-A88DD643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62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12">
            <a:extLst xmlns:a="http://schemas.openxmlformats.org/drawingml/2006/main">
              <a:ext uri="{FF2B5EF4-FFF2-40B4-BE49-F238E27FC236}">
                <a16:creationId xmlns:a16="http://schemas.microsoft.com/office/drawing/2014/main" id="{057917A6-FC3F-46D1-A6E1-57FC6AD4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52725"/>
            <a:ext cx="3524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置信扣分：6／3／0</a:t>
            </a:r>
          </a:p>
        </p:txBody>
      </p:sp>
      <p:sp>
        <p:nvSpPr>
          <p:cNvPr id="14" name="o13">
            <a:extLst xmlns:a="http://schemas.openxmlformats.org/drawingml/2006/main">
              <a:ext uri="{FF2B5EF4-FFF2-40B4-BE49-F238E27FC236}">
                <a16:creationId xmlns:a16="http://schemas.microsoft.com/office/drawing/2014/main" id="{AFEE17B7-9200-4DE3-AFB2-4275EFDB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86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14">
            <a:extLst xmlns:a="http://schemas.openxmlformats.org/drawingml/2006/main">
              <a:ext uri="{FF2B5EF4-FFF2-40B4-BE49-F238E27FC236}">
                <a16:creationId xmlns:a16="http://schemas.microsoft.com/office/drawing/2014/main" id="{90DC396D-22C4-4E3A-BC1C-6E2493E5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76600"/>
            <a:ext cx="3524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区间：&lt;0.70／&lt;0.85／其余</a:t>
            </a:r>
          </a:p>
        </p:txBody>
      </p:sp>
      <p:sp>
        <p:nvSpPr>
          <p:cNvPr id="16" name="o15">
            <a:extLst xmlns:a="http://schemas.openxmlformats.org/drawingml/2006/main">
              <a:ext uri="{FF2B5EF4-FFF2-40B4-BE49-F238E27FC236}">
                <a16:creationId xmlns:a16="http://schemas.microsoft.com/office/drawing/2014/main" id="{388CB586-6C59-4FFD-B41A-DEE41275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10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16">
            <a:extLst xmlns:a="http://schemas.openxmlformats.org/drawingml/2006/main">
              <a:ext uri="{FF2B5EF4-FFF2-40B4-BE49-F238E27FC236}">
                <a16:creationId xmlns:a16="http://schemas.microsoft.com/office/drawing/2014/main" id="{FF14C804-F094-4530-8726-5CBF460F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00475"/>
            <a:ext cx="3524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飞手：任一high＋5</a:t>
            </a:r>
          </a:p>
        </p:txBody>
      </p:sp>
      <p:sp>
        <p:nvSpPr>
          <p:cNvPr id="18" name="o17">
            <a:extLst xmlns:a="http://schemas.openxmlformats.org/drawingml/2006/main">
              <a:ext uri="{FF2B5EF4-FFF2-40B4-BE49-F238E27FC236}">
                <a16:creationId xmlns:a16="http://schemas.microsoft.com/office/drawing/2014/main" id="{DE885D13-7DC1-4BEC-80A6-D297502D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3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18">
            <a:extLst xmlns:a="http://schemas.openxmlformats.org/drawingml/2006/main">
              <a:ext uri="{FF2B5EF4-FFF2-40B4-BE49-F238E27FC236}">
                <a16:creationId xmlns:a16="http://schemas.microsoft.com/office/drawing/2014/main" id="{9B4793A1-1BE9-496A-8B2F-628A4C40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24350"/>
            <a:ext cx="3524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全部low−4，其余0</a:t>
            </a:r>
          </a:p>
        </p:txBody>
      </p:sp>
      <p:sp>
        <p:nvSpPr>
          <p:cNvPr id="20" name="o19">
            <a:extLst xmlns:a="http://schemas.openxmlformats.org/drawingml/2006/main">
              <a:ext uri="{FF2B5EF4-FFF2-40B4-BE49-F238E27FC236}">
                <a16:creationId xmlns:a16="http://schemas.microsoft.com/office/drawing/2014/main" id="{6745268E-F347-44A9-97C4-BD77A1BD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57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4E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20">
            <a:extLst xmlns:a="http://schemas.openxmlformats.org/drawingml/2006/main">
              <a:ext uri="{FF2B5EF4-FFF2-40B4-BE49-F238E27FC236}">
                <a16:creationId xmlns:a16="http://schemas.microsoft.com/office/drawing/2014/main" id="{8AA401E7-B6CE-440A-B6AE-E917C132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48225"/>
            <a:ext cx="3524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66在部分规则中为下限</a:t>
            </a:r>
          </a:p>
        </p:txBody>
      </p:sp>
      <p:sp>
        <p:nvSpPr>
          <p:cNvPr id="22" name="o21">
            <a:extLst xmlns:a="http://schemas.openxmlformats.org/drawingml/2006/main">
              <a:ext uri="{FF2B5EF4-FFF2-40B4-BE49-F238E27FC236}">
                <a16:creationId xmlns:a16="http://schemas.microsoft.com/office/drawing/2014/main" id="{96F17B2B-9EE7-4A7D-B5A6-CD90507B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53075"/>
            <a:ext cx="3733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空间不相关：封顶35</a:t>
            </a:r>
          </a:p>
          <a:p xmlns:a="http://schemas.openxmlformats.org/drawingml/2006/main">
            <a:pPr algn="l">
              <a:def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5680B"/>
                </a:solidFill>
                <a:latin typeface="Microsoft YaHei"/>
                <a:ea typeface="Microsoft YaHei"/>
                <a:cs typeface="Microsoft YaHei"/>
              </a:rPr>
              <a:t>空间未知：不套此封顶</a:t>
            </a:r>
          </a:p>
        </p:txBody>
      </p:sp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1" name="native-equation-srawA"/>
              <p:cNvSpPr txBox="1">
                <a:spLocks noGrp="1"/>
              </p:cNvSpPr>
              <p:nvPr/>
            </p:nvSpPr>
            <p:spPr>
              <a:xfrm>
                <a:off x="609600" y="2181225"/>
                <a:ext cx="6667500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raw</m:t>
                          </m:r>
                        </m:sub>
                      </m:sSub>
                      <m: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𝑘</m:t>
                          </m:r>
                          <m: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=1</m:t>
                          </m:r>
                        </m:sub>
                        <m:sup>
                          <m: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sup>
                        <m:e>
                          <m:sSub>
                            <m:sSubPr>
                              <m:ctrlP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 </m:t>
                          </m:r>
                          <m:sSub>
                            <m:sSubPr>
                              <m:ctrlP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sz="2100" dirty="0">
                                  <a:solidFill>
                                    <a:srgbClr val="1C253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sz="2100" dirty="0">
                          <a:solidFill>
                            <a:srgbClr val="1C253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00" dirty="0">
                              <a:solidFill>
                                <a:srgbClr val="1C253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pilot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ns0:Choice>
        <ns0:Fallback>
          <p:sp>
            <p:nvSpPr>
              <p:cNvPr id="7001" name="native-equation-srawA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181225"/>
                <a:ext cx="6667500" cy="666750"/>
              </a:xfrm>
              <a:prstGeom prst="rect">
                <a:avLst/>
              </a:prstGeom>
              <a:blipFill>
                <a:blip r:embed="rNative7001"/>
                <a:stretch>
                  <a:fillRect t="-12844" b="-183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ns0:Fallback>
      </ns0:AlternateContent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2" name="native-equation-confidence"/>
              <p:cNvSpPr txBox="1">
                <a:spLocks noGrp="1"/>
              </p:cNvSpPr>
              <p:nvPr/>
            </p:nvSpPr>
            <p:spPr>
              <a:xfrm>
                <a:off x="609600" y="3009900"/>
                <a:ext cx="6667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𝑐𝑙𝑖𝑝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[0,1](0.70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>
                          <a:latin typeface="Cambria Math" panose="02040503050406030204" pitchFamily="18" charset="0"/>
                        </a:rPr>
                        <m:t>̄ + 0.20 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+ 0.10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ns0:Choice>
        <ns0:Fallback>
          <p:sp>
            <p:nvSpPr>
              <p:cNvPr id="7002" name="native-equation-confidence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009900"/>
                <a:ext cx="6667500" cy="762000"/>
              </a:xfrm>
              <a:prstGeom prst="rect">
                <a:avLst/>
              </a:prstGeom>
              <a:blipFill>
                <a:blip r:embed="rNative700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ns0:Fallback>
      </ns0:AlternateContent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3" name="native-equation-round"/>
              <p:cNvSpPr txBox="1">
                <a:spLocks noGrp="1"/>
              </p:cNvSpPr>
              <p:nvPr/>
            </p:nvSpPr>
            <p:spPr>
              <a:xfrm>
                <a:off x="609600" y="4362450"/>
                <a:ext cx="6667500" cy="466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𝑐𝑙𝑖𝑝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[0,100](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𝑟𝑎𝑤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/>
              </a:p>
            </p:txBody>
          </p:sp>
        </ns0:Choice>
        <ns0:Fallback>
          <p:sp>
            <p:nvSpPr>
              <p:cNvPr id="7003" name="native-equation-round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62450"/>
                <a:ext cx="6667500" cy="466725"/>
              </a:xfrm>
              <a:prstGeom prst="rect">
                <a:avLst/>
              </a:prstGeom>
              <a:blipFill>
                <a:blip r:embed="rNative7003"/>
                <a:stretch>
                  <a:fillRect b="-26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ns0:Fallback>
      </ns0:AlternateContent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4" name="native-equation-floor"/>
              <p:cNvSpPr txBox="1">
                <a:spLocks noGrp="1"/>
              </p:cNvSpPr>
              <p:nvPr/>
            </p:nvSpPr>
            <p:spPr>
              <a:xfrm>
                <a:off x="609600" y="4895850"/>
                <a:ext cx="66675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ns0:Choice>
        <ns0:Fallback>
          <p:sp>
            <p:nvSpPr>
              <p:cNvPr id="7004" name="native-equation-floor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895850"/>
                <a:ext cx="6667500" cy="457200"/>
              </a:xfrm>
              <a:prstGeom prst="rect">
                <a:avLst/>
              </a:prstGeom>
              <a:blipFill>
                <a:blip r:embed="rNative7004"/>
                <a:stretch>
                  <a:fillRect b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ns0:Fallback>
      </ns0:AlternateContent>
      <ns0:AlternateContent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 xmlns:ns0="http://schemas.openxmlformats.org/markup-compatibility/2006">
        <ns0:Choice Requires="a14">
          <p:sp>
            <p:nvSpPr>
              <p:cNvPr id="7005" name="native-equation-scope"/>
              <p:cNvSpPr txBox="1">
                <a:spLocks noGrp="1"/>
              </p:cNvSpPr>
              <p:nvPr/>
            </p:nvSpPr>
            <p:spPr>
              <a:xfrm>
                <a:off x="609600" y="5419725"/>
                <a:ext cx="66675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>
                    <m:oMath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− 1)   [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𝑖𝑟𝑟𝑒𝑙𝑒𝑣𝑎𝑛𝑡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/>
              </a:p>
            </p:txBody>
          </p:sp>
        </ns0:Choice>
        <ns0:Fallback>
          <p:sp>
            <p:nvSpPr>
              <p:cNvPr id="7005" name="native-equation-scope"/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419725"/>
                <a:ext cx="6667500" cy="457200"/>
              </a:xfrm>
              <a:prstGeom prst="rect">
                <a:avLst/>
              </a:prstGeom>
              <a:blipFill>
                <a:blip r:embed="rNative7005"/>
                <a:stretch>
                  <a:fillRect b="-4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ns0:Fallback>
      </ns0:AlternateContent>
    </p:spTree>
    <p:extLst>
      <p:ext uri="{BB962C8B-B14F-4D97-AF65-F5344CB8AC3E}">
        <p14:creationId xmlns:p14="http://schemas.microsoft.com/office/powerpoint/2010/main" val="191406111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0">
            <a:extLst xmlns:a="http://schemas.openxmlformats.org/drawingml/2006/main">
              <a:ext uri="{FF2B5EF4-FFF2-40B4-BE49-F238E27FC236}">
                <a16:creationId xmlns:a16="http://schemas.microsoft.com/office/drawing/2014/main" id="{58CA3785-C3EC-4138-A278-C1EF85F8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AFF9C718-84DC-4238-9E64-7960ADC3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A7 辅助评估字段的实际语义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88B6D638-D52B-49C8-BD83-4E8AFA78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C90AA77E-292C-40F8-8A90-EFA58045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30492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5C1499A7-A66E-41E8-A036-AF6A8E9C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defense_analysis.py；代码代数核对与已有回归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6635B7FB-6A76-4395-8122-E1C532C4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30 / 32</a:t>
            </a:r>
          </a:p>
        </p:txBody>
      </p:sp>
      <p:sp>
        <p:nvSpPr>
          <p:cNvPr id="7" name="line-4">
            <a:extLst xmlns:a="http://schemas.openxmlformats.org/drawingml/2006/main">
              <a:ext uri="{FF2B5EF4-FFF2-40B4-BE49-F238E27FC236}">
                <a16:creationId xmlns:a16="http://schemas.microsoft.com/office/drawing/2014/main" id="{9272E744-6A6B-49B1-8B24-82631445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9150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6E3"/>
            </a:solidFill>
            <a:prstDash val="solid"/>
          </a:ln>
        </p:spPr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2EA9EC27-5164-4B59-AD2B-DBB660CB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当前数量约束下，多成员足量分支化简为平均输入概率；仅作模型定义解释。</a:t>
            </a:r>
          </a:p>
        </p:txBody>
      </p:sp>
      <p:graphicFrame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GraphicFramePr>
          <p:cNvPr id="7001" name="native-table-7001"/>
          <p:cNvGraphicFramePr/>
          <p:nvPr/>
        </p:nvGraphicFramePr>
        <p:xfrm>
          <a:off x="609600" y="1762125"/>
          <a:ext cx="10972800" cy="3667125"/>
        </p:xfrm>
        <a:graphic>
          <a:graphicData uri="http://schemas.openxmlformats.org/drawingml/2006/table">
            <a:tbl>
              <a:tblPr firstRow="1" bandRow="1"/>
              <a:tblGrid>
                <a:gridCol w="3657600">
                  <a:extLst>
                    <a:ext uri="{9D8B030D-6E8A-4147-A177-3AD203B41FA5}">
                      <ns0:colId xmlns:ns0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ns0:colId xmlns:ns0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ns0:colId xmlns:ns0="http://schemas.microsoft.com/office/drawing/2014/main" val="20002"/>
                    </a:ext>
                  </a:extLst>
                </a:gridCol>
              </a:tblGrid>
              <a:tr h="611188">
                <a:tc>
                  <a:txBody>
                    <a:bodyPr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字段／方法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实际含义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DFE8F1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0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combinedDetectionProbability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覆盖代表点的输入概率组合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独立事件形式，未校准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1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allocatedResourceCount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本次请求内分配数量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不跨请求持久扣库存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2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responseTimeSeconds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已分配资源响应时间汇总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ETA缺失时不受ETA门控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3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successRate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旧模型公式适配值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不等于实测效能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4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available / partial / unavailable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输入与可计算状态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不等同能力足够／不足</a:t>
                      </a:r>
                      <a:endParaRPr lang="zh-CN" sz="1700"/>
                    </a:p>
                  </a:txBody>
                  <a:tcPr marL="90000" marR="60000" marT="30000" marB="30000" anchor="ctr">
                    <a:lnL w="6350">
                      <a:solidFill>
                        <a:srgbClr val="D4DCE6"/>
                      </a:solidFill>
                    </a:lnL>
                    <a:lnR w="6350">
                      <a:solidFill>
                        <a:srgbClr val="D4DCE6"/>
                      </a:solidFill>
                    </a:lnR>
                    <a:lnT w="6350">
                      <a:solidFill>
                        <a:srgbClr val="D4DCE6"/>
                      </a:solidFill>
                    </a:lnT>
                    <a:lnB w="6350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82609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o0">
            <a:extLst xmlns:a="http://schemas.openxmlformats.org/drawingml/2006/main">
              <a:ext uri="{FF2B5EF4-FFF2-40B4-BE49-F238E27FC236}">
                <a16:creationId xmlns:a16="http://schemas.microsoft.com/office/drawing/2014/main" id="{59510E9E-28F2-4460-9CE9-29C243AC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0BBCA1EE-C545-4AB4-8C97-77C3DFDB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A8 完整性能矩阵与缓存一致性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29D276FB-963A-4F31-B075-C9759AA1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29464F13-D1F3-4285-AD06-5FA496B2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1E939AB5-7752-4954-9110-404EDBCD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results.json/api；cache_difference_audit.json；单位ms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CFA6A109-8AB0-4777-9774-5CAA488A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31 / 32</a:t>
            </a:r>
          </a:p>
        </p:txBody>
      </p:sp>
      <p:sp>
        <p:nvSpPr>
          <p:cNvPr id="7" name="o6">
            <a:extLst xmlns:a="http://schemas.openxmlformats.org/drawingml/2006/main">
              <a:ext uri="{FF2B5EF4-FFF2-40B4-BE49-F238E27FC236}">
                <a16:creationId xmlns:a16="http://schemas.microsoft.com/office/drawing/2014/main" id="{7519B2BD-5FCD-4FE3-80BF-72046D4E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分散布局（中位／P95，ms）</a:t>
            </a:r>
          </a:p>
        </p:txBody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DA6721BB-C1B9-46A0-B524-ACA1A776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密集布局（中位／P95，ms）</a:t>
            </a:r>
          </a:p>
        </p:txBody>
      </p:sp>
      <p:sp>
        <p:nvSpPr>
          <p:cNvPr id="9" name="o8">
            <a:extLst xmlns:a="http://schemas.openxmlformats.org/drawingml/2006/main">
              <a:ext uri="{FF2B5EF4-FFF2-40B4-BE49-F238E27FC236}">
                <a16:creationId xmlns:a16="http://schemas.microsoft.com/office/drawing/2014/main" id="{4641F727-968D-433B-BC30-C6FD9F2D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缓存计算次数：3400 → 1700（各17次请求）</a:t>
            </a:r>
          </a:p>
        </p:txBody>
      </p:sp>
      <p:sp>
        <p:nvSpPr>
          <p:cNvPr id="10" name="o9">
            <a:extLst xmlns:a="http://schemas.openxmlformats.org/drawingml/2006/main">
              <a:ext uri="{FF2B5EF4-FFF2-40B4-BE49-F238E27FC236}">
                <a16:creationId xmlns:a16="http://schemas.microsoft.com/office/drawing/2014/main" id="{D2A197AE-0E60-47C3-BB64-E8087BCA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False复核仅为debug.generatedAt；排除调试时间后算法data一致</a:t>
            </a:r>
          </a:p>
        </p:txBody>
      </p:sp>
      <p:sp>
        <p:nvSpPr>
          <p:cNvPr id="11" name="line-8">
            <a:extLst xmlns:a="http://schemas.openxmlformats.org/drawingml/2006/main">
              <a:ext uri="{FF2B5EF4-FFF2-40B4-BE49-F238E27FC236}">
                <a16:creationId xmlns:a16="http://schemas.microsoft.com/office/drawing/2014/main" id="{B73D5524-2CD3-4672-80A6-A522A076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601027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12" name="o11">
            <a:extLst xmlns:a="http://schemas.openxmlformats.org/drawingml/2006/main">
              <a:ext uri="{FF2B5EF4-FFF2-40B4-BE49-F238E27FC236}">
                <a16:creationId xmlns:a16="http://schemas.microsoft.com/office/drawing/2014/main" id="{6B9CC575-8D24-4760-8325-20F43EFE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240输入点仅保留121意图点；真实并发、冷启动和高频240有效点未测。</a:t>
            </a:r>
          </a:p>
        </p:txBody>
      </p:sp>
      <p:graphicFrame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GraphicFramePr>
          <p:cNvPr id="7001" name="Table 13"/>
          <p:cNvGraphicFramePr>
            <a:graphicFrameLocks noGrp="1"/>
          </p:cNvGraphicFramePr>
          <p:nvPr/>
        </p:nvGraphicFramePr>
        <p:xfrm>
          <a:off x="609600" y="2171700"/>
          <a:ext cx="5238748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975">
                  <a:extLst>
                    <a:ext uri="{9D8B030D-6E8A-4147-A177-3AD203B41FA5}">
                      <ns0:colId xmlns:ns0="http://schemas.microsoft.com/office/drawing/2014/main" val="20000"/>
                    </a:ext>
                  </a:extLst>
                </a:gridCol>
                <a:gridCol w="1430178">
                  <a:extLst>
                    <a:ext uri="{9D8B030D-6E8A-4147-A177-3AD203B41FA5}">
                      <ns0:colId xmlns:ns0="http://schemas.microsoft.com/office/drawing/2014/main" val="20001"/>
                    </a:ext>
                  </a:extLst>
                </a:gridCol>
                <a:gridCol w="1430178">
                  <a:extLst>
                    <a:ext uri="{9D8B030D-6E8A-4147-A177-3AD203B41FA5}">
                      <ns0:colId xmlns:ns0="http://schemas.microsoft.com/office/drawing/2014/main" val="20002"/>
                    </a:ext>
                  </a:extLst>
                </a:gridCol>
                <a:gridCol w="1435417">
                  <a:extLst>
                    <a:ext uri="{9D8B030D-6E8A-4147-A177-3AD203B41FA5}">
                      <ns0:colId xmlns:ns0="http://schemas.microsoft.com/office/drawing/2014/main" val="20003"/>
                    </a:ext>
                  </a:extLst>
                </a:gridCol>
              </a:tblGrid>
              <a:tr h="544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目标数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30点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120点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240点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0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39.69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40.93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56.07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65.82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57.45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61.05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1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177.24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180.21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246.25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280.91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258.94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272.12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2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342.42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453.55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461.26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579.88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506.79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578.46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3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644.89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776.91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911.64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1181.71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1003.80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1308.94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4"/>
                  </a:ext>
                </a:extLst>
              </a:tr>
            </a:tbl>
          </a:graphicData>
        </a:graphic>
      </p:graphicFrame>
      <p:graphicFrame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GraphicFramePr>
          <p:cNvPr id="7002" name="Table 14"/>
          <p:cNvGraphicFramePr>
            <a:graphicFrameLocks noGrp="1"/>
          </p:cNvGraphicFramePr>
          <p:nvPr/>
        </p:nvGraphicFramePr>
        <p:xfrm>
          <a:off x="6324600" y="2171700"/>
          <a:ext cx="5238748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975">
                  <a:extLst>
                    <a:ext uri="{9D8B030D-6E8A-4147-A177-3AD203B41FA5}">
                      <ns0:colId xmlns:ns0="http://schemas.microsoft.com/office/drawing/2014/main" val="20000"/>
                    </a:ext>
                  </a:extLst>
                </a:gridCol>
                <a:gridCol w="1430178">
                  <a:extLst>
                    <a:ext uri="{9D8B030D-6E8A-4147-A177-3AD203B41FA5}">
                      <ns0:colId xmlns:ns0="http://schemas.microsoft.com/office/drawing/2014/main" val="20001"/>
                    </a:ext>
                  </a:extLst>
                </a:gridCol>
                <a:gridCol w="1430178">
                  <a:extLst>
                    <a:ext uri="{9D8B030D-6E8A-4147-A177-3AD203B41FA5}">
                      <ns0:colId xmlns:ns0="http://schemas.microsoft.com/office/drawing/2014/main" val="20002"/>
                    </a:ext>
                  </a:extLst>
                </a:gridCol>
                <a:gridCol w="1435417">
                  <a:extLst>
                    <a:ext uri="{9D8B030D-6E8A-4147-A177-3AD203B41FA5}">
                      <ns0:colId xmlns:ns0="http://schemas.microsoft.com/office/drawing/2014/main" val="20003"/>
                    </a:ext>
                  </a:extLst>
                </a:gridCol>
              </a:tblGrid>
              <a:tr h="544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目标数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30点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120点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240点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0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40.84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45.43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58.52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67.78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63.23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66.40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1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173.57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183.72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240.32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247.18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278.64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334.01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2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316.76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362.24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430.90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466.34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507.25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550.78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3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595.16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628.59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859.13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935.11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964.60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>
                          <a:latin typeface="Microsoft YaHei"/>
                          <a:ea typeface="Microsoft YaHei"/>
                          <a:cs typeface="Microsoft YaHei"/>
                        </a:rPr>
                        <a:t>1006.75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33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0">
            <a:extLst xmlns:a="http://schemas.openxmlformats.org/drawingml/2006/main">
              <a:ext uri="{FF2B5EF4-FFF2-40B4-BE49-F238E27FC236}">
                <a16:creationId xmlns:a16="http://schemas.microsoft.com/office/drawing/2014/main" id="{5C1F8B5A-B201-4DFF-A02C-79E44DCA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算法原理与阶段验证</a:t>
            </a:r>
          </a:p>
        </p:txBody>
      </p:sp>
      <p:sp>
        <p:nvSpPr>
          <p:cNvPr id="2" name="o1">
            <a:extLst xmlns:a="http://schemas.openxmlformats.org/drawingml/2006/main">
              <a:ext uri="{FF2B5EF4-FFF2-40B4-BE49-F238E27FC236}">
                <a16:creationId xmlns:a16="http://schemas.microsoft.com/office/drawing/2014/main" id="{F0F761F8-D7FA-4CB8-BB2B-5FADB629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A9 独立效果验证与复现实验设计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48114168-A3F6-493B-BE6C-23DAB419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4" name="line-2">
            <a:extLst xmlns:a="http://schemas.openxmlformats.org/drawingml/2006/main">
              <a:ext uri="{FF2B5EF4-FFF2-40B4-BE49-F238E27FC236}">
                <a16:creationId xmlns:a16="http://schemas.microsoft.com/office/drawing/2014/main" id="{DA25F61D-CDF9-480B-A454-1AE0B80B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12954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4E88"/>
            </a:solidFill>
            <a:prstDash val="solid"/>
          </a:ln>
        </p:spPr>
      </p:sp>
      <p:sp>
        <p:nvSpPr>
          <p:cNvPr id="5" name="o4">
            <a:extLst xmlns:a="http://schemas.openxmlformats.org/drawingml/2006/main">
              <a:ext uri="{FF2B5EF4-FFF2-40B4-BE49-F238E27FC236}">
                <a16:creationId xmlns:a16="http://schemas.microsoft.com/office/drawing/2014/main" id="{9503DC16-8F03-469C-BF21-6625E284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9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参考 §12.3–§12.5；不填写未测准确率</a:t>
            </a:r>
          </a:p>
        </p:txBody>
      </p:sp>
      <p:sp>
        <p:nvSpPr>
          <p:cNvPr id="6" name="o5">
            <a:extLst xmlns:a="http://schemas.openxmlformats.org/drawingml/2006/main">
              <a:ext uri="{FF2B5EF4-FFF2-40B4-BE49-F238E27FC236}">
                <a16:creationId xmlns:a16="http://schemas.microsoft.com/office/drawing/2014/main" id="{E57F4DF6-F8CB-47B6-B4DD-96658EBF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A"/>
                </a:solidFill>
                <a:latin typeface="Microsoft YaHei"/>
                <a:ea typeface="Microsoft YaHei"/>
                <a:cs typeface="Microsoft YaHei"/>
              </a:rPr>
              <a:t>32 / 32</a:t>
            </a:r>
          </a:p>
        </p:txBody>
      </p:sp>
      <p:sp>
        <p:nvSpPr>
          <p:cNvPr id="7" name="line-4">
            <a:extLst xmlns:a="http://schemas.openxmlformats.org/drawingml/2006/main">
              <a:ext uri="{FF2B5EF4-FFF2-40B4-BE49-F238E27FC236}">
                <a16:creationId xmlns:a16="http://schemas.microsoft.com/office/drawing/2014/main" id="{714C7BA1-2742-4604-B3D2-D0D8D52D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" y="58674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8" name="o7">
            <a:extLst xmlns:a="http://schemas.openxmlformats.org/drawingml/2006/main">
              <a:ext uri="{FF2B5EF4-FFF2-40B4-BE49-F238E27FC236}">
                <a16:creationId xmlns:a16="http://schemas.microsoft.com/office/drawing/2014/main" id="{EED8A98D-DD18-4EEE-98E2-7FB1C0B8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4E88"/>
                </a:solidFill>
                <a:latin typeface="Microsoft YaHei"/>
                <a:ea typeface="Microsoft YaHei"/>
                <a:cs typeface="Microsoft YaHei"/>
              </a:rPr>
              <a:t>生产并发、网络、完整冷启动和长时间尾部仍待验证。</a:t>
            </a:r>
          </a:p>
        </p:txBody>
      </p:sp>
      <p:graphicFrame xmlns:a="http://schemas.openxmlformats.org/drawingml/2006/main" xmlns:m="http://schemas.openxmlformats.org/officeDocument/2006/math" xmlns:w="http://schemas.openxmlformats.org/wordprocessingml/2006/main" xmlns:a14="http://schemas.microsoft.com/office/drawing/2010/main" xmlns:r="http://schemas.openxmlformats.org/officeDocument/2006/relationships" xmlns:rel="http://schemas.openxmlformats.org/package/2006/relationships" xmlns:ct="http://schemas.openxmlformats.org/package/2006/content-types">
        <p:nvGraphicFramePr>
          <p:cNvPr id="7001" name="Table 9"/>
          <p:cNvGraphicFramePr>
            <a:graphicFrameLocks noGrp="1"/>
          </p:cNvGraphicFramePr>
          <p:nvPr/>
        </p:nvGraphicFramePr>
        <p:xfrm>
          <a:off x="609600" y="1752600"/>
          <a:ext cx="1097280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ns0:colId xmlns:ns0="http://schemas.microsoft.com/office/drawing/2014/main" val="20000"/>
                    </a:ext>
                  </a:extLst>
                </a:gridCol>
                <a:gridCol w="3072384">
                  <a:extLst>
                    <a:ext uri="{9D8B030D-6E8A-4147-A177-3AD203B41FA5}">
                      <ns0:colId xmlns:ns0="http://schemas.microsoft.com/office/drawing/2014/main" val="20001"/>
                    </a:ext>
                  </a:extLst>
                </a:gridCol>
                <a:gridCol w="3730752">
                  <a:extLst>
                    <a:ext uri="{9D8B030D-6E8A-4147-A177-3AD203B41FA5}">
                      <ns0:colId xmlns:ns0="http://schemas.microsoft.com/office/drawing/2014/main" val="20002"/>
                    </a:ext>
                  </a:extLst>
                </a:gridCol>
                <a:gridCol w="2852928">
                  <a:extLst>
                    <a:ext uri="{9D8B030D-6E8A-4147-A177-3AD203B41FA5}">
                      <ns0:colId xmlns:ns0="http://schemas.microsoft.com/office/drawing/2014/main" val="20003"/>
                    </a:ext>
                  </a:extLst>
                </a:gridCol>
              </a:tblGrid>
              <a:tr h="517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独立依据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当前证据</a:t>
                      </a:r>
                    </a:p>
                  </a:txBody>
                  <a:tcPr marL="114300" marR="88900" marT="38100" marB="38100">
                    <a:solidFill>
                      <a:srgbClr val="DFE8F1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0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聚类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成员归属标签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成对P/R、分组合并拆分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功能回归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1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队形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独立轨迹与群规模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混淆矩阵、macro-F1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功能回归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2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意图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专家标注与正常样本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精确率／召回率、误报漏报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规则回归＋案例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3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威胁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专家等级与解释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等级一致、排序合理性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规则回归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4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ETA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真实抵达事件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误差、偏差、无效比例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基础功能</a:t>
                      </a:r>
                    </a:p>
                  </a:txBody>
                  <a:tcPr marL="114300" marR="889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5"/>
                  </a:ext>
                </a:extLst>
              </a:tr>
              <a:tr h="5170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性能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固定设备／窗口／规模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中位数／P95、内存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700">
                          <a:latin typeface="Microsoft YaHei"/>
                          <a:ea typeface="Microsoft YaHei"/>
                          <a:cs typeface="Microsoft YaHei"/>
                        </a:rPr>
                        <a:t>24组串行＋局部对照</a:t>
                      </a:r>
                    </a:p>
                  </a:txBody>
                  <a:tcPr marL="114300" marR="88900" marT="38100" marB="38100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ns0:rowId xmlns:ns0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6234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2026-10-25T12:01:36.1380000Z</dcterms:created>
  <dcterms:modified xsi:type="dcterms:W3CDTF">2026-10-25T12:01:36.1380000Z</dcterms:modified>
</coreProperties>
</file>