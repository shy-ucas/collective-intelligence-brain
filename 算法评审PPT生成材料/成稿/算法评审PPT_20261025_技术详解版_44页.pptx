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Default Extension="xlsx" ContentType="application/vnd.openxmlformats-officedocument.spreadsheetml.sheet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3e53b796e4060" /><Relationship Type="http://schemas.openxmlformats.org/officeDocument/2006/relationships/extended-properties" Target="/docProps/app.xml" Id="R586981be52ff41ab" /><Relationship Type="http://schemas.openxmlformats.org/officeDocument/2006/relationships/officeDocument" Target="/ppt/presentation.xml" Id="R9a326a67429d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3cae07a3c84a1f"/>
  </p:sldMasterIdLst>
  <p:notesMasterIdLst>
    <p:notesMasterId xmlns:r="http://schemas.openxmlformats.org/officeDocument/2006/relationships" r:id="Rb3975c687b6f4552"/>
  </p:notesMasterIdLst>
  <p:sldIdLst>
    <p:sldId xmlns:r="http://schemas.openxmlformats.org/officeDocument/2006/relationships" id="256" r:id="R46f74a1365f54f2d"/>
    <p:sldId xmlns:r="http://schemas.openxmlformats.org/officeDocument/2006/relationships" id="257" r:id="R3f0401e875d94726"/>
    <p:sldId xmlns:r="http://schemas.openxmlformats.org/officeDocument/2006/relationships" id="258" r:id="Re536b8e649b046f1"/>
    <p:sldId xmlns:r="http://schemas.openxmlformats.org/officeDocument/2006/relationships" id="259" r:id="R76e6c58ae37f4aff"/>
    <p:sldId xmlns:r="http://schemas.openxmlformats.org/officeDocument/2006/relationships" id="260" r:id="R0426961045f9483e"/>
    <p:sldId xmlns:r="http://schemas.openxmlformats.org/officeDocument/2006/relationships" id="261" r:id="R6ea01df184de4f41"/>
    <p:sldId xmlns:r="http://schemas.openxmlformats.org/officeDocument/2006/relationships" id="262" r:id="Re9cfd2fb2c2a43b8"/>
    <p:sldId xmlns:r="http://schemas.openxmlformats.org/officeDocument/2006/relationships" id="263" r:id="R4304d422a1964042"/>
    <p:sldId xmlns:r="http://schemas.openxmlformats.org/officeDocument/2006/relationships" id="264" r:id="Rb1abd04d27ff443d"/>
    <p:sldId xmlns:r="http://schemas.openxmlformats.org/officeDocument/2006/relationships" id="265" r:id="R3fb0c8d1eb974e38"/>
    <p:sldId xmlns:r="http://schemas.openxmlformats.org/officeDocument/2006/relationships" id="266" r:id="R3352a611b2214b9d"/>
    <p:sldId xmlns:r="http://schemas.openxmlformats.org/officeDocument/2006/relationships" id="267" r:id="Rdf40cfdd8ab54756"/>
    <p:sldId xmlns:r="http://schemas.openxmlformats.org/officeDocument/2006/relationships" id="268" r:id="Rbbbf846ab9ab460f"/>
    <p:sldId xmlns:r="http://schemas.openxmlformats.org/officeDocument/2006/relationships" id="269" r:id="Rd4e8195283c645b4"/>
    <p:sldId xmlns:r="http://schemas.openxmlformats.org/officeDocument/2006/relationships" id="270" r:id="Rd45e78196b094ee9"/>
    <p:sldId xmlns:r="http://schemas.openxmlformats.org/officeDocument/2006/relationships" id="271" r:id="R7972d752989b4fe3"/>
    <p:sldId xmlns:r="http://schemas.openxmlformats.org/officeDocument/2006/relationships" id="272" r:id="R843b4d0e5f54481b"/>
    <p:sldId xmlns:r="http://schemas.openxmlformats.org/officeDocument/2006/relationships" id="273" r:id="Re5b93dc56aff4265"/>
    <p:sldId xmlns:r="http://schemas.openxmlformats.org/officeDocument/2006/relationships" id="274" r:id="R61113b11eb3c455f"/>
    <p:sldId xmlns:r="http://schemas.openxmlformats.org/officeDocument/2006/relationships" id="275" r:id="Rcb4de2da6ea24b7e"/>
    <p:sldId xmlns:r="http://schemas.openxmlformats.org/officeDocument/2006/relationships" id="276" r:id="R48b1837eaca34f76"/>
    <p:sldId xmlns:r="http://schemas.openxmlformats.org/officeDocument/2006/relationships" id="277" r:id="Rf9443839adf948f8"/>
    <p:sldId xmlns:r="http://schemas.openxmlformats.org/officeDocument/2006/relationships" id="278" r:id="R9c0241d875984f22"/>
    <p:sldId xmlns:r="http://schemas.openxmlformats.org/officeDocument/2006/relationships" id="279" r:id="R436ad4342f224b6f"/>
    <p:sldId xmlns:r="http://schemas.openxmlformats.org/officeDocument/2006/relationships" id="280" r:id="R1157be00fe834890"/>
    <p:sldId xmlns:r="http://schemas.openxmlformats.org/officeDocument/2006/relationships" id="281" r:id="R4441c8bc5ffb4dfb"/>
    <p:sldId xmlns:r="http://schemas.openxmlformats.org/officeDocument/2006/relationships" id="282" r:id="R49c9bb98418c43c8"/>
    <p:sldId xmlns:r="http://schemas.openxmlformats.org/officeDocument/2006/relationships" id="283" r:id="R095f104d6d424325"/>
    <p:sldId xmlns:r="http://schemas.openxmlformats.org/officeDocument/2006/relationships" id="284" r:id="R6cc67cb3b2d44904"/>
    <p:sldId xmlns:r="http://schemas.openxmlformats.org/officeDocument/2006/relationships" id="285" r:id="R0f0b4065cc4346c9"/>
    <p:sldId xmlns:r="http://schemas.openxmlformats.org/officeDocument/2006/relationships" id="286" r:id="Ra71ecd0da0544f72"/>
    <p:sldId xmlns:r="http://schemas.openxmlformats.org/officeDocument/2006/relationships" id="287" r:id="R958ac2111ecb4b03"/>
    <p:sldId xmlns:r="http://schemas.openxmlformats.org/officeDocument/2006/relationships" id="288" r:id="R5975517aa09f480e"/>
    <p:sldId xmlns:r="http://schemas.openxmlformats.org/officeDocument/2006/relationships" id="289" r:id="R2e24270001804d29"/>
    <p:sldId xmlns:r="http://schemas.openxmlformats.org/officeDocument/2006/relationships" id="290" r:id="R02d22e8efbaa4ba3"/>
    <p:sldId xmlns:r="http://schemas.openxmlformats.org/officeDocument/2006/relationships" id="291" r:id="R3fffef71fb554a12"/>
    <p:sldId xmlns:r="http://schemas.openxmlformats.org/officeDocument/2006/relationships" id="292" r:id="R8ec0bbe7d6314f9f"/>
    <p:sldId xmlns:r="http://schemas.openxmlformats.org/officeDocument/2006/relationships" id="293" r:id="Rec8f23952ed44a71"/>
    <p:sldId xmlns:r="http://schemas.openxmlformats.org/officeDocument/2006/relationships" id="294" r:id="R1b5db742e51f46e9"/>
    <p:sldId xmlns:r="http://schemas.openxmlformats.org/officeDocument/2006/relationships" id="295" r:id="Rf8789256b10e4c86"/>
    <p:sldId xmlns:r="http://schemas.openxmlformats.org/officeDocument/2006/relationships" id="296" r:id="R478ed7feca73491e"/>
    <p:sldId xmlns:r="http://schemas.openxmlformats.org/officeDocument/2006/relationships" id="297" r:id="Ra8c0c41bf0b94201"/>
    <p:sldId xmlns:r="http://schemas.openxmlformats.org/officeDocument/2006/relationships" id="298" r:id="R9664426fd0b345ec"/>
    <p:sldId xmlns:r="http://schemas.openxmlformats.org/officeDocument/2006/relationships" id="299" r:id="R44c4e9141b5d42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73bc65be954cb0" /><Relationship Type="http://schemas.openxmlformats.org/officeDocument/2006/relationships/slideMaster" Target="/ppt/slideMasters/slideMaster1.xml" Id="Red3cae07a3c84a1f" /><Relationship Type="http://schemas.openxmlformats.org/officeDocument/2006/relationships/notesMaster" Target="/ppt/notesMasters/notesMaster1.xml" Id="Rb3975c687b6f4552" /><Relationship Type="http://schemas.openxmlformats.org/officeDocument/2006/relationships/presProps" Target="/ppt/presProps.xml" Id="Rf2e1dac52c704947" /><Relationship Type="http://schemas.openxmlformats.org/officeDocument/2006/relationships/tableStyles" Target="/ppt/tableStyles.xml" Id="R4656dfca2a494179" /><Relationship Type="http://schemas.openxmlformats.org/officeDocument/2006/relationships/slide" Target="/ppt/slides/slide1.xml" Id="R46f74a1365f54f2d" /><Relationship Type="http://schemas.openxmlformats.org/officeDocument/2006/relationships/slide" Target="/ppt/slides/slide2.xml" Id="R3f0401e875d94726" /><Relationship Type="http://schemas.openxmlformats.org/officeDocument/2006/relationships/slide" Target="/ppt/slides/slide3.xml" Id="Re536b8e649b046f1" /><Relationship Type="http://schemas.openxmlformats.org/officeDocument/2006/relationships/slide" Target="/ppt/slides/slide4.xml" Id="R76e6c58ae37f4aff" /><Relationship Type="http://schemas.openxmlformats.org/officeDocument/2006/relationships/slide" Target="/ppt/slides/slide5.xml" Id="R0426961045f9483e" /><Relationship Type="http://schemas.openxmlformats.org/officeDocument/2006/relationships/slide" Target="/ppt/slides/slide6.xml" Id="R6ea01df184de4f41" /><Relationship Type="http://schemas.openxmlformats.org/officeDocument/2006/relationships/slide" Target="/ppt/slides/slide7.xml" Id="Re9cfd2fb2c2a43b8" /><Relationship Type="http://schemas.openxmlformats.org/officeDocument/2006/relationships/slide" Target="/ppt/slides/slide8.xml" Id="R4304d422a1964042" /><Relationship Type="http://schemas.openxmlformats.org/officeDocument/2006/relationships/slide" Target="/ppt/slides/slide9.xml" Id="Rb1abd04d27ff443d" /><Relationship Type="http://schemas.openxmlformats.org/officeDocument/2006/relationships/slide" Target="/ppt/slides/slide10.xml" Id="R3fb0c8d1eb974e38" /><Relationship Type="http://schemas.openxmlformats.org/officeDocument/2006/relationships/slide" Target="/ppt/slides/slide11.xml" Id="R3352a611b2214b9d" /><Relationship Type="http://schemas.openxmlformats.org/officeDocument/2006/relationships/slide" Target="/ppt/slides/slide12.xml" Id="Rdf40cfdd8ab54756" /><Relationship Type="http://schemas.openxmlformats.org/officeDocument/2006/relationships/slide" Target="/ppt/slides/slide13.xml" Id="Rbbbf846ab9ab460f" /><Relationship Type="http://schemas.openxmlformats.org/officeDocument/2006/relationships/slide" Target="/ppt/slides/slide14.xml" Id="Rd4e8195283c645b4" /><Relationship Type="http://schemas.openxmlformats.org/officeDocument/2006/relationships/slide" Target="/ppt/slides/slide15.xml" Id="Rd45e78196b094ee9" /><Relationship Type="http://schemas.openxmlformats.org/officeDocument/2006/relationships/slide" Target="/ppt/slides/slide16.xml" Id="R7972d752989b4fe3" /><Relationship Type="http://schemas.openxmlformats.org/officeDocument/2006/relationships/slide" Target="/ppt/slides/slide17.xml" Id="R843b4d0e5f54481b" /><Relationship Type="http://schemas.openxmlformats.org/officeDocument/2006/relationships/slide" Target="/ppt/slides/slide18.xml" Id="Re5b93dc56aff4265" /><Relationship Type="http://schemas.openxmlformats.org/officeDocument/2006/relationships/slide" Target="/ppt/slides/slide19.xml" Id="R61113b11eb3c455f" /><Relationship Type="http://schemas.openxmlformats.org/officeDocument/2006/relationships/slide" Target="/ppt/slides/slide20.xml" Id="Rcb4de2da6ea24b7e" /><Relationship Type="http://schemas.openxmlformats.org/officeDocument/2006/relationships/slide" Target="/ppt/slides/slide21.xml" Id="R48b1837eaca34f76" /><Relationship Type="http://schemas.openxmlformats.org/officeDocument/2006/relationships/slide" Target="/ppt/slides/slide22.xml" Id="Rf9443839adf948f8" /><Relationship Type="http://schemas.openxmlformats.org/officeDocument/2006/relationships/slide" Target="/ppt/slides/slide23.xml" Id="R9c0241d875984f22" /><Relationship Type="http://schemas.openxmlformats.org/officeDocument/2006/relationships/slide" Target="/ppt/slides/slide24.xml" Id="R436ad4342f224b6f" /><Relationship Type="http://schemas.openxmlformats.org/officeDocument/2006/relationships/slide" Target="/ppt/slides/slide25.xml" Id="R1157be00fe834890" /><Relationship Type="http://schemas.openxmlformats.org/officeDocument/2006/relationships/slide" Target="/ppt/slides/slide26.xml" Id="R4441c8bc5ffb4dfb" /><Relationship Type="http://schemas.openxmlformats.org/officeDocument/2006/relationships/slide" Target="/ppt/slides/slide27.xml" Id="R49c9bb98418c43c8" /><Relationship Type="http://schemas.openxmlformats.org/officeDocument/2006/relationships/slide" Target="/ppt/slides/slide28.xml" Id="R095f104d6d424325" /><Relationship Type="http://schemas.openxmlformats.org/officeDocument/2006/relationships/slide" Target="/ppt/slides/slide29.xml" Id="R6cc67cb3b2d44904" /><Relationship Type="http://schemas.openxmlformats.org/officeDocument/2006/relationships/slide" Target="/ppt/slides/slide30.xml" Id="R0f0b4065cc4346c9" /><Relationship Type="http://schemas.openxmlformats.org/officeDocument/2006/relationships/slide" Target="/ppt/slides/slide31.xml" Id="Ra71ecd0da0544f72" /><Relationship Type="http://schemas.openxmlformats.org/officeDocument/2006/relationships/slide" Target="/ppt/slides/slide32.xml" Id="R958ac2111ecb4b03" /><Relationship Type="http://schemas.openxmlformats.org/officeDocument/2006/relationships/slide" Target="/ppt/slides/slide33.xml" Id="R5975517aa09f480e" /><Relationship Type="http://schemas.openxmlformats.org/officeDocument/2006/relationships/slide" Target="/ppt/slides/slide34.xml" Id="R2e24270001804d29" /><Relationship Type="http://schemas.openxmlformats.org/officeDocument/2006/relationships/slide" Target="/ppt/slides/slide35.xml" Id="R02d22e8efbaa4ba3" /><Relationship Type="http://schemas.openxmlformats.org/officeDocument/2006/relationships/slide" Target="/ppt/slides/slide36.xml" Id="R3fffef71fb554a12" /><Relationship Type="http://schemas.openxmlformats.org/officeDocument/2006/relationships/slide" Target="/ppt/slides/slide37.xml" Id="R8ec0bbe7d6314f9f" /><Relationship Type="http://schemas.openxmlformats.org/officeDocument/2006/relationships/slide" Target="/ppt/slides/slide38.xml" Id="Rec8f23952ed44a71" /><Relationship Type="http://schemas.openxmlformats.org/officeDocument/2006/relationships/slide" Target="/ppt/slides/slide39.xml" Id="R1b5db742e51f46e9" /><Relationship Type="http://schemas.openxmlformats.org/officeDocument/2006/relationships/slide" Target="/ppt/slides/slide40.xml" Id="Rf8789256b10e4c86" /><Relationship Type="http://schemas.openxmlformats.org/officeDocument/2006/relationships/slide" Target="/ppt/slides/slide41.xml" Id="R478ed7feca73491e" /><Relationship Type="http://schemas.openxmlformats.org/officeDocument/2006/relationships/slide" Target="/ppt/slides/slide42.xml" Id="Ra8c0c41bf0b94201" /><Relationship Type="http://schemas.openxmlformats.org/officeDocument/2006/relationships/slide" Target="/ppt/slides/slide43.xml" Id="R9664426fd0b345ec" /><Relationship Type="http://schemas.openxmlformats.org/officeDocument/2006/relationships/slide" Target="/ppt/slides/slide44.xml" Id="R44c4e9141b5d42e2" 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权重（%）</c:v>
                </c:pt>
              </c:strCache>
            </c:strRef>
          </c:tx>
          <c:spPr>
            <a:solidFill>
              <a:srgbClr val="224E88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意图</c:v>
                </c:pt>
                <c:pt idx="1">
                  <c:v>空域</c:v>
                </c:pt>
                <c:pt idx="2">
                  <c:v>高度</c:v>
                </c:pt>
                <c:pt idx="3">
                  <c:v>行为</c:v>
                </c:pt>
                <c:pt idx="4">
                  <c:v>趋势</c:v>
                </c:pt>
                <c:pt idx="5">
                  <c:v>合规</c:v>
                </c:pt>
                <c:pt idx="6">
                  <c:v>集群</c:v>
                </c:pt>
                <c:pt idx="7">
                  <c:v>机型</c:v>
                </c:pt>
                <c:pt idx="8">
                  <c:v>载荷</c:v>
                </c:pt>
                <c:pt idx="9">
                  <c:v>飞手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6</c:v>
                </c:pt>
                <c:pt idx="5">
                  <c:v>12</c:v>
                </c:pt>
                <c:pt idx="6">
                  <c:v>7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1001"/>
        <c:axId val="1002"/>
      </c:barChart>
      <c:catAx>
        <c:axId val="1001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600">
                <a:latin typeface="Microsoft YaHei"/>
                <a:ea typeface="Microsoft YaHei"/>
                <a:cs typeface="Microsoft YaHei"/>
              </a:defRPr>
            </a:pPr>
          </a:p>
        </c:txPr>
        <c:crossAx val="100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002"/>
        <c:scaling>
          <c:max val="20.0"/>
          <c:min val="0.0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500">
                <a:latin typeface="Microsoft YaHei"/>
                <a:ea typeface="Microsoft YaHei"/>
                <a:cs typeface="Microsoft YaHei"/>
              </a:defRPr>
            </a:pPr>
          </a:p>
        </c:txPr>
        <c:crossAx val="1001"/>
        <c:crosses val="autoZero"/>
        <c:majorUnit val="5.0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  <a:cs typeface="Microsoft YaHei"/>
        </a:defRPr>
      </a:pPr>
      <a:endParaRPr lang="en-US">
        <a:latin typeface="Microsoft YaHei"/>
        <a:ea typeface="Microsoft YaHei"/>
        <a:cs typeface="Microsoft YaHei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分散布局</c:v>
                </c:pt>
              </c:strCache>
            </c:strRef>
          </c:tx>
          <c:spPr>
            <a:ln w="29209">
              <a:solidFill>
                <a:srgbClr val="224E88"/>
              </a:solidFill>
            </a:ln>
          </c:spPr>
          <c:marker>
            <c:symbol val="circle"/>
            <c:size val="7"/>
            <c:spPr>
              <a:solidFill>
                <a:srgbClr val="224E88"/>
              </a:solidFill>
              <a:ln>
                <a:solidFill>
                  <a:srgbClr val="224E88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65.82</c:v>
                </c:pt>
                <c:pt idx="1">
                  <c:v>280.91</c:v>
                </c:pt>
                <c:pt idx="2">
                  <c:v>579.88</c:v>
                </c:pt>
                <c:pt idx="3">
                  <c:v>1181.71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密集布局</c:v>
                </c:pt>
              </c:strCache>
            </c:strRef>
          </c:tx>
          <c:spPr>
            <a:ln w="29209">
              <a:solidFill>
                <a:srgbClr val="087F70"/>
              </a:solidFill>
            </a:ln>
          </c:spPr>
          <c:marker>
            <c:symbol val="circle"/>
            <c:size val="7"/>
            <c:spPr>
              <a:solidFill>
                <a:srgbClr val="087F70"/>
              </a:solidFill>
              <a:ln>
                <a:solidFill>
                  <a:srgbClr val="087F70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67.78</c:v>
                </c:pt>
                <c:pt idx="1">
                  <c:v>247.18</c:v>
                </c:pt>
                <c:pt idx="2">
                  <c:v>466.34</c:v>
                </c:pt>
                <c:pt idx="3">
                  <c:v>935.11</c:v>
                </c:pt>
              </c:numCache>
            </c:numRef>
          </c:yVal>
          <c:smooth val="0"/>
        </c:ser>
        <c:axId val="1001"/>
        <c:axId val="1002"/>
      </c:scatterChart>
      <c:valAx>
        <c:axId val="1001"/>
        <c:scaling>
          <c:orientation val="minMax"/>
          <c:max val="220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sz="1600" b="0">
                    <a:solidFill>
                      <a:srgbClr val="1E293B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00">
                    <a:latin typeface="Microsoft YaHei"/>
                    <a:ea typeface="Microsoft YaHei"/>
                    <a:cs typeface="Microsoft YaHei"/>
                  </a:rPr>
                  <a:t>目标数（架）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500">
                <a:latin typeface="Microsoft YaHei"/>
                <a:ea typeface="Microsoft YaHei"/>
                <a:cs typeface="Microsoft YaHei"/>
              </a:defRPr>
            </a:pPr>
          </a:p>
        </c:txPr>
        <c:crossAx val="1002"/>
        <c:crosses val="autoZero"/>
        <c:crossBetween val="midCat"/>
        <c:majorUnit val="50.0"/>
      </c:valAx>
      <c:valAx>
        <c:axId val="1002"/>
        <c:scaling>
          <c:orientation val="minMax"/>
          <c:max val="14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sz="1600" b="0">
                    <a:solidFill>
                      <a:srgbClr val="1E293B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00">
                    <a:latin typeface="Microsoft YaHei"/>
                    <a:ea typeface="Microsoft YaHei"/>
                    <a:cs typeface="Microsoft YaHei"/>
                  </a:rPr>
                  <a:t>P95（ms）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500">
                <a:latin typeface="Microsoft YaHei"/>
                <a:ea typeface="Microsoft YaHei"/>
                <a:cs typeface="Microsoft YaHei"/>
              </a:defRPr>
            </a:pPr>
          </a:p>
        </c:txPr>
        <c:crossAx val="1001"/>
        <c:crosses val="autoZero"/>
        <c:crossBetween val="midCat"/>
        <c:majorUnit val="200.0"/>
      </c:valAx>
    </c:plotArea>
    <c:legend>
      <c:legendPos val="b"/>
      <c:layout/>
      <c:overlay val="0"/>
      <c:txPr>
        <a:bodyPr/>
        <a:lstStyle/>
        <a:p>
          <a:pPr>
            <a:defRPr sz="1600">
              <a:latin typeface="Microsoft YaHei"/>
              <a:ea typeface="Microsoft YaHei"/>
              <a:cs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500">
          <a:latin typeface="Microsoft YaHei"/>
          <a:ea typeface="Microsoft YaHei"/>
          <a:cs typeface="Microsoft YaHei"/>
        </a:defRPr>
      </a:pPr>
      <a:endParaRPr lang="en-US">
        <a:latin typeface="Microsoft YaHei"/>
        <a:ea typeface="Microsoft YaHei"/>
        <a:cs typeface="Microsoft YaHei"/>
      </a:endParaRPr>
    </a:p>
  </c:txPr>
  <c:externalData r:id="rId1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05c7fd562c4d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4eb9f325814652" /><Relationship Type="http://schemas.openxmlformats.org/officeDocument/2006/relationships/notesMaster" Target="/ppt/notesMasters/notesMaster1.xml" Id="R5eb2c047d51f49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ff62e7ece74db2" /><Relationship Type="http://schemas.openxmlformats.org/officeDocument/2006/relationships/notesMaster" Target="/ppt/notesMasters/notesMaster1.xml" Id="Re6b17d7a221a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82fa01d9547b3" /><Relationship Type="http://schemas.openxmlformats.org/officeDocument/2006/relationships/notesMaster" Target="/ppt/notesMasters/notesMaster1.xml" Id="R355908130f7646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449e90177d47d2" /><Relationship Type="http://schemas.openxmlformats.org/officeDocument/2006/relationships/notesMaster" Target="/ppt/notesMasters/notesMaster1.xml" Id="Rda5cb1c284fc4b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242df7e637434a" /><Relationship Type="http://schemas.openxmlformats.org/officeDocument/2006/relationships/notesMaster" Target="/ppt/notesMasters/notesMaster1.xml" Id="R7b9c656602744c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8e91c67f242f3" /><Relationship Type="http://schemas.openxmlformats.org/officeDocument/2006/relationships/notesMaster" Target="/ppt/notesMasters/notesMaster1.xml" Id="R4930cbadebc24f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af44b47fb54316" /><Relationship Type="http://schemas.openxmlformats.org/officeDocument/2006/relationships/notesMaster" Target="/ppt/notesMasters/notesMaster1.xml" Id="Rbe4404d5313349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b61fabf6c1422f" /><Relationship Type="http://schemas.openxmlformats.org/officeDocument/2006/relationships/notesMaster" Target="/ppt/notesMasters/notesMaster1.xml" Id="Rfc8b902dfaf044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8265a25c534394" /><Relationship Type="http://schemas.openxmlformats.org/officeDocument/2006/relationships/notesMaster" Target="/ppt/notesMasters/notesMaster1.xml" Id="Rdb7089d6fd794b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3a85c39aa34a94" /><Relationship Type="http://schemas.openxmlformats.org/officeDocument/2006/relationships/notesMaster" Target="/ppt/notesMasters/notesMaster1.xml" Id="R531b6098d50148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abe9ce5a1e4fa4" /><Relationship Type="http://schemas.openxmlformats.org/officeDocument/2006/relationships/notesMaster" Target="/ppt/notesMasters/notesMaster1.xml" Id="R33e4477db0964c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46ba47e2a940b7" /><Relationship Type="http://schemas.openxmlformats.org/officeDocument/2006/relationships/notesMaster" Target="/ppt/notesMasters/notesMaster1.xml" Id="R0c02473641074e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b0610c58804b6e" /><Relationship Type="http://schemas.openxmlformats.org/officeDocument/2006/relationships/notesMaster" Target="/ppt/notesMasters/notesMaster1.xml" Id="Rd1a6386ff30340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eb3ce9e85b4906" /><Relationship Type="http://schemas.openxmlformats.org/officeDocument/2006/relationships/notesMaster" Target="/ppt/notesMasters/notesMaster1.xml" Id="Rdc6dcbdc4fc742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392051bcfb4f99" /><Relationship Type="http://schemas.openxmlformats.org/officeDocument/2006/relationships/notesMaster" Target="/ppt/notesMasters/notesMaster1.xml" Id="R84481f3cc1014a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d3c66397a14003" /><Relationship Type="http://schemas.openxmlformats.org/officeDocument/2006/relationships/notesMaster" Target="/ppt/notesMasters/notesMaster1.xml" Id="R06aef465c8f444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3f61eb9ced4f5d" /><Relationship Type="http://schemas.openxmlformats.org/officeDocument/2006/relationships/notesMaster" Target="/ppt/notesMasters/notesMaster1.xml" Id="Rdddafec79f6943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2ad7e510564698" /><Relationship Type="http://schemas.openxmlformats.org/officeDocument/2006/relationships/notesMaster" Target="/ppt/notesMasters/notesMaster1.xml" Id="R5659ee95ae804a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c166cf54534169" /><Relationship Type="http://schemas.openxmlformats.org/officeDocument/2006/relationships/notesMaster" Target="/ppt/notesMasters/notesMaster1.xml" Id="R33e0f5cbf66043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50e0082e3684585" /><Relationship Type="http://schemas.openxmlformats.org/officeDocument/2006/relationships/notesMaster" Target="/ppt/notesMasters/notesMaster1.xml" Id="R9bd697a254734d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a1d3cb5c1844b2" /><Relationship Type="http://schemas.openxmlformats.org/officeDocument/2006/relationships/notesMaster" Target="/ppt/notesMasters/notesMaster1.xml" Id="Rf74d2d1333e445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b3e904cc43458f" /><Relationship Type="http://schemas.openxmlformats.org/officeDocument/2006/relationships/notesMaster" Target="/ppt/notesMasters/notesMaster1.xml" Id="R0123e93ee4764f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2b1f07fdda04716" /><Relationship Type="http://schemas.openxmlformats.org/officeDocument/2006/relationships/notesMaster" Target="/ppt/notesMasters/notesMaster1.xml" Id="R7bcbab4d67e140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4c11e6defb431d" /><Relationship Type="http://schemas.openxmlformats.org/officeDocument/2006/relationships/notesMaster" Target="/ppt/notesMasters/notesMaster1.xml" Id="Re91c327d688448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ef24ba445940c1" /><Relationship Type="http://schemas.openxmlformats.org/officeDocument/2006/relationships/notesMaster" Target="/ppt/notesMasters/notesMaster1.xml" Id="R91787c49f6b14e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5dd811f89b428d" /><Relationship Type="http://schemas.openxmlformats.org/officeDocument/2006/relationships/notesMaster" Target="/ppt/notesMasters/notesMaster1.xml" Id="R47af967c09b446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b6c9048f984dd8" /><Relationship Type="http://schemas.openxmlformats.org/officeDocument/2006/relationships/notesMaster" Target="/ppt/notesMasters/notesMaster1.xml" Id="R627f431c2611454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cf285be44e4bc1" /><Relationship Type="http://schemas.openxmlformats.org/officeDocument/2006/relationships/notesMaster" Target="/ppt/notesMasters/notesMaster1.xml" Id="Re7c0cfa04ea8445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8e1509ff5ca41f5" /><Relationship Type="http://schemas.openxmlformats.org/officeDocument/2006/relationships/notesMaster" Target="/ppt/notesMasters/notesMaster1.xml" Id="R39d0f38ddacc446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ad15be262a04d87" /><Relationship Type="http://schemas.openxmlformats.org/officeDocument/2006/relationships/notesMaster" Target="/ppt/notesMasters/notesMaster1.xml" Id="R28b3957e731546b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3311dd5eefa4519" /><Relationship Type="http://schemas.openxmlformats.org/officeDocument/2006/relationships/notesMaster" Target="/ppt/notesMasters/notesMaster1.xml" Id="Rbed1033cd2164a4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27c36b0750e43f9" /><Relationship Type="http://schemas.openxmlformats.org/officeDocument/2006/relationships/notesMaster" Target="/ppt/notesMasters/notesMaster1.xml" Id="R58c6a160505949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0a204e32ea74703" /><Relationship Type="http://schemas.openxmlformats.org/officeDocument/2006/relationships/notesMaster" Target="/ppt/notesMasters/notesMaster1.xml" Id="R5733c82fe7ff4a2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400990da2aa4fc6" /><Relationship Type="http://schemas.openxmlformats.org/officeDocument/2006/relationships/notesMaster" Target="/ppt/notesMasters/notesMaster1.xml" Id="Rb1d1154d77e8434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a8e85ee513b4e7b" /><Relationship Type="http://schemas.openxmlformats.org/officeDocument/2006/relationships/notesMaster" Target="/ppt/notesMasters/notesMaster1.xml" Id="Rb7c7961aa42b4e1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49bd09f66354c9e" /><Relationship Type="http://schemas.openxmlformats.org/officeDocument/2006/relationships/notesMaster" Target="/ppt/notesMasters/notesMaster1.xml" Id="Rbffa72c3bc34415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469474d832c4bdc" /><Relationship Type="http://schemas.openxmlformats.org/officeDocument/2006/relationships/notesMaster" Target="/ppt/notesMasters/notesMaster1.xml" Id="R974b88757b034bf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c923534dae74fba" /><Relationship Type="http://schemas.openxmlformats.org/officeDocument/2006/relationships/notesMaster" Target="/ppt/notesMasters/notesMaster1.xml" Id="Re38885d3cfa74fa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8086f7ea52240f8" /><Relationship Type="http://schemas.openxmlformats.org/officeDocument/2006/relationships/notesMaster" Target="/ppt/notesMasters/notesMaster1.xml" Id="R5bbc52f5d35646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001a46c8e344dc1" /><Relationship Type="http://schemas.openxmlformats.org/officeDocument/2006/relationships/notesMaster" Target="/ppt/notesMasters/notesMaster1.xml" Id="Raf893c8c8805462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d5b937c71b944df" /><Relationship Type="http://schemas.openxmlformats.org/officeDocument/2006/relationships/notesMaster" Target="/ppt/notesMasters/notesMaster1.xml" Id="R1a97ebb6d486405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48ba4e82ee0435b" /><Relationship Type="http://schemas.openxmlformats.org/officeDocument/2006/relationships/notesMaster" Target="/ppt/notesMasters/notesMaster1.xml" Id="R48340ad0712f456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a70fafbfd3e4306" /><Relationship Type="http://schemas.openxmlformats.org/officeDocument/2006/relationships/notesMaster" Target="/ppt/notesMasters/notesMaster1.xml" Id="Rdfac25e444964e8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62e84e45ff24608" /><Relationship Type="http://schemas.openxmlformats.org/officeDocument/2006/relationships/notesMaster" Target="/ppt/notesMasters/notesMaster1.xml" Id="Rb35e8a82443d4d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围绕现有可获得数据，解释从轨迹、身份和地图到群体、队形、意图、评分与辅助评估的计算过程。重点讲清方法原理、项目适配和验证范围。正文34页，附录10页。算法功能与性能结果分别标注证据，不把仿真性能当作真实识别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取材：本地实现基线 · v3.2 · situation-rule-v2.3.0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任务从上游已形成的观测轨迹开始。我们需要判定成员关系、几何队形、空间关系和业务风险，并输出可复核证据。当前不承担原始雷达、图像和射频信号的底层检测融合。方法选择首先服从可用数据，而不是为每个环节都引入复杂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案例含13条轨迹，身份关联源与白名单各4条，飞行计划为空。地图由请求提供3个设施和3个圈层，未提供探测和防御资源。这页区分协议支持与当前样本实际具备的信息。公司长期供数条件仍需联调确认，缺失输入会限制对应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§3.1；同次case_request.json；公司持续供数条件需另行确认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分析在聚类前执行，形成每个目标的SpatialContext；身份和计划豁免也在聚类前逐目标执行。非豁免无人机进入短窗聚类、群内对齐、PointNet和行为提取。意图及评分分别处理群体与成员，共享空间依据和请求局部特征。最后生成辅助评估、证据与诊断。每次请求自带历史，不等于跨请求持续跟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§2.2–§2.4；子算法、模型与中间产物在下一页展开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份关联以目标ID绑定的规范化SN为主轴，关联设备、飞手、白名单和计划。完整度衡量四项信息是否存在，有效性则检查状态与时间。过期记录依然是存在的证据。同SN多条有效设备记录会拒绝请求；重复有效白名单或型号冲突会禁用相应豁免，并留下诊断。登记未知与明确未登记分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取材：v32_gateway.py normalize_identity_source；本轮身份分支回归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先经过有效白名单、演练允许清单和飞行计划判断，按此优先级选择豁免原因。飞行计划需要身份时间、当前位置航线容差与高度匹配，多条命中按横向偏差、申报时间和ID排序。长窗计划匹配分是航线和高度同时匹配的点数比例，用于合规意图证据，不等同豁免所需的全窗门槛。合法目标在聚类前移出，避免为邻近未报备目标一并豁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取材：engine.py _target_exemption / _plan_match_score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倒序拒绝，相同时间戳保留最后完整观测，位置相同但时间不同的点必须保留以表达悬停。意图窗口为120秒最多240点，适配器通常使用末12点，聚类最多11个有效运动段。AGL和AMSL必须按可用高程换算。公共时间为毫秒，适配器转秒；聚类和队形使用UTM平面坐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§3.3、§4.1；F02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轨迹可产生不同用途的统计量。引擎速度取近期段平均，聚类采用稳健中位数；跨度、直线度、悬停和设施趋近又有各自窗口。表中的14.52米每秒、69.57米与近1直线度来自同次agent_2_0记录。特征进入候选规则，不能仅凭一个直线度值就判定真实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§4；同次case_trace.json；示例为agent_2_0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几何分析同时考虑圆与多边形、最近边界、当前内外关系和高度匹配。趋势回归使用实际时间而非点序号。距离是到边界的非负距离，在区域外下降表示接近边界，在区域内下降表示向出口运动。只有运动条件满足时才推算边界穿越时间，未知高度不会被强行判为命中。右图是解释性数据，不能当独立测试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取材：airspace_analysis.py horizontal_relation / _trend / _movement_relation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命中有效区域时形成相关候选；外部目标按所属防控空域最外warning边界衡量默认5000米关联范围。命中候选按严重程度优先，未命中候选按最近边界优先，再用稳定ID消除并列。主区域、所属空域与关联设施不是同一个字段。缺warning按可用圈层回退。高度未知时保留不确定性，不能错误落到已知不相关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取材：airspace_analysis.py _evaluate_target / _candidate_key / _spatial_context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群体内不同成员可能关联不同设施。引擎先选主空间上下文，再限定其空间评分成员集合。不能用设施A的趋近特征、设施B的距离和另一区域的命中拼成一个高风险结论。若圈层未明确绑定设施，仅在无竞争候选且全图只有一个设施时允许兼容回退，多设施情况下不会随意找全图最近者。这里的图是方法反例，实际状态还由高度和有效期共同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取材：engine.py _spatial_context_key / _same_primary_context / _facilities_for_context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由轨迹计算标准化复合距离，再用预计算矩阵执行DBSCAN。当前min_samples为1，自身在邻域内，因此每个有效目标都能成为核心点，孤立目标也成簇。对当前对称距离矩阵，可将结果理解为阈值邻接图的连通分量。注意链式连接可能将端点距离较远的目标连接在同一簇。右图是算法解释图，阈值是归一化复合距离，不是地图米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取材：clusters_recognition.py _make_clustering；Ester等 KDD 1996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窗口中有效水平速度用中位数，单位方向用逐分量中位数后归一化，最多11段。低速时方向可靠度下降，启停速度过渡或明显转向会暂时关闭相应差异。成对可靠度取两目标可靠度最小值。这样一方方向未知时，不会因为零向量编码反而产生伪差异。位置尺度、方向尺度和速度尺度分别归一化，参数是当前配置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取材：clusters_recognition.py _robust_motion_components / _pairwise_feature_distances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来自已有回归固定输入的真实执行。第一组一个目标最后一帧转向，方向可靠度归零但仍与稳定同伴成组。第二组悬停和缓行，方向不被强行放大。第三组持续相反方向，运动差异稳定存在，应分为两个单机簇。显示的是这三例的行为，不是大样本聚类准确率。本轮选定12项回归通过，与历史103项存在重叠，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取材：method_evidence.json；现行SplitClusters；本轮实际执行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所有颜色始终表示相同成员，来自同次五成员案例。先取群内共同时间戳的前后两个位置集合，用平均位移估计方向，随后旋转到统一方向、均值居中和最大绝对坐标归一化。前帧主要用于方向计算，网络实际输入是当前二维点集。各子图独立等比缩放，所以尺度变化应由标注解释，不能从图上直接比较距离。归一化结果与正式类BasicFormProc逐点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取材：method_evidence.json pointnet；BasicFormProc；同次五成员输入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按实际forward绘制。输入张量为B乘N乘2，先转置后依次经过三层核大小1的卷积，各层带BN和ReLU。每点共享同一组权重，保留N个点的128维特征。lengths掩码把填充位置从最大池化中排除，聚合为B乘128。分类头使用128维全连接、ReLU、Dropout0.3及五类输出。推理在eval模式关闭Dropout，通常逐群B为1。本网络没有T-Net，参数总数51333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取材：PointNetClassifier.forward；input=2，hidden=128，classes=5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保留变长点集训练代码：独立训练和评估文件，补齐与长度掩码，交叉熵，Adam和基于验证损失的学习率调度，并输出分类报告与混淆矩阵。这说明训练方法可追溯，但本轮没有重训，也没有找到足以确认当前权重90.5%准确率的成套记录。当前实际可报告的是权重、架构、参数量、固定案例输出，以及一个成员逆序的一致性检查。逆序最大logits差约9.54e-7属于浮点量级，不等于严格逐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取材：Origin fit_on_data / eval_accuracy；当前权重20260812_200622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特征帧汇集身份、运动、空间和群体信息。19项启用规则各自生成候选，记录触发成员、优先级、confidence和完整度。候选先按优先级、再按置信和完整度排序，最后用代码稳定消除并列。同意图去重后选最强项。I-13可以由圈层命中支持，I-29需要身份来源不可用。规则评分是可解释排序量，不是动机的真实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§8.1–§8.2、§8.5；F06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-24以轨迹末时刻为基准构造五个历史评估时刻，每个时刻仅看当时已存在的观测。旧端点不能重复计票，缺失和断档不能补成命中。有效票、命中票与最新运动门控共同决定现行规则输出。此处解释已有规则的因果时间设计，测试通过证明编码场景下的边界行为，不证明真实场景误报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§8.3；F07；以下为方法示意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群体一致性综合同设施、趋近成员比例、航向离散度与ETA离散度。它是当前启发式特征组合，几何队形不能单独证明协同行为。成员的意图和威胁仍独立计算，不把群体结论复制给每个目标。对于缺失时间或设施信息应保留不可用状态；本页参数是当前规则定义，需要独立标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§8.4；F08；启发式而非通信图模型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维分数先按配置权重加权，随后处理飞手偏置、置信调整、截断取整、硬规则抬底与空间作用域。顺序会影响结果，不能简单把所有修正相加。空间不可用需要保守复核，与已知不相关不同。主意图优先级、规则置信、威胁分数是三类不同量。权重是当前规则配置，不是学习得到的最优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取材：engine.py _threat；project_reference §9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成员组的十维加权值为45.65，当前置信修正和硬规则抬底均为0，取整得到46分mid。另一四成员组加权32.23，得到32分low。所有维度来自同次响应，图中的权重与代码一致。这个算例验证评分链可复算，不是人工专家对风险等级的独立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§9；同次案例加权45.65、取整46；完整公式见A7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边界时间来自对边界距离随真实时间的回归，仅在满足趋近或离开条件时估计。设施ETA优先采用适配器的有效同设施估计，它使用最近3点距离变化和取用窗口平均采样间隔。若没有有效值，主引擎在空间相关、设施明确、趋近与有效速度条件满足时，以主设施距离除以作用域最大速度回退。两种设施量多成员汇总可能不是同一成员的距离速度组合，属于近似。没有依据时返回null，不能统归因为缺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取材：airspace_analysis.py；intention_recognition.py:429；engine.py:2103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以群体成员经纬度均值作为代表点，检查启用设备的有效半径。覆盖集合中的输入探测概率按失败乘积的补集组合，采用独立事件形式，但独立性和概率均未实测校准。图中特意放置覆盖外成员，说明代表点被覆盖不等于每个成员被覆盖。缺设备是unavailable，有设备但没覆盖则可以计算为不足，二者不混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取材：defense_analysis.py _cluster_point / _detection_vulnerability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有评估先按群体威胁等级与分数排序；资源候选检查状态、范围和有ETA时的响应条件，之后按响应时间和距离排序。逐群按成员需求取可用数量，本次请求内扣减余量。当前是启发式辅助评估，没有跨请求库存事务或全局最优保证。successRate采用旧公式适配，本页只说明定义，不把它当成实测装备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取材：defense_analysis.py evaluate / _allocate_defense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出按群体、成员、空间关系、辅助状态与诊断组织。群体成员列表、队形、主意图和威胁评分由各自方法形成。证据保留触发成员与观测量，缺失输入和降级原因也属于结果。事件建议由规则与业务约束共同生成，输出建议并不表示执行真实装备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§11.1；公共响应字段映射见本页备注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贯穿案例保持同一个requestId。13个目标中4个有效白名单成员聚类前豁免，其余9个划分成5成员与4成员两组。PointNet两组输出vshape，主意图分别I-13与I-29，评分分别46和32。此例没有探测设备和资源，也缺有效设施ETA，辅助状态需如实保留。图中的成员位置来自实际末点，各组独立等比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取材：同次case_request／case_response／case_trace；vectorized模式，CPU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针对新方法图选取12项已有回归实际执行，覆盖三种聚类行为、身份状态和重复记录、白名单冲突、计划偏离、合法成员不能豁免邻近目标，以及资源完整或缺失时的输出。全部通过。它们与历史103项重叠，不累加。这里的分支结果来自测试断言；完整资源分支是独立测试夹具，不是13目标贯穿案例的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取材：method_evidence.json regression；本轮12项定向回归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化对应明确计算位置：行为特征批处理、跨度矩阵化、请求内特征缓存，以及回退分组候选的KD-tree。稳健聚类和空间一致性属于方法适配，不能与计算提速混为同一种证据。实际启用依赖VECTORIZED_FEATURES配置，Docker和本次取证启用向量化，直接Python启动默认可能走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§12.5；Word第18.1–18.7节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有性能实验为4种规模、3种输入窗口和2种布局，共24组合，3个种子共72输入。576次正式计时和144次预热均为Flask进程内串行热态，CPU32逻辑核、PyTorch16线程。窗口输入点数与算法实际保留点数不同：1Hz下240输入点经过120秒裁剪后通常保留121点，适配器末12点。不是网络并发或完整冷启动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§12.5；results.json；生成器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由P95图保留真实数值横轴10、50、100、200。在120输入点条件下，100目标P95约466到580毫秒，200目标约935到1182毫秒。这些是已有2026年10月23日数据，本轮没有重跑性能矩阵。应结合部署机器、并发与目标阈值解释，不能仅据此判定生产达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取材：results.json：api[window=120].route；最近秩P95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跨度向量化在直接120和240点组件测量约20和24倍，仍为平方复杂度。请求内缓存减少重复特征计算，100目标条件下路由中位约下降16%。KD-tree稀疏回退加速而密集退化。行为批量提取有明显提速，但加减速、转向与置信字段存在差异，最终意图尚未证明等价。模块收益不能乘起来当整体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取材：results.json：components、cacheComparison；缓存差异复核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开看功能回归、计算性能、优化输出一致性和独立效果。历史103项通过与本轮12项定向回归有重叠，不相加。仿真计时说明特定负载下的计算可行性；没有独立标注就不能给出真实聚类ARI、队形F1、意图误报率、风险校准或ETA误差。下一阶段应固定场景真值和拆分规则，对算法逐项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取材：定向回归结果.json；results.json；同次案例；参考 §12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阶段贡献由基础模型复用、数据条件适配、可解释判读和计算优化组成。适配重点包括身份冲突与逐目标豁免、可靠度距离、群内时间对齐和统一空间作用域。接下来优先补独立真值效果评价、模型训练记录以及部署并发条件。方法原理、工程代码与已有结果已经能够对应，仍需按真实供数和业务要求验证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§13；代码、模型、配置和输入哈希见案例回执与性能材料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本表便于追溯主要参数。DBSCAN和PointNet的方法出处分别为Ester等KDD1996与Qi等CVPR2017。本项目使用可靠度距离和二维PointNet适配，论文性能不代表当前服务性能。配置参数是当前基线，不能称为各场景最优值。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§15；代码配置与文献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这页保留异常和冲突语义。计划匹配包括时间、身份、当前位置路线和高度；长窗匹配比例另作合规证据。优先级选择原因不抹去其余命中记录。完整度和有效性分开，以免过期记录被误认为没有来源。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取材：v32_gateway.py；engine.py _target_exemption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距离矩阵先完整构造，所以不能将正常路径描述成KD-tree的复杂度。min_samples为1时邻域连通可解释结果，但不保证任意两簇内成员都两两接近。伪代码与本地实现一致，不额外添加跨请求标签平滑。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取材：SplitClusters；当前参数；正常DBSCAN与回退分组分别计量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量按所有可训练参数求和，共51333，BN运行统计不是参数。三层共享逐点卷积对应384、16512和16512参数，三层BN总768，两个全连接分别16512和645。训练代码存在不意味着当前权重的完整训练记录已经核实，数据划分和独立测试还需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取材：PointNetClassifier；本轮parameterCount；Origin训练代码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区域已命中、外部关联范围、高度未知与设施绑定是不同判断。当前实现保留scope和uncertainty标志。irrelevant表示已知超出本地关联，unavailable表示无法确定，不能把两者都当成安全或低风险。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取材：airspace_analysis.py；engine.py空间作用域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业务目录保留30个代码，当前启用19项，I-28禁用。原定义和当前行为并列保留，避免修改文档后失去需求追溯。规则标签表示现行观测判据，不直接断言真实动机；空业务代码仍可能有法定禁飞区特殊结论。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§8.2、§14.3；原需求与当前行为分列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这页保留精确计算顺序供答疑：加权和飞手偏置、置信调整、截断取整、硬规则、空间限制。等级阈值是当前配置。ETA的三条计算路径在正文23页单独展示，避免与评分公式混为同一量。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§9.2–§9.3；F09–F11；原生Office Math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资源分配最多取成员需求数量。数量不足时评估值为0；多成员且足量时分配数与成员数比为1，旧公式在当前路径化简为平均输入单元概率。因此不能凭successRate名称称其为全群成功概率。缺资源、无覆盖和能力不足必须按各自状态解释。该模型需要标定；当前仅用于基础辅助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取材：defense_analysis.py；代码代数核对与已有回归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全部24种组合，避免只选最佳结果。缓存差异原始记录为False，后续审计定位到debug.generatedAt，排除该动态诊断字段后算法data一致。直接组件测量窗口与正式适配器窗口不同，不能混用。完整原始数据位于results.json和cache_difference_audi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取材：results.json/api；cache_difference_audit.json；单位ms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需要不同于训练数据和现有回归夹具的独立场景真值。聚类看误合并与误拆分，队形看混淆矩阵及F1，意图看精确率召回率与误报，ETA看误差和可用率。性能按冷启动、热态、并发和网络分层测量。拟开展实验不放入已测结果表，不以接口成功率代替算法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§12.3–§12.5；不填写未测准确率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22a0b9ef640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7409fa50f43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c6e3b7ee24a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cb075e00345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76abd81d24f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e35392a4943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D08F2B-B59F-4FE9-9FEA-B7AAB009B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974D34-CA19-4C5C-918B-6804694FF2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424200-7EF7-43D7-88D2-8CAA68A52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ECDFB1-6FD0-4728-8467-B0C961A5D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4707F9-8B26-4234-A3B4-A428431B55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B6D264-E241-444E-AE89-2496B89B5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49ABA7-C2FA-4B18-98E7-6FD3ED3630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FD1B15-4EDD-4734-86E9-B8D3605DBE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95F787-DE60-43E2-B6E6-0DC76C73D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AC242D-A602-4D4F-A4F3-E801B0500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1bd627cac44d55" /><Relationship Type="http://schemas.openxmlformats.org/officeDocument/2006/relationships/slideLayout" Target="/ppt/slideLayouts/slideLayout1.xml" Id="R5704dc7f79da4460" /><Relationship Type="http://schemas.openxmlformats.org/officeDocument/2006/relationships/slideLayout" Target="/ppt/slideLayouts/slideLayout2.xml" Id="Rf0c12384d3be4abe" /><Relationship Type="http://schemas.openxmlformats.org/officeDocument/2006/relationships/slideLayout" Target="/ppt/slideLayouts/slideLayout3.xml" Id="Rb9bdfe2cd5ee49ab" /><Relationship Type="http://schemas.openxmlformats.org/officeDocument/2006/relationships/slideLayout" Target="/ppt/slideLayouts/slideLayout4.xml" Id="R773767a41af44128" /><Relationship Type="http://schemas.openxmlformats.org/officeDocument/2006/relationships/slideLayout" Target="/ppt/slideLayouts/slideLayout5.xml" Id="Rf6ce1717e90643de" /><Relationship Type="http://schemas.openxmlformats.org/officeDocument/2006/relationships/slideLayout" Target="/ppt/slideLayouts/slideLayout6.xml" Id="R38b3a778b3e64d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4dc7f79da4460"/>
    <p:sldLayoutId xmlns:r="http://schemas.openxmlformats.org/officeDocument/2006/relationships" id="2147483650" r:id="Rf0c12384d3be4abe"/>
    <p:sldLayoutId xmlns:r="http://schemas.openxmlformats.org/officeDocument/2006/relationships" id="2147483651" r:id="Rb9bdfe2cd5ee49ab"/>
    <p:sldLayoutId xmlns:r="http://schemas.openxmlformats.org/officeDocument/2006/relationships" id="2147483652" r:id="R773767a41af44128"/>
    <p:sldLayoutId xmlns:r="http://schemas.openxmlformats.org/officeDocument/2006/relationships" id="2147483653" r:id="Rf6ce1717e90643de"/>
    <p:sldLayoutId xmlns:r="http://schemas.openxmlformats.org/officeDocument/2006/relationships" id="2147483654" r:id="R38b3a778b3e64d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60197343fd044a2"/><Relationship Type="http://schemas.openxmlformats.org/officeDocument/2006/relationships/notesSlide" Target="/ppt/notesSlides/notesSlide1.xml" Id="Rff0df98f130a4bb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6aadcdb6b1f4785"/><Relationship Type="http://schemas.openxmlformats.org/officeDocument/2006/relationships/notesSlide" Target="/ppt/notesSlides/notesSlide2.xml" Id="R4caea85286044109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8136fc73c84072"/><Relationship Type="http://schemas.openxmlformats.org/officeDocument/2006/relationships/notesSlide" Target="/ppt/notesSlides/notesSlide3.xml" Id="Rf95a42f34ece4bcb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b65911eb8f42d7"/><Relationship Type="http://schemas.openxmlformats.org/officeDocument/2006/relationships/notesSlide" Target="/ppt/notesSlides/notesSlide4.xml" Id="R883a31a9c13e42a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29d2cb784074191"/><Relationship Type="http://schemas.openxmlformats.org/officeDocument/2006/relationships/notesSlide" Target="/ppt/notesSlides/notesSlide5.xml" Id="R9a34d9262d5a4484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817e5638e0a4830"/><Relationship Type="http://schemas.openxmlformats.org/officeDocument/2006/relationships/notesSlide" Target="/ppt/notesSlides/notesSlide6.xml" Id="R36ddd7b85c144af7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27ff2f7b3b54504"/><Relationship Type="http://schemas.openxmlformats.org/officeDocument/2006/relationships/notesSlide" Target="/ppt/notesSlides/notesSlide7.xml" Id="R659abd601e164e6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6b341d446d44f03"/><Relationship Type="http://schemas.openxmlformats.org/officeDocument/2006/relationships/notesSlide" Target="/ppt/notesSlides/notesSlide8.xml" Id="R6928b97e137448ea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e10a52392c4a09"/><Relationship Type="http://schemas.openxmlformats.org/officeDocument/2006/relationships/notesSlide" Target="/ppt/notesSlides/notesSlide9.xml" Id="Ra34a412fb3734990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e24c1b7396546a4"/><Relationship Type="http://schemas.openxmlformats.org/officeDocument/2006/relationships/notesSlide" Target="/ppt/notesSlides/notesSlide10.xml" Id="R7b295bd378d14532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ef59e87b03e4bbc"/><Relationship Type="http://schemas.openxmlformats.org/officeDocument/2006/relationships/notesSlide" Target="/ppt/notesSlides/notesSlide11.xml" Id="Rce7f024d39bb4cf4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d17cb6038d4a85"/><Relationship Type="http://schemas.openxmlformats.org/officeDocument/2006/relationships/notesSlide" Target="/ppt/notesSlides/notesSlide12.xml" Id="Rd2c2c855bd7d47c7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3a4bffc69574446"/><Relationship Type="http://schemas.openxmlformats.org/officeDocument/2006/relationships/notesSlide" Target="/ppt/notesSlides/notesSlide13.xml" Id="Rbcc06096a19948b4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127f6807314ed2"/><Relationship Type="http://schemas.openxmlformats.org/officeDocument/2006/relationships/notesSlide" Target="/ppt/notesSlides/notesSlide14.xml" Id="Rba6017132a154f0f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9d686ec74a14ca0"/><Relationship Type="http://schemas.openxmlformats.org/officeDocument/2006/relationships/notesSlide" Target="/ppt/notesSlides/notesSlide15.xml" Id="R07721ffbdc48406c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4c9010462f41f4"/><Relationship Type="http://schemas.openxmlformats.org/officeDocument/2006/relationships/notesSlide" Target="/ppt/notesSlides/notesSlide16.xml" Id="R7d33994446ed47c1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3a855782fc4eff"/><Relationship Type="http://schemas.openxmlformats.org/officeDocument/2006/relationships/notesSlide" Target="/ppt/notesSlides/notesSlide17.xml" Id="R36c177be530e4d31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e9fa7b641f4ad3"/><Relationship Type="http://schemas.openxmlformats.org/officeDocument/2006/relationships/notesSlide" Target="/ppt/notesSlides/notesSlide18.xml" Id="R593191d09b2e4d6f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88a93d16a24b0e"/><Relationship Type="http://schemas.openxmlformats.org/officeDocument/2006/relationships/notesSlide" Target="/ppt/notesSlides/notesSlide19.xml" Id="R8d0cd8ff159a435c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1648007e824206"/><Relationship Type="http://schemas.openxmlformats.org/officeDocument/2006/relationships/notesSlide" Target="/ppt/notesSlides/notesSlide20.xml" Id="R931ad3850ecf4451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fb6e4744ba441d"/><Relationship Type="http://schemas.openxmlformats.org/officeDocument/2006/relationships/notesSlide" Target="/ppt/notesSlides/notesSlide21.xml" Id="Refa7c64d35f643c2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cbcb6194654005"/><Relationship Type="http://schemas.openxmlformats.org/officeDocument/2006/relationships/notesSlide" Target="/ppt/notesSlides/notesSlide22.xml" Id="R4b7da7c4a2324fbc"/><Relationship Id="rNative7001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9b001baca54bb6"/><Relationship Type="http://schemas.openxmlformats.org/officeDocument/2006/relationships/notesSlide" Target="/ppt/notesSlides/notesSlide23.xml" Id="R4b3d8a9196274e32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7676b4a8b7d44a3"/><Relationship Type="http://schemas.openxmlformats.org/officeDocument/2006/relationships/notesSlide" Target="/ppt/notesSlides/notesSlide24.xml" Id="R2f5f88f238464145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f74be109db446b8"/><Relationship Type="http://schemas.openxmlformats.org/officeDocument/2006/relationships/notesSlide" Target="/ppt/notesSlides/notesSlide25.xml" Id="Rf8722b9b51b541ba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d0adfa3fc44ab0"/><Relationship Type="http://schemas.openxmlformats.org/officeDocument/2006/relationships/notesSlide" Target="/ppt/notesSlides/notesSlide26.xml" Id="Re1b693462b4b4652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ec88287e5a3453e"/><Relationship Type="http://schemas.openxmlformats.org/officeDocument/2006/relationships/notesSlide" Target="/ppt/notesSlides/notesSlide27.xml" Id="Ra00f522937314b3e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1bf1f4c24f34ad8"/><Relationship Type="http://schemas.openxmlformats.org/officeDocument/2006/relationships/notesSlide" Target="/ppt/notesSlides/notesSlide28.xml" Id="R71394bc3692b411b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16d489c1444b55"/><Relationship Type="http://schemas.openxmlformats.org/officeDocument/2006/relationships/notesSlide" Target="/ppt/notesSlides/notesSlide29.xml" Id="Rf655bd34c3e44798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b63ddd1ac7e4de5"/><Relationship Type="http://schemas.openxmlformats.org/officeDocument/2006/relationships/notesSlide" Target="/ppt/notesSlides/notesSlide30.xml" Id="R92bb82b35bd14ab8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1431dc529aa4941"/><Relationship Type="http://schemas.openxmlformats.org/officeDocument/2006/relationships/notesSlide" Target="/ppt/notesSlides/notesSlide31.xml" Id="Rdd553c3891ef43ef"/><Relationship Id="rNative7001" Type="http://schemas.openxmlformats.org/officeDocument/2006/relationships/chart" Target="../charts/chart2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d84ea4b44614345"/><Relationship Type="http://schemas.openxmlformats.org/officeDocument/2006/relationships/notesSlide" Target="/ppt/notesSlides/notesSlide32.xml" Id="R7f692a5e83d64af4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426e21994b94899"/><Relationship Type="http://schemas.openxmlformats.org/officeDocument/2006/relationships/notesSlide" Target="/ppt/notesSlides/notesSlide33.xml" Id="Rc535d5bdc36e4faa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6738133f7b4d5f"/><Relationship Type="http://schemas.openxmlformats.org/officeDocument/2006/relationships/notesSlide" Target="/ppt/notesSlides/notesSlide34.xml" Id="Re68297ade5554704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12394d6ad4b4124"/><Relationship Type="http://schemas.openxmlformats.org/officeDocument/2006/relationships/notesSlide" Target="/ppt/notesSlides/notesSlide35.xml" Id="R209c5c825d8e4c44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8ce16ac6134e79"/><Relationship Type="http://schemas.openxmlformats.org/officeDocument/2006/relationships/notesSlide" Target="/ppt/notesSlides/notesSlide36.xml" Id="R16fc991e933347ca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7b05e94c5f43f6"/><Relationship Type="http://schemas.openxmlformats.org/officeDocument/2006/relationships/notesSlide" Target="/ppt/notesSlides/notesSlide37.xml" Id="R6eeae1339d694024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3f0cafe96bf430a"/><Relationship Type="http://schemas.openxmlformats.org/officeDocument/2006/relationships/notesSlide" Target="/ppt/notesSlides/notesSlide38.xml" Id="R68b9688d8183456b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5293c245134bac"/><Relationship Type="http://schemas.openxmlformats.org/officeDocument/2006/relationships/notesSlide" Target="/ppt/notesSlides/notesSlide39.xml" Id="R63ee888179b44920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b25b73a82144d6"/><Relationship Type="http://schemas.openxmlformats.org/officeDocument/2006/relationships/notesSlide" Target="/ppt/notesSlides/notesSlide40.xml" Id="R65d0fae3ae6a4f34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54de920b344e68"/><Relationship Type="http://schemas.openxmlformats.org/officeDocument/2006/relationships/notesSlide" Target="/ppt/notesSlides/notesSlide41.xml" Id="R25a3717d16ae4e53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f96e08ff0648c3"/><Relationship Type="http://schemas.openxmlformats.org/officeDocument/2006/relationships/notesSlide" Target="/ppt/notesSlides/notesSlide42.xml" Id="R359d7a3783074501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909b778c4bd4f6d"/><Relationship Type="http://schemas.openxmlformats.org/officeDocument/2006/relationships/notesSlide" Target="/ppt/notesSlides/notesSlide43.xml" Id="R64f0903fe29242aa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80a002fdde4bda"/><Relationship Type="http://schemas.openxmlformats.org/officeDocument/2006/relationships/notesSlide" Target="/ppt/notesSlides/notesSlide44.xml" Id="R2fac043f5c9140a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o0">
            <a:extLst xmlns:a="http://schemas.openxmlformats.org/drawingml/2006/main">
              <a:ext uri="{FF2B5EF4-FFF2-40B4-BE49-F238E27FC236}">
                <a16:creationId xmlns:a16="http://schemas.microsoft.com/office/drawing/2014/main" id="{23BE8DB9-AE11-4785-8F5F-603FA951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9257549-9C01-4D94-93FD-AAD541CA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低空无人机单机与集群态势判读算法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6BAF328B-6C64-4E34-8941-CBD6A184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5D9A6F48-6BF4-47E0-B854-2CD1231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171578B8-2DAB-45DA-973D-A131E047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本地实现基线 · v3.2 · situation-rule-v2.3.0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F77B6CA2-F771-4155-A378-4E88E19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01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13071627-621A-4213-A67E-D996FE35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算法原理与实现</a:t>
            </a:r>
          </a:p>
          <a:p xmlns:a="http://schemas.openxmlformats.org/drawingml/2006/main">
            <a: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项目适配与阶段验证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25F962A0-2C6F-4814-ACB8-0C41A86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从可用数据到单机、集群结论与解释证据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D26FA1A1-6060-4AE0-913A-5AF2853E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汇报人：待填写    部门：待填写    评审日期：待填写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B6E6C109-813F-41BA-8AE0-51C0ED37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1A63E1FF-F560-4725-8A45-70D2C90E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0955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868A8841-AB84-451C-A141-F44D15D1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C382AA70-A2F3-45D3-9C9A-FDC26C3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14" name="line-11">
            <a:extLst xmlns:a="http://schemas.openxmlformats.org/drawingml/2006/main">
              <a:ext uri="{FF2B5EF4-FFF2-40B4-BE49-F238E27FC236}">
                <a16:creationId xmlns:a16="http://schemas.microsoft.com/office/drawing/2014/main" id="{7641ABF7-98FD-465C-AAE6-C6F9783C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79544" y="3286125"/>
            <a:ext cx="559594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5" name="line-11">
            <a:extLst xmlns:a="http://schemas.openxmlformats.org/drawingml/2006/main">
              <a:ext uri="{FF2B5EF4-FFF2-40B4-BE49-F238E27FC236}">
                <a16:creationId xmlns:a16="http://schemas.microsoft.com/office/drawing/2014/main" id="{F1347B08-93D2-4C24-BB25-88E9662C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39138" y="2809875"/>
            <a:ext cx="783431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6" name="line-11">
            <a:extLst xmlns:a="http://schemas.openxmlformats.org/drawingml/2006/main">
              <a:ext uri="{FF2B5EF4-FFF2-40B4-BE49-F238E27FC236}">
                <a16:creationId xmlns:a16="http://schemas.microsoft.com/office/drawing/2014/main" id="{5972F477-CB03-460F-8AD9-422D35C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2569" y="2238375"/>
            <a:ext cx="67151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55BA0BA4-2C8C-40C3-8BED-B3389348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394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C14148CE-544D-4A4A-8A55-B1D93603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FBEDFDFD-31C7-4F9B-BB1A-6DB85D3D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419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1581795E-587D-45D4-9C72-0F4215F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931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9077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o0">
            <a:extLst xmlns:a="http://schemas.openxmlformats.org/drawingml/2006/main">
              <a:ext uri="{FF2B5EF4-FFF2-40B4-BE49-F238E27FC236}">
                <a16:creationId xmlns:a16="http://schemas.microsoft.com/office/drawing/2014/main" id="{BA41DAF8-D7CF-4B5D-BDCA-1043E10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BEFABB7-212A-43D2-99FB-D6D6006B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从观测轨迹到可解释的业务判断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3233CA0E-95C8-4993-8858-5F7967AA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27902C4A-46A0-4E8C-8A1D-C612AA70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8D50553-5539-47CF-A78F-9A45701A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§1.2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2B7EEA2-448D-46BE-A57F-A9CC1AAF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02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9954912A-1734-4B2B-BDE0-FBEAA2B6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上游输入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CE5524FA-4445-4239-9E07-134DA2E8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6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76B9C070-4641-4061-97CC-2360ED2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位置与轨迹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2874199D-30D7-464D-A5BB-1EEDB21E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75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366910B5-C249-4718-9124-5492ACBB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身份与飞行计划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57AFCD7B-ED93-465E-93E2-3EEF0B72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8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9C72C1D3-DE7A-4A47-8E37-55EF4C2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设施、空域和资源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287B6E10-9FDB-44E0-A351-ABCB059D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85950"/>
            <a:ext cx="3619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62A0A5BB-C55D-4CD6-8F59-D981A164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1905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086B673B-D933-4AB9-B613-8E30F14C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17" name="line-14">
            <a:extLst xmlns:a="http://schemas.openxmlformats.org/drawingml/2006/main">
              <a:ext uri="{FF2B5EF4-FFF2-40B4-BE49-F238E27FC236}">
                <a16:creationId xmlns:a16="http://schemas.microsoft.com/office/drawing/2014/main" id="{BCF0BE4B-52F4-4D14-A18D-35C5671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24375" y="3651885"/>
            <a:ext cx="595313" cy="4819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8" name="line-14">
            <a:extLst xmlns:a="http://schemas.openxmlformats.org/drawingml/2006/main">
              <a:ext uri="{FF2B5EF4-FFF2-40B4-BE49-F238E27FC236}">
                <a16:creationId xmlns:a16="http://schemas.microsoft.com/office/drawing/2014/main" id="{F90765DE-D6D2-45C1-B5DE-D4E662F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19688" y="3169920"/>
            <a:ext cx="714375" cy="4819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9" name="line-14">
            <a:extLst xmlns:a="http://schemas.openxmlformats.org/drawingml/2006/main">
              <a:ext uri="{FF2B5EF4-FFF2-40B4-BE49-F238E27FC236}">
                <a16:creationId xmlns:a16="http://schemas.microsoft.com/office/drawing/2014/main" id="{233FD0B6-3671-489E-B802-57BE82E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34063" y="2731770"/>
            <a:ext cx="59531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7016EF04-53D6-4A0A-A1C8-418F8938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D56B1069-924A-4AB1-BD10-3CC75CB2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359473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3FCD11CC-2474-4D72-91CD-1C3D7E57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31127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91910159-1328-469D-933B-72B68BB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7462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D16FF5BA-84FA-4544-AF7C-E1BCA807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6732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同一场景中的设施、目标与活动</a:t>
            </a:r>
          </a:p>
        </p:txBody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4FE8C7D7-F1B5-4685-9CEC-51DEBCE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算法回答</a:t>
            </a:r>
          </a:p>
        </p:txBody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649096D7-3964-486F-8FB9-9E14232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0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26">
            <a:extLst xmlns:a="http://schemas.openxmlformats.org/drawingml/2006/main">
              <a:ext uri="{FF2B5EF4-FFF2-40B4-BE49-F238E27FC236}">
                <a16:creationId xmlns:a16="http://schemas.microsoft.com/office/drawing/2014/main" id="{EEF84DEC-3BFE-4E22-822E-5767A14B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哪些目标属于同一群体</a:t>
            </a:r>
          </a:p>
        </p:txBody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9FF73F7B-B750-4C7A-BEF0-ABC326CF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4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28">
            <a:extLst xmlns:a="http://schemas.openxmlformats.org/drawingml/2006/main">
              <a:ext uri="{FF2B5EF4-FFF2-40B4-BE49-F238E27FC236}">
                <a16:creationId xmlns:a16="http://schemas.microsoft.com/office/drawing/2014/main" id="{57B031A9-72E9-4A55-AFD8-3008AFE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呈现什么行为与意图</a:t>
            </a:r>
          </a:p>
        </p:txBody>
      </p:sp>
      <p:sp>
        <p:nvSpPr>
          <p:cNvPr id="30" name="o29">
            <a:extLst xmlns:a="http://schemas.openxmlformats.org/drawingml/2006/main">
              <a:ext uri="{FF2B5EF4-FFF2-40B4-BE49-F238E27FC236}">
                <a16:creationId xmlns:a16="http://schemas.microsoft.com/office/drawing/2014/main" id="{BED034D1-7DFD-459B-A37F-2EE5FA7E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8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0">
            <a:extLst xmlns:a="http://schemas.openxmlformats.org/drawingml/2006/main">
              <a:ext uri="{FF2B5EF4-FFF2-40B4-BE49-F238E27FC236}">
                <a16:creationId xmlns:a16="http://schemas.microsoft.com/office/drawing/2014/main" id="{4AF36EA2-8ECD-4FA8-A6DF-BDB19288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与哪处设施相关</a:t>
            </a:r>
          </a:p>
        </p:txBody>
      </p:sp>
      <p:sp>
        <p:nvSpPr>
          <p:cNvPr id="32" name="o31">
            <a:extLst xmlns:a="http://schemas.openxmlformats.org/drawingml/2006/main">
              <a:ext uri="{FF2B5EF4-FFF2-40B4-BE49-F238E27FC236}">
                <a16:creationId xmlns:a16="http://schemas.microsoft.com/office/drawing/2014/main" id="{D45C6966-79DC-4324-A777-6C1AA10B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20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32">
            <a:extLst xmlns:a="http://schemas.openxmlformats.org/drawingml/2006/main">
              <a:ext uri="{FF2B5EF4-FFF2-40B4-BE49-F238E27FC236}">
                <a16:creationId xmlns:a16="http://schemas.microsoft.com/office/drawing/2014/main" id="{1CADD28F-4DBB-4337-AC81-FC24C52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624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威胁与辅助评估依据</a:t>
            </a:r>
          </a:p>
        </p:txBody>
      </p:sp>
      <p:sp>
        <p:nvSpPr>
          <p:cNvPr id="34" name="line-28">
            <a:extLst xmlns:a="http://schemas.openxmlformats.org/drawingml/2006/main">
              <a:ext uri="{FF2B5EF4-FFF2-40B4-BE49-F238E27FC236}">
                <a16:creationId xmlns:a16="http://schemas.microsoft.com/office/drawing/2014/main" id="{315EC8F2-0DD6-4318-8501-6F1D31F4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35" name="o34">
            <a:extLst xmlns:a="http://schemas.openxmlformats.org/drawingml/2006/main">
              <a:ext uri="{FF2B5EF4-FFF2-40B4-BE49-F238E27FC236}">
                <a16:creationId xmlns:a16="http://schemas.microsoft.com/office/drawing/2014/main" id="{248DFCB4-ACA2-4360-91A5-DD2BD52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输出保留成员、空间、时间与规则证据，支持逐项复核。</a:t>
            </a:r>
          </a:p>
        </p:txBody>
      </p:sp>
    </p:spTree>
    <p:extLst>
      <p:ext uri="{BB962C8B-B14F-4D97-AF65-F5344CB8AC3E}">
        <p14:creationId xmlns:p14="http://schemas.microsoft.com/office/powerpoint/2010/main" val="1312635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957CBCCF-F598-47BF-9CA1-B23F689F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9C5DC051-FB34-4592-AC0D-10736AE7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先确认当前样本有什么，再界定可计算能力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B8D4B1EA-154F-44C9-82C1-85AB286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9E361C29-50CB-44D5-9DB9-6060DF84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827B8F73-F478-46EA-853A-D242543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§3.1；同次case_request.json；公司持续供数条件需另行确认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07A0A654-1E16-408D-ACCE-A9982C25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03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84745323-6A45-4205-8EE3-C9F622E0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65BA0435-602C-4CFD-AC9B-8996604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协议支持、本地样本具备、公司可持续提供，分别记录。</a:t>
            </a:r>
          </a:p>
        </p:txBody>
      </p:sp>
      <p:graphicFrame xmlns:a="http://schemas.openxmlformats.org/drawingml/2006/main">
        <p:nvGraphicFramePr>
          <p:cNvPr id="7001" name="Table 9"/>
          <p:cNvGraphicFramePr>
            <a:graphicFrameLocks noGrp="1"/>
          </p:cNvGraphicFramePr>
          <p:nvPr/>
        </p:nvGraphicFramePr>
        <p:xfrm>
          <a:off x="609600" y="1781175"/>
          <a:ext cx="10972799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3"/>
                <a:gridCol w="4279392"/>
                <a:gridCol w="4718304"/>
              </a:tblGrid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输入组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当前13目标样本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在链路中的作用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轨迹与属性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13条轨迹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13条目标属性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清洗、运动特征、群体划分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身份与白名单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设备、飞手、白名单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各4条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身份关联、有效豁免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飞行计划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0条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本例不验证计划匹配分支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设施与空间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3条设施、3圈层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独立空域列表为空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空间关系与空间条件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设备与资源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未提供探测设备和防御资源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对应辅助评估不可用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399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906BD-8FEA-490E-A3D2-6EFD2AA5B923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910763" y="3600450"/>
            <a:ext cx="452438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0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F6C84-9A32-4EC3-B9CD-02A93E2EE84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9910763" y="2552700"/>
            <a:ext cx="4524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0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2EB65-AE2F-4FF1-BCAB-1FA78E68F66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819275" y="2552700"/>
            <a:ext cx="8543925" cy="15049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4E88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D90E0-30D7-4B99-A33A-B87735803D8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24900" y="4391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1583B-DE3F-41DC-BF39-800FF68AF14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76925" y="4391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CA10E-A633-4395-9F1C-828BB6F3A61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28950" y="4391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BC76F-A739-4A48-84B9-30F7AC044A0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24900" y="2219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8F6CF-56AA-484F-9749-50840147C27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76925" y="2219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7D40E-872D-4FBF-83ED-72306460A5F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28950" y="2219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9" name="o0">
            <a:extLst xmlns:a="http://schemas.openxmlformats.org/drawingml/2006/main">
              <a:ext uri="{FF2B5EF4-FFF2-40B4-BE49-F238E27FC236}">
                <a16:creationId xmlns:a16="http://schemas.microsoft.com/office/drawing/2014/main" id="{1283DEF2-4924-429D-BD65-5C85503D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46DA5FCD-1339-46D6-860B-820019DF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总体计算链路与共享中间产物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501DFEE-4E99-4A94-90AF-ABF2E847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0FCF36B-87C9-4612-AD4D-D8D1A19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D8D4F900-A4A3-4C4F-9032-CE3FF952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§2.2–§2.4；子算法、模型与中间产物在下一页展开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1D32C44-BE9D-4346-B7B8-DBEF8C08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04 / 44</a:t>
            </a:r>
          </a:p>
        </p:txBody>
      </p:sp>
      <p:sp>
        <p:nvSpPr>
          <p:cNvPr id="7" name="flow-top-0">
            <a:extLst xmlns:a="http://schemas.openxmlformats.org/drawingml/2006/main">
              <a:ext uri="{FF2B5EF4-FFF2-40B4-BE49-F238E27FC236}">
                <a16:creationId xmlns:a16="http://schemas.microsoft.com/office/drawing/2014/main" id="{96E5EFC4-7605-4959-8E64-536663F5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01 标准化请求</a:t>
            </a:r>
          </a:p>
        </p:txBody>
      </p:sp>
      <p:sp>
        <p:nvSpPr>
          <p:cNvPr id="8" name="flow-top-1">
            <a:extLst xmlns:a="http://schemas.openxmlformats.org/drawingml/2006/main">
              <a:ext uri="{FF2B5EF4-FFF2-40B4-BE49-F238E27FC236}">
                <a16:creationId xmlns:a16="http://schemas.microsoft.com/office/drawing/2014/main" id="{CF582BC3-0E35-4E06-B246-4D283B40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02 清洗与双窗口</a:t>
            </a:r>
          </a:p>
        </p:txBody>
      </p:sp>
      <p:sp>
        <p:nvSpPr>
          <p:cNvPr id="9" name="flow-top-2">
            <a:extLst xmlns:a="http://schemas.openxmlformats.org/drawingml/2006/main">
              <a:ext uri="{FF2B5EF4-FFF2-40B4-BE49-F238E27FC236}">
                <a16:creationId xmlns:a16="http://schemas.microsoft.com/office/drawing/2014/main" id="{B7536CD5-6E76-44CF-BA10-1739D06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03 空间上下文</a:t>
            </a:r>
          </a:p>
        </p:txBody>
      </p:sp>
      <p:sp>
        <p:nvSpPr>
          <p:cNvPr id="10" name="flow-top-3">
            <a:extLst xmlns:a="http://schemas.openxmlformats.org/drawingml/2006/main">
              <a:ext uri="{FF2B5EF4-FFF2-40B4-BE49-F238E27FC236}">
                <a16:creationId xmlns:a16="http://schemas.microsoft.com/office/drawing/2014/main" id="{A194921F-43CA-4206-8408-82A61084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04 身份与豁免</a:t>
            </a:r>
          </a:p>
        </p:txBody>
      </p:sp>
      <p:sp>
        <p:nvSpPr>
          <p:cNvPr id="11" name="flow-bottom-0">
            <a:extLst xmlns:a="http://schemas.openxmlformats.org/drawingml/2006/main">
              <a:ext uri="{FF2B5EF4-FFF2-40B4-BE49-F238E27FC236}">
                <a16:creationId xmlns:a16="http://schemas.microsoft.com/office/drawing/2014/main" id="{A679676B-A085-4B46-A6BE-45A149B6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DBSCAN／PointNet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运动与行为特征</a:t>
            </a:r>
          </a:p>
        </p:txBody>
      </p:sp>
      <p:sp>
        <p:nvSpPr>
          <p:cNvPr id="12" name="flow-bottom-1">
            <a:extLst xmlns:a="http://schemas.openxmlformats.org/drawingml/2006/main">
              <a:ext uri="{FF2B5EF4-FFF2-40B4-BE49-F238E27FC236}">
                <a16:creationId xmlns:a16="http://schemas.microsoft.com/office/drawing/2014/main" id="{D5A4370B-485A-4850-80D3-21065BCA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单机／集群规则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十维评分</a:t>
            </a:r>
          </a:p>
        </p:txBody>
      </p:sp>
      <p:sp>
        <p:nvSpPr>
          <p:cNvPr id="13" name="flow-bottom-2">
            <a:extLst xmlns:a="http://schemas.openxmlformats.org/drawingml/2006/main">
              <a:ext uri="{FF2B5EF4-FFF2-40B4-BE49-F238E27FC236}">
                <a16:creationId xmlns:a16="http://schemas.microsoft.com/office/drawing/2014/main" id="{7FAB6188-1162-4CEE-B40B-4445C719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ETA／覆盖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资源辅助评估</a:t>
            </a:r>
          </a:p>
        </p:txBody>
      </p:sp>
      <p:sp>
        <p:nvSpPr>
          <p:cNvPr id="14" name="flow-bottom-3">
            <a:extLst xmlns:a="http://schemas.openxmlformats.org/drawingml/2006/main">
              <a:ext uri="{FF2B5EF4-FFF2-40B4-BE49-F238E27FC236}">
                <a16:creationId xmlns:a16="http://schemas.microsoft.com/office/drawing/2014/main" id="{73344055-6D89-423D-B076-9A1D28E7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结构化结果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解释与诊断</a:t>
            </a:r>
          </a:p>
        </p:txBody>
      </p:sp>
      <p:sp>
        <p:nvSpPr>
          <p:cNvPr id="15" name="exempt">
            <a:extLst xmlns:a="http://schemas.openxmlformats.org/drawingml/2006/main">
              <a:ext uri="{FF2B5EF4-FFF2-40B4-BE49-F238E27FC236}">
                <a16:creationId xmlns:a16="http://schemas.microsoft.com/office/drawing/2014/main" id="{71D4D944-B874-4AF6-9BC7-A1449C4C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81325"/>
            <a:ext cx="33432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有效豁免独立输出</a:t>
            </a:r>
          </a:p>
        </p:txBody>
      </p:sp>
      <p:sp>
        <p:nvSpPr>
          <p:cNvPr id="16" name="o24">
            <a:extLst xmlns:a="http://schemas.openxmlformats.org/drawingml/2006/main">
              <a:ext uri="{FF2B5EF4-FFF2-40B4-BE49-F238E27FC236}">
                <a16:creationId xmlns:a16="http://schemas.microsoft.com/office/drawing/2014/main" id="{3695B260-FF35-42B0-A717-2D618FDF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共享产物：空间上下文与成员特征</a:t>
            </a:r>
          </a:p>
        </p:txBody>
      </p:sp>
      <p:sp>
        <p:nvSpPr>
          <p:cNvPr id="17" name="o25">
            <a:extLst xmlns:a="http://schemas.openxmlformats.org/drawingml/2006/main">
              <a:ext uri="{FF2B5EF4-FFF2-40B4-BE49-F238E27FC236}">
                <a16:creationId xmlns:a16="http://schemas.microsoft.com/office/drawing/2014/main" id="{05536DB8-6578-4534-8BDE-2652D387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群体、行为、空间分别提供依据；单机与集群各自判读</a:t>
            </a:r>
          </a:p>
        </p:txBody>
      </p:sp>
      <p:sp>
        <p:nvSpPr>
          <p:cNvPr id="18" name="line-15">
            <a:extLst xmlns:a="http://schemas.openxmlformats.org/drawingml/2006/main">
              <a:ext uri="{FF2B5EF4-FFF2-40B4-BE49-F238E27FC236}">
                <a16:creationId xmlns:a16="http://schemas.microsoft.com/office/drawing/2014/main" id="{F0DE3A2E-1116-4F2E-90CE-F128BBBC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9" name="o27">
            <a:extLst xmlns:a="http://schemas.openxmlformats.org/drawingml/2006/main">
              <a:ext uri="{FF2B5EF4-FFF2-40B4-BE49-F238E27FC236}">
                <a16:creationId xmlns:a16="http://schemas.microsoft.com/office/drawing/2014/main" id="{B04AE2D6-20F5-4C54-BE0B-F0E4B4E3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空间上下文与请求内特征共享；群体和单机结论分别计算。</a:t>
            </a:r>
          </a:p>
        </p:txBody>
      </p:sp>
    </p:spTree>
    <p:extLst>
      <p:ext uri="{BB962C8B-B14F-4D97-AF65-F5344CB8AC3E}">
        <p14:creationId xmlns:p14="http://schemas.microsoft.com/office/powerpoint/2010/main" val="2071371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7A1F0-58DB-4E89-85DC-613990CF5DF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448175" y="2667000"/>
            <a:ext cx="33337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2FEF2-4AFF-48E4-8E4B-ABD7E825D04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20125" y="2286000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980FE-B2F5-4BC0-AF43-62AFF43138C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43550" y="2286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58C0B-7986-42D7-B1D1-E1E2FE09598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9850" y="2286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0" name="o0">
            <a:extLst xmlns:a="http://schemas.openxmlformats.org/drawingml/2006/main">
              <a:ext uri="{FF2B5EF4-FFF2-40B4-BE49-F238E27FC236}">
                <a16:creationId xmlns:a16="http://schemas.microsoft.com/office/drawing/2014/main" id="{DCF41640-76D8-48EA-9A95-9D85365F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428C6F7-6F91-43AC-A420-47DD52A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身份实体关联与有效性判定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8633D222-3765-40FE-B737-8F63977F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90D2EEE-3C28-44D6-81D2-5C20861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F7770E7F-1D9A-4853-BC75-73A90DD9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v32_gateway.py normalize_identity_source；本轮身份分支回归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EAAA8295-C78D-481D-AD30-A0ED2D3D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05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CB262248-857B-4C16-89F2-14766D90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targetId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目标属性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EE5400C2-6BED-4AE2-90A3-F723A61E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2190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规范化 serialNo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关联键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2C556A3D-9AF2-4EFE-843A-8488838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333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设备实名记录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状态／有效期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70C8C3E1-D1A4-4162-A5AB-F59F529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05000"/>
            <a:ext cx="2209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飞手记录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personId关联</a:t>
            </a:r>
          </a:p>
        </p:txBody>
      </p:sp>
      <p:sp>
        <p:nvSpPr>
          <p:cNvPr id="11" name="o13">
            <a:extLst xmlns:a="http://schemas.openxmlformats.org/drawingml/2006/main">
              <a:ext uri="{FF2B5EF4-FFF2-40B4-BE49-F238E27FC236}">
                <a16:creationId xmlns:a16="http://schemas.microsoft.com/office/drawing/2014/main" id="{9CE4FA89-8AE2-4A45-8975-4E667E1D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81375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白名单／飞行计划</a:t>
            </a:r>
          </a:p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SN关联与有效性</a:t>
            </a:r>
          </a:p>
        </p:txBody>
      </p:sp>
      <p:sp>
        <p:nvSpPr>
          <p:cNvPr id="12" name="o15">
            <a:extLst xmlns:a="http://schemas.openxmlformats.org/drawingml/2006/main">
              <a:ext uri="{FF2B5EF4-FFF2-40B4-BE49-F238E27FC236}">
                <a16:creationId xmlns:a16="http://schemas.microsoft.com/office/drawing/2014/main" id="{0BCBE171-91A7-4B9D-8AAA-B61C982E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重复有效设备：拒绝</a:t>
            </a:r>
          </a:p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白名单重复／型号冲突：禁用并诊断</a:t>
            </a:r>
          </a:p>
        </p:txBody>
      </p:sp>
      <p:sp>
        <p:nvSpPr>
          <p:cNvPr id="13" name="o16">
            <a:extLst xmlns:a="http://schemas.openxmlformats.org/drawingml/2006/main">
              <a:ext uri="{FF2B5EF4-FFF2-40B4-BE49-F238E27FC236}">
                <a16:creationId xmlns:a16="http://schemas.microsoft.com/office/drawing/2014/main" id="{FB67EF0A-C797-43E2-B7E5-F02A00E1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I=1表示存在，0表示缺失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有效期与登记状态另行判断</a:t>
            </a:r>
          </a:p>
        </p:txBody>
      </p:sp>
      <p:sp>
        <p:nvSpPr>
          <p:cNvPr id="14" name="line-11">
            <a:extLst xmlns:a="http://schemas.openxmlformats.org/drawingml/2006/main">
              <a:ext uri="{FF2B5EF4-FFF2-40B4-BE49-F238E27FC236}">
                <a16:creationId xmlns:a16="http://schemas.microsoft.com/office/drawing/2014/main" id="{3B03754F-8851-4437-89DE-136A266B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5" name="o18">
            <a:extLst xmlns:a="http://schemas.openxmlformats.org/drawingml/2006/main">
              <a:ext uri="{FF2B5EF4-FFF2-40B4-BE49-F238E27FC236}">
                <a16:creationId xmlns:a16="http://schemas.microsoft.com/office/drawing/2014/main" id="{A88DE47E-0441-472B-A922-B49D4076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有SN但无有效登记：unregistered；没有SN：unknown。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identity"/>
          <p:cNvSpPr txBox="1">
            <a:spLocks noGrp="1"/>
          </p:cNvSpPr>
          <p:nvPr/>
        </p:nvSpPr>
        <p:spPr>
          <a:xfrm>
            <a:off x="666750" y="4629150"/>
            <a:ext cx="59055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2"/>
                          <w:rFonts w:ascii="Cambria Math" w:hAnsi="Cambria Math" w:eastAsia="Cambria Math"/>
                        </w:rPr>
                        <m:t>C</m:t>
                      </m:r>
                    </m:e>
                    <m: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id</m:t>
                      </m:r>
                    </m:sub>
                  </m:sSub>
                  <m:r>
                    <w:rPr>
                      <w:sz w:val="52"/>
                      <w:rFonts w:ascii="Cambria Math" w:hAnsi="Cambria Math" w:eastAsia="Cambria Math"/>
                    </w:rPr>
                    <m:t> = </m:t>
                  </m:r>
                  <m:f>
                    <m:num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I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SN</m:t>
                          </m:r>
                        </m:sub>
                      </m:s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 + </m:t>
                      </m:r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I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RemoteID</m:t>
                          </m:r>
                        </m:sub>
                      </m:s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 + </m:t>
                      </m:r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I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device</m:t>
                          </m:r>
                        </m:sub>
                      </m:s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 + </m:t>
                      </m:r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I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person</m:t>
                          </m:r>
                        </m:sub>
                      </m:sSub>
                    </m:num>
                    <m:den>
                      <m:r>
                        <w:rPr>
                          <w:sz w:val="52"/>
                          <w:rFonts w:ascii="Cambria Math" w:hAnsi="Cambria Math" w:eastAsia="Cambria Math"/>
                        </w:rPr>
                        <m:t>4</m:t>
                      </m:r>
                    </m:den>
                  </m:f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264555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BF20C-65AF-4CA3-B12F-144462866A3B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162550" y="2638425"/>
            <a:ext cx="50673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D0E0D-097C-4CC7-8759-42EEBA30969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162550" y="2638425"/>
            <a:ext cx="22574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3C388-3132-4E8C-B82B-8590071B848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610100" y="2638425"/>
            <a:ext cx="55245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C1A4D-20AB-407C-91C9-0A86027E0CB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10600" y="2295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F2AE3-4AA8-436F-87EC-57398C96329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00725" y="2295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FC5AB-FBA8-400B-A800-A57CDC95177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90850" y="2295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3" name="o0">
            <a:extLst xmlns:a="http://schemas.openxmlformats.org/drawingml/2006/main">
              <a:ext uri="{FF2B5EF4-FFF2-40B4-BE49-F238E27FC236}">
                <a16:creationId xmlns:a16="http://schemas.microsoft.com/office/drawing/2014/main" id="{F9D170A1-D1E7-4BD1-9976-A54D8BEE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FD68B386-E946-4BB3-A82D-378F6665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聚类前逐目标豁免与计划匹配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707541B4-25ED-4BD9-801F-B279A3A4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716F3AE6-5602-427D-B23F-7D7D3433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102DC2B5-111D-49C6-9AA7-7B5013EC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engine.py _target_exemption / _plan_match_score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61E773F5-529D-4332-8130-2B63760C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06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6722E5D7-B065-47DA-91FC-891E1E71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目标及空间关系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98B2F4CD-FA7B-46CA-A619-976D3886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52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有效白名单？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6E7F334A-7553-4575-ABD9-73A8A23B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演练允许清单？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0420B5A2-85E4-4C6F-8B75-61C7291B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有效计划匹配？</a:t>
            </a:r>
          </a:p>
        </p:txBody>
      </p:sp>
      <p:sp>
        <p:nvSpPr>
          <p:cNvPr id="11" name="o13">
            <a:extLst xmlns:a="http://schemas.openxmlformats.org/drawingml/2006/main">
              <a:ext uri="{FF2B5EF4-FFF2-40B4-BE49-F238E27FC236}">
                <a16:creationId xmlns:a16="http://schemas.microsoft.com/office/drawing/2014/main" id="{D6C81ED6-1C5C-4569-BDB4-A095875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横向：未命中继续；向下：命中后分流</a:t>
            </a:r>
          </a:p>
        </p:txBody>
      </p:sp>
      <p:sp>
        <p:nvSpPr>
          <p:cNvPr id="12" name="o14">
            <a:extLst xmlns:a="http://schemas.openxmlformats.org/drawingml/2006/main">
              <a:ext uri="{FF2B5EF4-FFF2-40B4-BE49-F238E27FC236}">
                <a16:creationId xmlns:a16="http://schemas.microsoft.com/office/drawing/2014/main" id="{2FB010F2-4504-4F5E-9F55-29324B8E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3524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命中：独立豁免结果</a:t>
            </a:r>
          </a:p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可附合规意图</a:t>
            </a:r>
          </a:p>
        </p:txBody>
      </p:sp>
      <p:sp>
        <p:nvSpPr>
          <p:cNvPr id="13" name="o15">
            <a:extLst xmlns:a="http://schemas.openxmlformats.org/drawingml/2006/main">
              <a:ext uri="{FF2B5EF4-FFF2-40B4-BE49-F238E27FC236}">
                <a16:creationId xmlns:a16="http://schemas.microsoft.com/office/drawing/2014/main" id="{B70BFE38-90DC-4AC9-AE82-5FBDE5C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396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均未命中：进入群体分析</a:t>
            </a:r>
          </a:p>
        </p:txBody>
      </p:sp>
      <p:sp>
        <p:nvSpPr>
          <p:cNvPr id="14" name="o19">
            <a:extLst xmlns:a="http://schemas.openxmlformats.org/drawingml/2006/main">
              <a:ext uri="{FF2B5EF4-FFF2-40B4-BE49-F238E27FC236}">
                <a16:creationId xmlns:a16="http://schemas.microsoft.com/office/drawing/2014/main" id="{27E1525E-26A9-4C82-B5DD-BAA5D08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当前位置决定计划匹配门控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历史匹配比例用于解释</a:t>
            </a:r>
          </a:p>
        </p:txBody>
      </p:sp>
      <p:sp>
        <p:nvSpPr>
          <p:cNvPr id="15" name="line-12">
            <a:extLst xmlns:a="http://schemas.openxmlformats.org/drawingml/2006/main">
              <a:ext uri="{FF2B5EF4-FFF2-40B4-BE49-F238E27FC236}">
                <a16:creationId xmlns:a16="http://schemas.microsoft.com/office/drawing/2014/main" id="{BF4C9584-E753-4C77-90D4-FBF08BEE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6" name="o21">
            <a:extLst xmlns:a="http://schemas.openxmlformats.org/drawingml/2006/main">
              <a:ext uri="{FF2B5EF4-FFF2-40B4-BE49-F238E27FC236}">
                <a16:creationId xmlns:a16="http://schemas.microsoft.com/office/drawing/2014/main" id="{EA867C1F-9C7B-430E-B6F4-4E59677A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一个合法成员不能让附近其他成员一同豁免；非无人机另走观察分支。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plan"/>
          <p:cNvSpPr txBox="1">
            <a:spLocks noGrp="1"/>
          </p:cNvSpPr>
          <p:nvPr/>
        </p:nvSpPr>
        <p:spPr>
          <a:xfrm>
            <a:off x="609600" y="4733925"/>
            <a:ext cx="6667500" cy="714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2"/>
                          <w:rFonts w:ascii="Cambria Math" w:hAnsi="Cambria Math" w:eastAsia="Cambria Math"/>
                        </w:rPr>
                        <m:t>S</m:t>
                      </m:r>
                    </m:e>
                    <m: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plan</m:t>
                      </m:r>
                    </m:sub>
                  </m:sSub>
                  <m:r>
                    <w:rPr>
                      <w:sz w:val="52"/>
                      <w:rFonts w:ascii="Cambria Math" w:hAnsi="Cambria Math" w:eastAsia="Cambria Math"/>
                    </w:rPr>
                    <m:t> = </m:t>
                  </m:r>
                  <m:f>
                    <m:num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Σ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k</m:t>
                          </m:r>
                        </m:sub>
                      </m:s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 I[routeOK ∧ altitudeOK]</m:t>
                      </m:r>
                    </m:num>
                    <m:den>
                      <m:r>
                        <w:rPr>
                          <w:sz w:val="52"/>
                          <w:rFonts w:ascii="Cambria Math" w:hAnsi="Cambria Math" w:eastAsia="Cambria Math"/>
                        </w:rPr>
                        <m:t>n</m:t>
                      </m:r>
                    </m:den>
                  </m:f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347694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o0">
            <a:extLst xmlns:a="http://schemas.openxmlformats.org/drawingml/2006/main">
              <a:ext uri="{FF2B5EF4-FFF2-40B4-BE49-F238E27FC236}">
                <a16:creationId xmlns:a16="http://schemas.microsoft.com/office/drawing/2014/main" id="{2EDEA943-528E-4A41-B600-C0E8D737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243D7606-A4C4-4938-BFCB-989FDE3B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双窗口分工明确，清洗规则分别保留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C8E5B77A-26B8-4458-B3EF-83231112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92FB68F9-3121-4823-B7C3-E035914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AC775C47-99C1-411B-9D04-2DFDDA33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§3.3、§4.1；F02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E9609388-90EB-4445-9D0B-9513B0E0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07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D551079A-21F6-4206-BA0A-0D221DA8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历史窗口（示意）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670A611A-907F-41CE-A4CC-7622D30C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最近120秒，最多240点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6935AABB-EDD2-4780-8D80-AEB13582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712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1D3DE9DC-C445-45AA-B4BB-77990A7B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95575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A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ine-8">
            <a:extLst xmlns:a="http://schemas.openxmlformats.org/drawingml/2006/main">
              <a:ext uri="{FF2B5EF4-FFF2-40B4-BE49-F238E27FC236}">
                <a16:creationId xmlns:a16="http://schemas.microsoft.com/office/drawing/2014/main" id="{1F08254C-63A6-4F1B-8072-244BE2E4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3143250"/>
            <a:ext cx="7124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EC66B342-9FF8-4DC6-890F-CC0EE9C6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8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71376EE6-0D10-4D8D-B605-2E52C09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72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DAC51EAB-6AF0-4DE5-85F9-82CA41E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7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B304F4C6-9B9C-4DDF-B35B-4FF9BA9A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41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6194328E-2DBB-413B-B1A9-2AA13C54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526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EF07AF6B-E63D-4F41-961D-3E132E3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11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D81B791F-F258-4A0E-9AE7-899DED6E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895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152CA4C2-DBEA-48FA-8663-4BC3BBBD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80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259CA708-35BB-477A-B441-9CC0405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264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7A6A1593-6D44-4126-A612-3364CCA2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949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CE4733C4-3717-448E-BEAB-62BB0746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634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788E876E-A3A5-4231-95F7-6070EE49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318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83E5ED7C-0110-43AA-9CEB-E243043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003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5787C1A8-52BD-4E79-A88B-329C6549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688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04340F6D-D815-4147-8A9B-E4E039A3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372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26">
            <a:extLst xmlns:a="http://schemas.openxmlformats.org/drawingml/2006/main">
              <a:ext uri="{FF2B5EF4-FFF2-40B4-BE49-F238E27FC236}">
                <a16:creationId xmlns:a16="http://schemas.microsoft.com/office/drawing/2014/main" id="{223DBA11-F274-4B27-96F6-169E0B0D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057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599598EF-36D1-4FF0-810D-124507BA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741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28">
            <a:extLst xmlns:a="http://schemas.openxmlformats.org/drawingml/2006/main">
              <a:ext uri="{FF2B5EF4-FFF2-40B4-BE49-F238E27FC236}">
                <a16:creationId xmlns:a16="http://schemas.microsoft.com/office/drawing/2014/main" id="{DA76A7D1-5915-40AF-A54D-1AD15E9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426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29">
            <a:extLst xmlns:a="http://schemas.openxmlformats.org/drawingml/2006/main">
              <a:ext uri="{FF2B5EF4-FFF2-40B4-BE49-F238E27FC236}">
                <a16:creationId xmlns:a16="http://schemas.microsoft.com/office/drawing/2014/main" id="{09FEB578-C3C4-4DAE-BC21-172757C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111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0">
            <a:extLst xmlns:a="http://schemas.openxmlformats.org/drawingml/2006/main">
              <a:ext uri="{FF2B5EF4-FFF2-40B4-BE49-F238E27FC236}">
                <a16:creationId xmlns:a16="http://schemas.microsoft.com/office/drawing/2014/main" id="{ACA7A6CC-84BB-45AC-A275-2F3ECB2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795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31">
            <a:extLst xmlns:a="http://schemas.openxmlformats.org/drawingml/2006/main">
              <a:ext uri="{FF2B5EF4-FFF2-40B4-BE49-F238E27FC236}">
                <a16:creationId xmlns:a16="http://schemas.microsoft.com/office/drawing/2014/main" id="{0CCD1773-F8BE-4B72-9E23-5038BF9A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480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32">
            <a:extLst xmlns:a="http://schemas.openxmlformats.org/drawingml/2006/main">
              <a:ext uri="{FF2B5EF4-FFF2-40B4-BE49-F238E27FC236}">
                <a16:creationId xmlns:a16="http://schemas.microsoft.com/office/drawing/2014/main" id="{EEE408B4-14AB-41E4-A8CC-F054894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164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33">
            <a:extLst xmlns:a="http://schemas.openxmlformats.org/drawingml/2006/main">
              <a:ext uri="{FF2B5EF4-FFF2-40B4-BE49-F238E27FC236}">
                <a16:creationId xmlns:a16="http://schemas.microsoft.com/office/drawing/2014/main" id="{165F254C-CC4E-42BF-93EE-73F82D08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849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o34">
            <a:extLst xmlns:a="http://schemas.openxmlformats.org/drawingml/2006/main">
              <a:ext uri="{FF2B5EF4-FFF2-40B4-BE49-F238E27FC236}">
                <a16:creationId xmlns:a16="http://schemas.microsoft.com/office/drawing/2014/main" id="{B78922C0-26FA-4CF0-A840-31B9D784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534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35">
            <a:extLst xmlns:a="http://schemas.openxmlformats.org/drawingml/2006/main">
              <a:ext uri="{FF2B5EF4-FFF2-40B4-BE49-F238E27FC236}">
                <a16:creationId xmlns:a16="http://schemas.microsoft.com/office/drawing/2014/main" id="{39AE752E-12B5-4676-98C1-F3A1B309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218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36">
            <a:extLst xmlns:a="http://schemas.openxmlformats.org/drawingml/2006/main">
              <a:ext uri="{FF2B5EF4-FFF2-40B4-BE49-F238E27FC236}">
                <a16:creationId xmlns:a16="http://schemas.microsoft.com/office/drawing/2014/main" id="{9FDEB30A-73F6-4915-87E0-62ED5E4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903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o37">
            <a:extLst xmlns:a="http://schemas.openxmlformats.org/drawingml/2006/main">
              <a:ext uri="{FF2B5EF4-FFF2-40B4-BE49-F238E27FC236}">
                <a16:creationId xmlns:a16="http://schemas.microsoft.com/office/drawing/2014/main" id="{C992AA33-0131-4D20-8078-84C31EEA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588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o38">
            <a:extLst xmlns:a="http://schemas.openxmlformats.org/drawingml/2006/main">
              <a:ext uri="{FF2B5EF4-FFF2-40B4-BE49-F238E27FC236}">
                <a16:creationId xmlns:a16="http://schemas.microsoft.com/office/drawing/2014/main" id="{CC448FDF-E417-40A4-AD32-AE4E03EB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272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39">
            <a:extLst xmlns:a="http://schemas.openxmlformats.org/drawingml/2006/main">
              <a:ext uri="{FF2B5EF4-FFF2-40B4-BE49-F238E27FC236}">
                <a16:creationId xmlns:a16="http://schemas.microsoft.com/office/drawing/2014/main" id="{BF868678-78EB-4C44-9A09-D944DC70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957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40">
            <a:extLst xmlns:a="http://schemas.openxmlformats.org/drawingml/2006/main">
              <a:ext uri="{FF2B5EF4-FFF2-40B4-BE49-F238E27FC236}">
                <a16:creationId xmlns:a16="http://schemas.microsoft.com/office/drawing/2014/main" id="{65F730A9-869B-47F2-B800-874F1F83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641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41">
            <a:extLst xmlns:a="http://schemas.openxmlformats.org/drawingml/2006/main">
              <a:ext uri="{FF2B5EF4-FFF2-40B4-BE49-F238E27FC236}">
                <a16:creationId xmlns:a16="http://schemas.microsoft.com/office/drawing/2014/main" id="{1D15F37F-8F78-4685-93C8-EA3F42C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326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42">
            <a:extLst xmlns:a="http://schemas.openxmlformats.org/drawingml/2006/main">
              <a:ext uri="{FF2B5EF4-FFF2-40B4-BE49-F238E27FC236}">
                <a16:creationId xmlns:a16="http://schemas.microsoft.com/office/drawing/2014/main" id="{2C5EAA93-0235-4176-899D-F57A62CF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011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43">
            <a:extLst xmlns:a="http://schemas.openxmlformats.org/drawingml/2006/main">
              <a:ext uri="{FF2B5EF4-FFF2-40B4-BE49-F238E27FC236}">
                <a16:creationId xmlns:a16="http://schemas.microsoft.com/office/drawing/2014/main" id="{A5F9FC17-9FF1-4CBB-8548-4902FAD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695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44">
            <a:extLst xmlns:a="http://schemas.openxmlformats.org/drawingml/2006/main">
              <a:ext uri="{FF2B5EF4-FFF2-40B4-BE49-F238E27FC236}">
                <a16:creationId xmlns:a16="http://schemas.microsoft.com/office/drawing/2014/main" id="{89E788E7-4273-4C0F-A29F-1D73668A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380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45">
            <a:extLst xmlns:a="http://schemas.openxmlformats.org/drawingml/2006/main">
              <a:ext uri="{FF2B5EF4-FFF2-40B4-BE49-F238E27FC236}">
                <a16:creationId xmlns:a16="http://schemas.microsoft.com/office/drawing/2014/main" id="{907ABA31-BB08-4B79-AE24-C091EE3B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64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46">
            <a:extLst xmlns:a="http://schemas.openxmlformats.org/drawingml/2006/main">
              <a:ext uri="{FF2B5EF4-FFF2-40B4-BE49-F238E27FC236}">
                <a16:creationId xmlns:a16="http://schemas.microsoft.com/office/drawing/2014/main" id="{4A04D5DF-6AAD-4E6E-BE1A-A584F9F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749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47">
            <a:extLst xmlns:a="http://schemas.openxmlformats.org/drawingml/2006/main">
              <a:ext uri="{FF2B5EF4-FFF2-40B4-BE49-F238E27FC236}">
                <a16:creationId xmlns:a16="http://schemas.microsoft.com/office/drawing/2014/main" id="{CDE43E55-1C0C-4EE2-9BEB-D010EF81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434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48">
            <a:extLst xmlns:a="http://schemas.openxmlformats.org/drawingml/2006/main">
              <a:ext uri="{FF2B5EF4-FFF2-40B4-BE49-F238E27FC236}">
                <a16:creationId xmlns:a16="http://schemas.microsoft.com/office/drawing/2014/main" id="{88063B17-7841-4FF4-A6F3-46D325A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118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o49">
            <a:extLst xmlns:a="http://schemas.openxmlformats.org/drawingml/2006/main">
              <a:ext uri="{FF2B5EF4-FFF2-40B4-BE49-F238E27FC236}">
                <a16:creationId xmlns:a16="http://schemas.microsoft.com/office/drawing/2014/main" id="{362B119E-D969-4186-808C-205D041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803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50">
            <a:extLst xmlns:a="http://schemas.openxmlformats.org/drawingml/2006/main">
              <a:ext uri="{FF2B5EF4-FFF2-40B4-BE49-F238E27FC236}">
                <a16:creationId xmlns:a16="http://schemas.microsoft.com/office/drawing/2014/main" id="{C694962E-A781-47F0-A162-8B42845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488" y="311943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51">
            <a:extLst xmlns:a="http://schemas.openxmlformats.org/drawingml/2006/main">
              <a:ext uri="{FF2B5EF4-FFF2-40B4-BE49-F238E27FC236}">
                <a16:creationId xmlns:a16="http://schemas.microsoft.com/office/drawing/2014/main" id="{B5A6D923-FD43-4E80-8259-406C2B5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5280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运动分析：末尾12点</a:t>
            </a:r>
          </a:p>
        </p:txBody>
      </p:sp>
      <p:sp>
        <p:nvSpPr>
          <p:cNvPr id="53" name="o52">
            <a:extLst xmlns:a="http://schemas.openxmlformats.org/drawingml/2006/main">
              <a:ext uri="{FF2B5EF4-FFF2-40B4-BE49-F238E27FC236}">
                <a16:creationId xmlns:a16="http://schemas.microsoft.com/office/drawing/2014/main" id="{21594847-AADF-400E-BDA2-FE438CAC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重复时间戳</a:t>
            </a:r>
          </a:p>
        </p:txBody>
      </p:sp>
      <p:sp>
        <p:nvSpPr>
          <p:cNvPr id="54" name="o53">
            <a:extLst xmlns:a="http://schemas.openxmlformats.org/drawingml/2006/main">
              <a:ext uri="{FF2B5EF4-FFF2-40B4-BE49-F238E27FC236}">
                <a16:creationId xmlns:a16="http://schemas.microsoft.com/office/drawing/2014/main" id="{2D675E40-3774-48D5-B856-54A04D23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保留最后完整观测</a:t>
            </a:r>
          </a:p>
        </p:txBody>
      </p:sp>
      <p:sp>
        <p:nvSpPr>
          <p:cNvPr id="55" name="o54">
            <a:extLst xmlns:a="http://schemas.openxmlformats.org/drawingml/2006/main">
              <a:ext uri="{FF2B5EF4-FFF2-40B4-BE49-F238E27FC236}">
                <a16:creationId xmlns:a16="http://schemas.microsoft.com/office/drawing/2014/main" id="{C97A8016-7347-4401-B9EE-252FC4E8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5287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同坐标不同时间</a:t>
            </a:r>
          </a:p>
        </p:txBody>
      </p:sp>
      <p:sp>
        <p:nvSpPr>
          <p:cNvPr id="56" name="o55">
            <a:extLst xmlns:a="http://schemas.openxmlformats.org/drawingml/2006/main">
              <a:ext uri="{FF2B5EF4-FFF2-40B4-BE49-F238E27FC236}">
                <a16:creationId xmlns:a16="http://schemas.microsoft.com/office/drawing/2014/main" id="{19E5CE74-4151-4595-9C80-A6E2A6A1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继续保留，形成悬停证据</a:t>
            </a:r>
          </a:p>
        </p:txBody>
      </p:sp>
      <p:sp>
        <p:nvSpPr>
          <p:cNvPr id="57" name="o56">
            <a:extLst xmlns:a="http://schemas.openxmlformats.org/drawingml/2006/main">
              <a:ext uri="{FF2B5EF4-FFF2-40B4-BE49-F238E27FC236}">
                <a16:creationId xmlns:a16="http://schemas.microsoft.com/office/drawing/2014/main" id="{35B332C9-5EEE-4CC0-A80E-F45906E4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直线度</a:t>
            </a:r>
          </a:p>
        </p:txBody>
      </p:sp>
      <p:sp>
        <p:nvSpPr>
          <p:cNvPr id="58" name="line-54">
            <a:extLst xmlns:a="http://schemas.openxmlformats.org/drawingml/2006/main">
              <a:ext uri="{FF2B5EF4-FFF2-40B4-BE49-F238E27FC236}">
                <a16:creationId xmlns:a16="http://schemas.microsoft.com/office/drawing/2014/main" id="{9F97D813-4F79-4625-96E3-392FD63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82000" y="3503295"/>
            <a:ext cx="657225" cy="335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59" name="line-54">
            <a:extLst xmlns:a="http://schemas.openxmlformats.org/drawingml/2006/main">
              <a:ext uri="{FF2B5EF4-FFF2-40B4-BE49-F238E27FC236}">
                <a16:creationId xmlns:a16="http://schemas.microsoft.com/office/drawing/2014/main" id="{DB7A0573-60BF-4982-9B41-CFF50B9A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39225" y="3503295"/>
            <a:ext cx="771525" cy="213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60" name="line-54">
            <a:extLst xmlns:a="http://schemas.openxmlformats.org/drawingml/2006/main">
              <a:ext uri="{FF2B5EF4-FFF2-40B4-BE49-F238E27FC236}">
                <a16:creationId xmlns:a16="http://schemas.microsoft.com/office/drawing/2014/main" id="{F32DA720-E67E-4CC4-918E-43088A49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10750" y="3000375"/>
            <a:ext cx="714375" cy="716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61" name="line-54">
            <a:extLst xmlns:a="http://schemas.openxmlformats.org/drawingml/2006/main">
              <a:ext uri="{FF2B5EF4-FFF2-40B4-BE49-F238E27FC236}">
                <a16:creationId xmlns:a16="http://schemas.microsoft.com/office/drawing/2014/main" id="{DD50C6AE-DC86-48E9-B436-9342B28C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525125" y="2619375"/>
            <a:ext cx="7143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62" name="o61">
            <a:extLst xmlns:a="http://schemas.openxmlformats.org/drawingml/2006/main">
              <a:ext uri="{FF2B5EF4-FFF2-40B4-BE49-F238E27FC236}">
                <a16:creationId xmlns:a16="http://schemas.microsoft.com/office/drawing/2014/main" id="{9BC48740-04A7-4577-9AAE-EBA87C7B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o62">
            <a:extLst xmlns:a="http://schemas.openxmlformats.org/drawingml/2006/main">
              <a:ext uri="{FF2B5EF4-FFF2-40B4-BE49-F238E27FC236}">
                <a16:creationId xmlns:a16="http://schemas.microsoft.com/office/drawing/2014/main" id="{308CE62A-92D3-4E9E-9084-282A6DC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651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o63">
            <a:extLst xmlns:a="http://schemas.openxmlformats.org/drawingml/2006/main">
              <a:ext uri="{FF2B5EF4-FFF2-40B4-BE49-F238E27FC236}">
                <a16:creationId xmlns:a16="http://schemas.microsoft.com/office/drawing/2014/main" id="{9BDB6AC8-F56D-4A97-9BCD-FAA1CFC3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785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o64">
            <a:extLst xmlns:a="http://schemas.openxmlformats.org/drawingml/2006/main">
              <a:ext uri="{FF2B5EF4-FFF2-40B4-BE49-F238E27FC236}">
                <a16:creationId xmlns:a16="http://schemas.microsoft.com/office/drawing/2014/main" id="{DCF22E9E-A9CB-450C-8BBA-9D7605F8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o65">
            <a:extLst xmlns:a="http://schemas.openxmlformats.org/drawingml/2006/main">
              <a:ext uri="{FF2B5EF4-FFF2-40B4-BE49-F238E27FC236}">
                <a16:creationId xmlns:a16="http://schemas.microsoft.com/office/drawing/2014/main" id="{3F829649-F5FB-48D2-8813-CA2A57D6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581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line-59">
            <a:extLst xmlns:a="http://schemas.openxmlformats.org/drawingml/2006/main">
              <a:ext uri="{FF2B5EF4-FFF2-40B4-BE49-F238E27FC236}">
                <a16:creationId xmlns:a16="http://schemas.microsoft.com/office/drawing/2014/main" id="{E2DF684D-3C56-4CC4-B1B8-1B211EF6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82000" y="2619375"/>
            <a:ext cx="285750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680B"/>
            </a:solidFill>
            <a:prstDash val="solid"/>
          </a:ln>
        </p:spPr>
      </p:sp>
      <p:sp>
        <p:nvSpPr>
          <p:cNvPr id="68" name="line-59">
            <a:extLst xmlns:a="http://schemas.openxmlformats.org/drawingml/2006/main">
              <a:ext uri="{FF2B5EF4-FFF2-40B4-BE49-F238E27FC236}">
                <a16:creationId xmlns:a16="http://schemas.microsoft.com/office/drawing/2014/main" id="{6CE5953A-EFCB-4FD5-8AB3-7FC89001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69" name="o68">
            <a:extLst xmlns:a="http://schemas.openxmlformats.org/drawingml/2006/main">
              <a:ext uri="{FF2B5EF4-FFF2-40B4-BE49-F238E27FC236}">
                <a16:creationId xmlns:a16="http://schemas.microsoft.com/office/drawing/2014/main" id="{BD604A16-4C68-4498-B5DC-F5EEB4D7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入口点数足够，不代表每条规则都拥有充分、连续的历史。</a:t>
            </a:r>
          </a:p>
        </p:txBody>
      </p:sp>
      <p:sp>
        <p:nvSpPr>
          <p:cNvPr id="70" name="o69">
            <a:extLst xmlns:a="http://schemas.openxmlformats.org/drawingml/2006/main">
              <a:ext uri="{FF2B5EF4-FFF2-40B4-BE49-F238E27FC236}">
                <a16:creationId xmlns:a16="http://schemas.microsoft.com/office/drawing/2014/main" id="{564BDD4A-C5F1-4672-A330-92CEB9D9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输入：经纬度／毫秒时间戳／高度    产物：有效历史与近期窗口    核验：去重与窗口回归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1" name="native-equation-straightness"/>
          <p:cNvSpPr txBox="1">
            <a:spLocks noGrp="1"/>
          </p:cNvSpPr>
          <p:nvPr/>
        </p:nvSpPr>
        <p:spPr>
          <a:xfrm>
            <a:off x="8239125" y="4429125"/>
            <a:ext cx="3190875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ParaPr>
                  <m:jc m:val="center"/>
                </m:oMathParaPr>
                <m:oMath>
                  <m:r>
                    <w:rPr>
                      <w:sz w:val="44"/>
                      <w:rFonts w:ascii="Cambria Math" w:hAnsi="Cambria Math" w:eastAsia="Cambria Math"/>
                    </w:rPr>
                    <a:rPr lang="zh-CN" sz="22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S</m:t>
                  </m:r>
                  <m:r>
                    <w:rPr>
                      <w:sz w:val="44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2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>
                    <m:fPr>
                      <m:type m:val="bar"/>
                      <m:ctrl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fPr>
                    <m:num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m:rPr>
                                  <m:sty m:val="p"/>
                                </m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num>
                    <m:den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den>
                  </m:f>
                  <m:r>
                    <w:rPr>
                      <w:sz w:val="44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2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w:rPr>
                      <w:sz w:val="44"/>
                      <w:rFonts w:ascii="Cambria Math" w:hAnsi="Cambria Math" w:eastAsia="Cambria Math"/>
                    </w:rPr>
                    <a:rPr lang="zh-CN" sz="22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 </m:t>
                  </m:r>
                  <m:d>
                    <m:dPr>
                      <m:begChr m:val="("/>
                      <m:sepChr m:val=""/>
                      <m:endChr m:val=")"/>
                      <m:grow m:val="on"/>
                      <m:ctrl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dPr>
                    <m:e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w:rPr>
                          <w:sz w:val="44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e>
                  </m:d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2125965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0">
            <a:extLst xmlns:a="http://schemas.openxmlformats.org/drawingml/2006/main">
              <a:ext uri="{FF2B5EF4-FFF2-40B4-BE49-F238E27FC236}">
                <a16:creationId xmlns:a16="http://schemas.microsoft.com/office/drawing/2014/main" id="{D9905A05-AF0E-4D25-A09F-A5638EA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72ADC0F2-E207-43C9-A86E-379D9DEB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特征层把轨迹转换成下游可使用的证据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1C3DD3F-4B30-42B3-862A-2D8DE96C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2C809E83-5B87-49C9-B05B-D126CBB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AA65A1D6-7ED8-4FAE-9597-C66104C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§4；同次case_trace.json；示例为agent_2_0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2D6B9BF-5BEB-4F4A-A116-83CF18D3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08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05D4C154-CD2C-4CEF-8084-5A6E00D7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同次成员：速度14.52 m/s，跨度69.57 m，直线度≈1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FF03F43F-FF2A-4B52-A830-C013443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7348250A-1E78-4906-99CE-84C4726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同名速度需注明窗口和统计方式；特征成立仍须经过规则组合与空间约束。</a:t>
            </a:r>
          </a:p>
        </p:txBody>
      </p:sp>
      <p:graphicFrame xmlns:a="http://schemas.openxmlformats.org/drawingml/2006/main">
        <p:nvGraphicFramePr>
          <p:cNvPr id="7001" name="Table 10"/>
          <p:cNvGraphicFramePr>
            <a:graphicFrameLocks noGrp="1"/>
          </p:cNvGraphicFramePr>
          <p:nvPr/>
        </p:nvGraphicFramePr>
        <p:xfrm>
          <a:off x="609600" y="1771650"/>
          <a:ext cx="1097280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937760"/>
                <a:gridCol w="3840480"/>
              </a:tblGrid>
              <a:tr h="5556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特征组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计算依据与含义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下游用途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556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速度与方向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近期运动段；聚类另用稳健统计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聚类、运动与趋近条件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556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悬停持续时间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末点邻域内连续历史时长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悬停类规则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556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跨度与直线度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最大点对距离、首末距离／路径长度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活动范围与运动模式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556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相对设施运动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同一空间上下文下的距离变化与朝向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趋近、绕转等空间规则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556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群体一致性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成员方向与有效ETA的离散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800">
                          <a:latin typeface="Microsoft YaHei"/>
                          <a:ea typeface="Microsoft YaHei"/>
                          <a:cs typeface="Microsoft YaHei"/>
                        </a:rPr>
                        <a:t>I-26启发式条件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813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0">
            <a:extLst xmlns:a="http://schemas.openxmlformats.org/drawingml/2006/main">
              <a:ext uri="{FF2B5EF4-FFF2-40B4-BE49-F238E27FC236}">
                <a16:creationId xmlns:a16="http://schemas.microsoft.com/office/drawing/2014/main" id="{BBFDFC94-D880-4DB3-BBB5-0A621A95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6E0A656A-2D50-402E-8BE2-C4FC0AE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空间几何与边界距离趋势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AD9FA2AA-87EA-44BF-B6B6-77081A43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3B24FDC-8758-473A-91C9-F1BB2AEE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3F6DF9E2-37EC-4A4D-9CFE-009D893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airspace_analysis.py horizontal_relation / _trend / _movement_relation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51398A16-584A-406F-A09A-BCB153D1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09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B6213B5B-1E4C-4C48-9A5B-4F9A4BE2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2500" y="2095500"/>
            <a:ext cx="76200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4E88"/>
            </a:solidFill>
            <a:prstDash val="solid"/>
          </a:ln>
        </p:spPr>
      </p:sp>
      <p:sp>
        <p:nvSpPr>
          <p:cNvPr id="8" name="line-4">
            <a:extLst xmlns:a="http://schemas.openxmlformats.org/drawingml/2006/main">
              <a:ext uri="{FF2B5EF4-FFF2-40B4-BE49-F238E27FC236}">
                <a16:creationId xmlns:a16="http://schemas.microsoft.com/office/drawing/2014/main" id="{B6DB3BFA-FE10-471E-A532-8B5E376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14500" y="1905000"/>
            <a:ext cx="23812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4E88"/>
            </a:solidFill>
            <a:prstDash val="solid"/>
          </a:ln>
        </p:spPr>
      </p:sp>
      <p:sp>
        <p:nvSpPr>
          <p:cNvPr id="9" name="line-4">
            <a:extLst xmlns:a="http://schemas.openxmlformats.org/drawingml/2006/main">
              <a:ext uri="{FF2B5EF4-FFF2-40B4-BE49-F238E27FC236}">
                <a16:creationId xmlns:a16="http://schemas.microsoft.com/office/drawing/2014/main" id="{CE6F5D7D-D1C6-4C92-B89B-267E1FBC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95750" y="1905000"/>
            <a:ext cx="138112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4E88"/>
            </a:solidFill>
            <a:prstDash val="solid"/>
          </a:ln>
        </p:spPr>
      </p:sp>
      <p:sp>
        <p:nvSpPr>
          <p:cNvPr id="10" name="line-4">
            <a:extLst xmlns:a="http://schemas.openxmlformats.org/drawingml/2006/main">
              <a:ext uri="{FF2B5EF4-FFF2-40B4-BE49-F238E27FC236}">
                <a16:creationId xmlns:a16="http://schemas.microsoft.com/office/drawing/2014/main" id="{D39C1B92-3FC1-4C26-B9C5-6CAB2A2C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86250" y="3333750"/>
            <a:ext cx="11906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4E88"/>
            </a:solidFill>
            <a:prstDash val="solid"/>
          </a:ln>
        </p:spPr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993B7CBE-E701-471C-98EC-EB7812D9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5000" y="4953000"/>
            <a:ext cx="2381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4E88"/>
            </a:solidFill>
            <a:prstDash val="solid"/>
          </a:ln>
        </p:spPr>
      </p:sp>
      <p:sp>
        <p:nvSpPr>
          <p:cNvPr id="12" name="line-4">
            <a:extLst xmlns:a="http://schemas.openxmlformats.org/drawingml/2006/main">
              <a:ext uri="{FF2B5EF4-FFF2-40B4-BE49-F238E27FC236}">
                <a16:creationId xmlns:a16="http://schemas.microsoft.com/office/drawing/2014/main" id="{1C09FB0C-3B9F-4659-87C0-411936D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" y="3810000"/>
            <a:ext cx="9525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4E88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86F2E484-F519-4D14-926C-788E9AB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1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70DC1DEB-127D-4F65-BDDF-CA51B12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7A6C4E2A-F17D-4917-8718-C69CFDC3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ine-7">
            <a:extLst xmlns:a="http://schemas.openxmlformats.org/drawingml/2006/main">
              <a:ext uri="{FF2B5EF4-FFF2-40B4-BE49-F238E27FC236}">
                <a16:creationId xmlns:a16="http://schemas.microsoft.com/office/drawing/2014/main" id="{F82FDC99-90B7-44ED-BE71-93F28112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87410" y="3727418"/>
            <a:ext cx="241840" cy="1778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680B"/>
            </a:solidFill>
            <a:prstDash val="dash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6814E1D2-A53F-42EF-B957-E66A38E7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最近边界距离</a:t>
            </a:r>
          </a:p>
        </p:txBody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BA347532-411C-4DA3-B54B-83040C02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内外判断＋边界容差＋可比较高度</a:t>
            </a:r>
          </a:p>
        </p:txBody>
      </p:sp>
      <p:sp>
        <p:nvSpPr>
          <p:cNvPr id="19" name="line-9">
            <a:extLst xmlns:a="http://schemas.openxmlformats.org/drawingml/2006/main">
              <a:ext uri="{FF2B5EF4-FFF2-40B4-BE49-F238E27FC236}">
                <a16:creationId xmlns:a16="http://schemas.microsoft.com/office/drawing/2014/main" id="{EAD76580-210D-4B8C-9779-57BD77F5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239000" y="4143375"/>
            <a:ext cx="4000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20" name="line-9">
            <a:extLst xmlns:a="http://schemas.openxmlformats.org/drawingml/2006/main">
              <a:ext uri="{FF2B5EF4-FFF2-40B4-BE49-F238E27FC236}">
                <a16:creationId xmlns:a16="http://schemas.microsoft.com/office/drawing/2014/main" id="{2E5FB0EE-D54F-4A53-B5A6-C575D8B3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239000" y="2000250"/>
            <a:ext cx="953" cy="2143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21" name="line-9">
            <a:extLst xmlns:a="http://schemas.openxmlformats.org/drawingml/2006/main">
              <a:ext uri="{FF2B5EF4-FFF2-40B4-BE49-F238E27FC236}">
                <a16:creationId xmlns:a16="http://schemas.microsoft.com/office/drawing/2014/main" id="{3ABA6E9F-A1D0-438E-B0C3-238992EC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24750" y="2381250"/>
            <a:ext cx="8572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22" name="line-9">
            <a:extLst xmlns:a="http://schemas.openxmlformats.org/drawingml/2006/main">
              <a:ext uri="{FF2B5EF4-FFF2-40B4-BE49-F238E27FC236}">
                <a16:creationId xmlns:a16="http://schemas.microsoft.com/office/drawing/2014/main" id="{9B4DA0E0-382C-42F2-B789-100379C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0" y="2714625"/>
            <a:ext cx="8572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23" name="line-9">
            <a:extLst xmlns:a="http://schemas.openxmlformats.org/drawingml/2006/main">
              <a:ext uri="{FF2B5EF4-FFF2-40B4-BE49-F238E27FC236}">
                <a16:creationId xmlns:a16="http://schemas.microsoft.com/office/drawing/2014/main" id="{CCBEE8D6-4A3A-4004-BBD5-AB4B5E4E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39250" y="3114675"/>
            <a:ext cx="8572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24" name="line-9">
            <a:extLst xmlns:a="http://schemas.openxmlformats.org/drawingml/2006/main">
              <a:ext uri="{FF2B5EF4-FFF2-40B4-BE49-F238E27FC236}">
                <a16:creationId xmlns:a16="http://schemas.microsoft.com/office/drawing/2014/main" id="{E79595E3-10C0-4293-ACC4-91711E8C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96500" y="3476625"/>
            <a:ext cx="8572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08C012F0-677C-4B4B-9F88-5DAB6898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到边界距离 d（m）</a:t>
            </a:r>
          </a:p>
        </p:txBody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95B64CBA-EF63-4EBD-A95E-6650C34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86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实际时间 t（s）</a:t>
            </a:r>
          </a:p>
        </p:txBody>
      </p:sp>
      <p:sp>
        <p:nvSpPr>
          <p:cNvPr id="27" name="line-11">
            <a:extLst xmlns:a="http://schemas.openxmlformats.org/drawingml/2006/main">
              <a:ext uri="{FF2B5EF4-FFF2-40B4-BE49-F238E27FC236}">
                <a16:creationId xmlns:a16="http://schemas.microsoft.com/office/drawing/2014/main" id="{5F318914-9FB3-4429-9027-33D20926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F3ABE372-B3A7-435A-8B39-FDC6214C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方法示意：同样的负斜率，在区域外是趋近，在区域内是向出口运动。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slope"/>
          <p:cNvSpPr txBox="1">
            <a:spLocks noGrp="1"/>
          </p:cNvSpPr>
          <p:nvPr/>
        </p:nvSpPr>
        <p:spPr>
          <a:xfrm>
            <a:off x="6667500" y="4762500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r>
                    <w:rPr>
                      <w:sz w:val="48"/>
                      <w:rFonts w:ascii="Cambria Math" w:hAnsi="Cambria Math" w:eastAsia="Cambria Math"/>
                    </w:rPr>
                    <m:t>b = </m:t>
                  </m:r>
                  <m:f>
                    <m:num>
                      <m:sSub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Σ</m:t>
                          </m:r>
                        </m:e>
                        <m:sub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k</m:t>
                          </m:r>
                        </m:sub>
                      </m:sSub>
                      <m:r>
                        <w:rPr>
                          <w:sz w:val="48"/>
                          <w:rFonts w:ascii="Cambria Math" w:hAnsi="Cambria Math" w:eastAsia="Cambria Math"/>
                        </w:rPr>
                        <m:t> (</m:t>
                      </m:r>
                      <m:sSub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t</m:t>
                          </m:r>
                        </m:e>
                        <m:sub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k</m:t>
                          </m:r>
                        </m:sub>
                      </m:sSub>
                      <m:r>
                        <w:rPr>
                          <w:sz w:val="48"/>
                          <w:rFonts w:ascii="Cambria Math" w:hAnsi="Cambria Math" w:eastAsia="Cambria Math"/>
                        </w:rPr>
                        <m:t> − </m:t>
                      </m:r>
                      <m:bar>
                        <m:barPr>
                          <m:pos m:val="top"/>
                        </m:barPr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t</m:t>
                          </m:r>
                        </m:e>
                      </m:bar>
                      <m:r>
                        <w:rPr>
                          <w:sz w:val="48"/>
                          <w:rFonts w:ascii="Cambria Math" w:hAnsi="Cambria Math" w:eastAsia="Cambria Math"/>
                        </w:rPr>
                        <m:t>)(</m:t>
                      </m:r>
                      <m:sSub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d</m:t>
                          </m:r>
                        </m:e>
                        <m:sub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k</m:t>
                          </m:r>
                        </m:sub>
                      </m:sSub>
                      <m:r>
                        <w:rPr>
                          <w:sz w:val="48"/>
                          <w:rFonts w:ascii="Cambria Math" w:hAnsi="Cambria Math" w:eastAsia="Cambria Math"/>
                        </w:rPr>
                        <m:t> − </m:t>
                      </m:r>
                      <m:bar>
                        <m:barPr>
                          <m:pos m:val="top"/>
                        </m:barPr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d</m:t>
                          </m:r>
                        </m:e>
                      </m:bar>
                      <m:r>
                        <w:rPr>
                          <w:sz w:val="48"/>
                          <w:rFonts w:ascii="Cambria Math" w:hAnsi="Cambria Math" w:eastAsia="Cambria Math"/>
                        </w:rPr>
                        <m:t>)</m:t>
                      </m:r>
                    </m:num>
                    <m:den>
                      <m:sSub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Σ</m:t>
                          </m:r>
                        </m:e>
                        <m:sub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k</m:t>
                          </m:r>
                        </m:sub>
                      </m:sSub>
                      <m:sSup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(</m:t>
                          </m:r>
                          <m:sSub>
                            <m:e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m:t>t</m:t>
                              </m:r>
                            </m:e>
                            <m:sub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m:t>k</m:t>
                              </m:r>
                            </m:sub>
                          </m:sSub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 − </m:t>
                          </m:r>
                          <m:bar>
                            <m:barPr>
                              <m:pos m:val="top"/>
                            </m:barPr>
                            <m:e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m:t>t</m:t>
                              </m:r>
                            </m:e>
                          </m:bar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)</m:t>
                          </m:r>
                        </m:e>
                        <m:sup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978812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64ECA-9B17-4B4F-9147-0F9FCB48B12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96325" y="2486025"/>
            <a:ext cx="3048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8A652-7D68-4F6F-B9C5-ABA1306FBA0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86425" y="24860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3E174-7316-4A75-A5B0-656C8E94541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0350" y="24860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18" name="o0">
            <a:extLst xmlns:a="http://schemas.openxmlformats.org/drawingml/2006/main">
              <a:ext uri="{FF2B5EF4-FFF2-40B4-BE49-F238E27FC236}">
                <a16:creationId xmlns:a16="http://schemas.microsoft.com/office/drawing/2014/main" id="{5073617D-A015-4226-95FB-9FB5079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A1C06888-642E-4663-B465-B0971DD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候选区域筛选与 SpatialContext 构建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89C7AD47-44FB-48AE-8510-6334094B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5BB792F-86B2-44BC-A798-5DEC6D9C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F8925CE6-6CB0-4B57-A414-FD7BC4B2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airspace_analysis.py _evaluate_target / _candidate_key / _spatial_context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6F9A51FD-370B-4E37-8881-15597A38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10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046F3526-A41C-45E7-8AFE-B7B8736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有效期／几何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高度适用性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251D9B8E-2FE2-4669-B08E-A76C97D8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命中或外层边界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关联范围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04598E94-B164-414B-8C43-2A382845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955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确定性候选排序</a:t>
            </a:r>
          </a:p>
        </p:txBody>
      </p:sp>
      <p:sp>
        <p:nvSpPr>
          <p:cNvPr id="10" name="o11">
            <a:extLst xmlns:a="http://schemas.openxmlformats.org/drawingml/2006/main">
              <a:ext uri="{FF2B5EF4-FFF2-40B4-BE49-F238E27FC236}">
                <a16:creationId xmlns:a16="http://schemas.microsoft.com/office/drawing/2014/main" id="{84266247-2AD8-4882-82BE-415AE6F2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14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SpatialContext</a:t>
            </a:r>
          </a:p>
        </p:txBody>
      </p:sp>
      <p:sp>
        <p:nvSpPr>
          <p:cNvPr id="11" name="o12">
            <a:extLst xmlns:a="http://schemas.openxmlformats.org/drawingml/2006/main">
              <a:ext uri="{FF2B5EF4-FFF2-40B4-BE49-F238E27FC236}">
                <a16:creationId xmlns:a16="http://schemas.microsoft.com/office/drawing/2014/main" id="{EC4CD036-B7B7-4F52-BA3E-182EA0E5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2381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scope / uncertainty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主区域及区域类型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所属空域 / 关联设施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圈层状态 / 运动趋势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边界距离 / 命中记录</a:t>
            </a:r>
          </a:p>
        </p:txBody>
      </p:sp>
      <p:sp>
        <p:nvSpPr>
          <p:cNvPr id="12" name="o13">
            <a:extLst xmlns:a="http://schemas.openxmlformats.org/drawingml/2006/main">
              <a:ext uri="{FF2B5EF4-FFF2-40B4-BE49-F238E27FC236}">
                <a16:creationId xmlns:a16="http://schemas.microsoft.com/office/drawing/2014/main" id="{443BC1EE-12FF-44FE-8CD2-C21B821D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95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line-10">
            <a:extLst xmlns:a="http://schemas.openxmlformats.org/drawingml/2006/main">
              <a:ext uri="{FF2B5EF4-FFF2-40B4-BE49-F238E27FC236}">
                <a16:creationId xmlns:a16="http://schemas.microsoft.com/office/drawing/2014/main" id="{5EA0559A-5483-4292-8156-DC232D74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4" name="o16">
            <a:extLst xmlns:a="http://schemas.openxmlformats.org/drawingml/2006/main">
              <a:ext uri="{FF2B5EF4-FFF2-40B4-BE49-F238E27FC236}">
                <a16:creationId xmlns:a16="http://schemas.microsoft.com/office/drawing/2014/main" id="{3FCD3DC8-ADF5-4B46-81E4-96C59FF3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防控空域ID与法定禁飞区ID分别保存；范围参考边界，而非设施中心。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3667125"/>
          <a:ext xmlns:a="http://schemas.openxmlformats.org/drawingml/2006/main" cx="6858000" cy="1524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2263140"/>
                <a:gridCol w="2880360"/>
              </a:tblGrid>
              <a:tr h="50800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命中状态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首要比较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后续比较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50800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已命中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严重程度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边界距离／稳定ID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未命中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最近边界距离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严重程度／稳定ID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133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BEB4F-F46D-4573-94D3-6D76031E47E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20000" y="539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B723F-312F-449F-A76F-F8CECB489832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714750" y="539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7" name="o0">
            <a:extLst xmlns:a="http://schemas.openxmlformats.org/drawingml/2006/main">
              <a:ext uri="{FF2B5EF4-FFF2-40B4-BE49-F238E27FC236}">
                <a16:creationId xmlns:a16="http://schemas.microsoft.com/office/drawing/2014/main" id="{1D7733FB-F619-44E2-BFFE-47141D77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85790876-EE79-429A-8357-1704AED7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多设施场景下的证据作用域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71618A94-92A3-4149-BDA8-55401380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ABD91C9-8E3C-4F4C-9940-947FE0F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A8E030EF-23B4-4D0A-A27C-852D3241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engine.py _spatial_context_key / _same_primary_context / _facilities_for_context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C7EC72AB-C5F9-4633-8A08-AD4F2300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11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75F8186C-91A5-4551-8FCD-907781AD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DA341E65-95E8-4A11-A91B-32C86B8D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95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AF0F3DF5-74E4-48F7-9761-574CA968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71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设施 A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C4D60E5F-1A8D-41C0-8962-741CA664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32385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86288910-96A8-42A4-A4FA-E5A1BF3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168D4C20-030B-40FD-B76C-845EA194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设施 B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C87BE46B-A34E-43D6-A8E2-73E7A121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55A62F8C-356B-4349-BEA7-5A8F410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2F95E809-9DD0-43A6-B071-F236109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C9D36467-BF46-4D95-A87F-77B2A52C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C795E157-614B-4A94-B32B-E952929D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5CD43DD0-001C-4511-8A64-B92F4C9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成员空间上下文集合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2317DFC3-565A-46DF-802A-13EDDC9F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确定主上下文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选取同作用域成员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3042B993-F9A2-46CE-9B22-E88DAD47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意图／评分／ETA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使用一致设施依据</a:t>
            </a:r>
          </a:p>
        </p:txBody>
      </p:sp>
      <p:sp>
        <p:nvSpPr>
          <p:cNvPr id="21" name="o22">
            <a:extLst xmlns:a="http://schemas.openxmlformats.org/drawingml/2006/main">
              <a:ext uri="{FF2B5EF4-FFF2-40B4-BE49-F238E27FC236}">
                <a16:creationId xmlns:a16="http://schemas.microsoft.com/office/drawing/2014/main" id="{093E7011-595F-4DB1-9DE0-4DA1BDDC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A方向的成员</a:t>
            </a:r>
          </a:p>
        </p:txBody>
      </p:sp>
      <p:sp>
        <p:nvSpPr>
          <p:cNvPr id="22" name="o23">
            <a:extLst xmlns:a="http://schemas.openxmlformats.org/drawingml/2006/main">
              <a:ext uri="{FF2B5EF4-FFF2-40B4-BE49-F238E27FC236}">
                <a16:creationId xmlns:a16="http://schemas.microsoft.com/office/drawing/2014/main" id="{7D4BEF71-EBC7-4517-9A62-C18256F5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B方向的成员</a:t>
            </a:r>
          </a:p>
        </p:txBody>
      </p:sp>
      <p:sp>
        <p:nvSpPr>
          <p:cNvPr id="23" name="line-20">
            <a:extLst xmlns:a="http://schemas.openxmlformats.org/drawingml/2006/main">
              <a:ext uri="{FF2B5EF4-FFF2-40B4-BE49-F238E27FC236}">
                <a16:creationId xmlns:a16="http://schemas.microsoft.com/office/drawing/2014/main" id="{A4FCA860-5AC9-4C67-A10E-C23F144B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24" name="o25">
            <a:extLst xmlns:a="http://schemas.openxmlformats.org/drawingml/2006/main">
              <a:ext uri="{FF2B5EF4-FFF2-40B4-BE49-F238E27FC236}">
                <a16:creationId xmlns:a16="http://schemas.microsoft.com/office/drawing/2014/main" id="{6DABFE55-6EF1-4146-A4D0-E65A2CA7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已知不相关与空间不可用分别处理；后者不直接套用低档上限。</a:t>
            </a:r>
          </a:p>
        </p:txBody>
      </p:sp>
    </p:spTree>
    <p:extLst>
      <p:ext uri="{BB962C8B-B14F-4D97-AF65-F5344CB8AC3E}">
        <p14:creationId xmlns:p14="http://schemas.microsoft.com/office/powerpoint/2010/main" val="1521215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o0">
            <a:extLst xmlns:a="http://schemas.openxmlformats.org/drawingml/2006/main">
              <a:ext uri="{FF2B5EF4-FFF2-40B4-BE49-F238E27FC236}">
                <a16:creationId xmlns:a16="http://schemas.microsoft.com/office/drawing/2014/main" id="{FFFEFA67-EC53-48A8-8951-7BF73659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133B742-E512-4B20-A025-B0D48017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DBSCAN 邻域与实际分组机制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874CFBF4-29D3-4C9B-8C0C-FF5B32F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5BF519A4-64B1-436B-B60C-58190C88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68AFB0B-A8E2-4015-A3BD-BE2E5CA8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clusters_recognition.py _make_clustering；Ester等 KDD 1996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45F147D-6657-41FF-96EE-8B4537E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12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A5779848-6234-45CC-9021-99B36A24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解释示意矩阵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C81DFE37-CA47-478D-9E28-51236376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0" y="2857500"/>
            <a:ext cx="1524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70"/>
            </a:solidFill>
            <a:prstDash val="solid"/>
          </a:ln>
        </p:spPr>
      </p:sp>
      <p:sp>
        <p:nvSpPr>
          <p:cNvPr id="9" name="line-5">
            <a:extLst xmlns:a="http://schemas.openxmlformats.org/drawingml/2006/main">
              <a:ext uri="{FF2B5EF4-FFF2-40B4-BE49-F238E27FC236}">
                <a16:creationId xmlns:a16="http://schemas.microsoft.com/office/drawing/2014/main" id="{8C585C21-FFDD-4D96-BB36-70785146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72500" y="2857500"/>
            <a:ext cx="1524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70"/>
            </a:solidFill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5D88FD1E-1475-4280-A3B6-CF2D65A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9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0AE1C928-A4BB-475A-9DE0-E1CD853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81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833C639C-3002-426B-BF75-F088B1F0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09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00DE9065-BB41-4B20-BE1A-3FC2DB2A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10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175FE3AE-EF27-4BF5-B18C-B2AC1302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A、B、C：链式连通成一簇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2C260CA1-1F70-494E-8D28-335639E4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D：单目标簇</a:t>
            </a:r>
          </a:p>
        </p:txBody>
      </p:sp>
      <p:sp>
        <p:nvSpPr>
          <p:cNvPr id="16" name="line-11">
            <a:extLst xmlns:a="http://schemas.openxmlformats.org/drawingml/2006/main">
              <a:ext uri="{FF2B5EF4-FFF2-40B4-BE49-F238E27FC236}">
                <a16:creationId xmlns:a16="http://schemas.microsoft.com/office/drawing/2014/main" id="{A5B02337-A4B5-46FD-B3D8-F849E01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3771AF39-70F0-490A-A73B-1D45D958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eps=1.5，min_samples=1；正常路径保留完整成对矩阵，存在平方开销。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neighbors"/>
          <p:cNvSpPr txBox="1">
            <a:spLocks noGrp="1"/>
          </p:cNvSpPr>
          <p:nvPr/>
        </p:nvSpPr>
        <p:spPr>
          <a:xfrm>
            <a:off x="609600" y="1666875"/>
            <a:ext cx="619125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4"/>
                          <w:rFonts w:ascii="Cambria Math" w:hAnsi="Cambria Math" w:eastAsia="Cambria Math"/>
                        </w:rPr>
                        <m:t>N</m:t>
                      </m:r>
                    </m:e>
                    <m:sub>
                      <m:r>
                        <w:rPr>
                          <w:sz w:val="54"/>
                          <w:rFonts w:ascii="Cambria Math" w:hAnsi="Cambria Math" w:eastAsia="Cambria Math"/>
                        </w:rPr>
                        <m:t>ε</m:t>
                      </m:r>
                    </m:sub>
                  </m:sSub>
                  <m:r>
                    <w:rPr>
                      <w:sz w:val="54"/>
                      <w:rFonts w:ascii="Cambria Math" w:hAnsi="Cambria Math" w:eastAsia="Cambria Math"/>
                    </w:rPr>
                    <m:t>(i) = {j : </m:t>
                  </m:r>
                  <m:sSub>
                    <m:e>
                      <m:r>
                        <w:rPr>
                          <w:sz w:val="54"/>
                          <w:rFonts w:ascii="Cambria Math" w:hAnsi="Cambria Math" w:eastAsia="Cambria Math"/>
                        </w:rPr>
                        <m:t>D</m:t>
                      </m:r>
                    </m:e>
                    <m:sub>
                      <m:r>
                        <w:rPr>
                          <w:sz w:val="54"/>
                          <w:rFonts w:ascii="Cambria Math" w:hAnsi="Cambria Math" w:eastAsia="Cambria Math"/>
                        </w:rPr>
                        <m:t>ij</m:t>
                      </m:r>
                    </m:sub>
                  </m:sSub>
                  <m:r>
                    <w:rPr>
                      <w:sz w:val="54"/>
                      <w:rFonts w:ascii="Cambria Math" w:hAnsi="Cambria Math" w:eastAsia="Cambria Math"/>
                    </w:rPr>
                    <m:t> ≤ ε}</m:t>
                  </m:r>
                </m:oMath>
              </m:oMathPara>
            </a14:m>
          </a:p>
        </p:txBody>
      </p:sp>
      <p:graphicFrame>
        <p:nvGraphicFramePr>
          <p:cNvPr id="7002" name="native-table-7002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51435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28700"/>
                <a:gridCol w="1028700"/>
                <a:gridCol w="1028700"/>
                <a:gridCol w="1028700"/>
                <a:gridCol w="1028700"/>
              </a:tblGrid>
              <a:tr h="5143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5143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5951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o0">
            <a:extLst xmlns:a="http://schemas.openxmlformats.org/drawingml/2006/main">
              <a:ext uri="{FF2B5EF4-FFF2-40B4-BE49-F238E27FC236}">
                <a16:creationId xmlns:a16="http://schemas.microsoft.com/office/drawing/2014/main" id="{8803DFD8-AE7F-4BF3-A258-0D3D874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B90A0EE1-802D-4914-857D-07676B9D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稳健运动统计与成对可靠度距离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04DD7B62-787A-4F08-A630-5FEAE313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E900213E-2419-452B-8937-96DE0D6E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D7015CA-0D4C-4A29-B45E-A166213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clusters_recognition.py _robust_motion_components / _pairwise_feature_distances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7758269-6C07-4C3E-825C-310A32C5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13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4D2DCCED-D517-4E04-A124-1A8DC392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81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有效运动段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8DBDFEAF-3F8A-4BA9-A08C-ED3105A0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真实时间差</a:t>
            </a:r>
          </a:p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最多最近11段</a:t>
            </a:r>
          </a:p>
        </p:txBody>
      </p:sp>
      <p:sp>
        <p:nvSpPr>
          <p:cNvPr id="9" name="line-6">
            <a:extLst xmlns:a="http://schemas.openxmlformats.org/drawingml/2006/main">
              <a:ext uri="{FF2B5EF4-FFF2-40B4-BE49-F238E27FC236}">
                <a16:creationId xmlns:a16="http://schemas.microsoft.com/office/drawing/2014/main" id="{E4C3FD2D-CF45-4243-B9A4-184FC8F0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90850" y="2257425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5469D99A-89B8-4D4C-80FD-DD1E92BC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52625"/>
            <a:ext cx="2381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稳健统计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D533B808-4253-4EC1-AD44-EA2F086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003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速度中位数</a:t>
            </a:r>
          </a:p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单位方向中位数</a:t>
            </a:r>
          </a:p>
        </p:txBody>
      </p:sp>
      <p:sp>
        <p:nvSpPr>
          <p:cNvPr id="12" name="line-8">
            <a:extLst xmlns:a="http://schemas.openxmlformats.org/drawingml/2006/main">
              <a:ext uri="{FF2B5EF4-FFF2-40B4-BE49-F238E27FC236}">
                <a16:creationId xmlns:a16="http://schemas.microsoft.com/office/drawing/2014/main" id="{C1A4B38D-7CEE-4240-B999-8F633D8D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00725" y="2257425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A4AC6C3C-78D8-4488-9B68-150B2287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2381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标准化与可靠度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3E91C357-ED88-4248-8239-27F8C576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空间／角度／速度尺度</a:t>
            </a:r>
          </a:p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启停、转向、低速门控</a:t>
            </a:r>
          </a:p>
        </p:txBody>
      </p:sp>
      <p:sp>
        <p:nvSpPr>
          <p:cNvPr id="15" name="line-10">
            <a:extLst xmlns:a="http://schemas.openxmlformats.org/drawingml/2006/main">
              <a:ext uri="{FF2B5EF4-FFF2-40B4-BE49-F238E27FC236}">
                <a16:creationId xmlns:a16="http://schemas.microsoft.com/office/drawing/2014/main" id="{4E64F6C8-ABC0-4AB2-8915-B533C97B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0600" y="2257425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ED75D994-2955-4778-A8CA-03FDC20C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3812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成对距离</a:t>
            </a:r>
          </a:p>
        </p:txBody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436DEE4A-A233-4E62-8948-2630635B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003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两方最小可靠度</a:t>
            </a:r>
          </a:p>
          <a:p xmlns:a="http://schemas.openxmlformats.org/drawingml/2006/main"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平方和开根号</a:t>
            </a:r>
          </a:p>
        </p:txBody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D85EC74B-1B52-4FC3-AD5F-5030A4A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保留稳定同向目标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BE5F8A1D-4CAD-4E9C-A81D-41E2334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958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减少单帧抖动／启停过渡的错误分离</a:t>
            </a:r>
          </a:p>
        </p:txBody>
      </p:sp>
      <p:sp>
        <p:nvSpPr>
          <p:cNvPr id="20" name="line-14">
            <a:extLst xmlns:a="http://schemas.openxmlformats.org/drawingml/2006/main">
              <a:ext uri="{FF2B5EF4-FFF2-40B4-BE49-F238E27FC236}">
                <a16:creationId xmlns:a16="http://schemas.microsoft.com/office/drawing/2014/main" id="{90576A0D-B1D3-4D83-A333-76A0412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B5C9BB7B-59D5-4CCB-8A7F-568E35A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可靠度是特征贡献控制，不是经过统计校准的概率。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reliability"/>
          <p:cNvSpPr txBox="1">
            <a:spLocks noGrp="1"/>
          </p:cNvSpPr>
          <p:nvPr/>
        </p:nvSpPr>
        <p:spPr>
          <a:xfrm>
            <a:off x="609600" y="4057650"/>
            <a:ext cx="4095750" cy="714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2"/>
                          <w:rFonts w:ascii="Cambria Math" w:hAnsi="Cambria Math" w:eastAsia="Cambria Math"/>
                        </w:rPr>
                        <m:t>r</m:t>
                      </m:r>
                    </m:e>
                    <m: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ij</m:t>
                      </m:r>
                    </m:sub>
                  </m:sSub>
                  <m:r>
                    <w:rPr>
                      <w:sz w:val="52"/>
                      <w:rFonts w:ascii="Cambria Math" w:hAnsi="Cambria Math" w:eastAsia="Cambria Math"/>
                    </w:rPr>
                    <m:t> = min(</m:t>
                  </m:r>
                  <m:sSub>
                    <m:e>
                      <m:r>
                        <w:rPr>
                          <w:sz w:val="52"/>
                          <w:rFonts w:ascii="Cambria Math" w:hAnsi="Cambria Math" w:eastAsia="Cambria Math"/>
                        </w:rPr>
                        <m:t>r</m:t>
                      </m:r>
                    </m:e>
                    <m: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i</m:t>
                      </m:r>
                    </m:sub>
                  </m:sSub>
                  <m:r>
                    <w:rPr>
                      <w:sz w:val="52"/>
                      <w:rFonts w:ascii="Cambria Math" w:hAnsi="Cambria Math" w:eastAsia="Cambria Math"/>
                    </w:rPr>
                    <m:t>, </m:t>
                  </m:r>
                  <m:sSub>
                    <m:e>
                      <m:r>
                        <w:rPr>
                          <w:sz w:val="52"/>
                          <w:rFonts w:ascii="Cambria Math" w:hAnsi="Cambria Math" w:eastAsia="Cambria Math"/>
                        </w:rPr>
                        <m:t>r</m:t>
                      </m:r>
                    </m:e>
                    <m: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j</m:t>
                      </m:r>
                    </m:sub>
                  </m:sSub>
                  <m:r>
                    <w:rPr>
                      <w:sz w:val="52"/>
                      <w:rFonts w:ascii="Cambria Math" w:hAnsi="Cambria Math" w:eastAsia="Cambria Math"/>
                    </w:rPr>
                    <m:t>)</m:t>
                  </m:r>
                </m:oMath>
              </m:oMathPara>
            </a14:m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2" name="equation-distance"/>
          <p:cNvSpPr txBox="1">
            <a:spLocks noGrp="1"/>
          </p:cNvSpPr>
          <p:nvPr/>
        </p:nvSpPr>
        <p:spPr>
          <a:xfrm>
            <a:off x="4905375" y="4057650"/>
            <a:ext cx="6667500" cy="714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2"/>
                          <w:rFonts w:ascii="Cambria Math" w:hAnsi="Cambria Math" w:eastAsia="Cambria Math"/>
                        </w:rPr>
                        <m:t>D</m:t>
                      </m:r>
                    </m:e>
                    <m: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ij</m:t>
                      </m:r>
                    </m:sub>
                  </m:sSub>
                  <m:r>
                    <w:rPr>
                      <w:sz w:val="52"/>
                      <w:rFonts w:ascii="Cambria Math" w:hAnsi="Cambria Math" w:eastAsia="Cambria Math"/>
                    </w:rPr>
                    <m:t> = </m:t>
                  </m:r>
                  <m:rad>
                    <m:radPr>
                      <m:degHide m:val="1"/>
                    </m:radPr>
                    <m:deg/>
                    <m:e>
                      <m:sSup>
                        <m:e>
                          <m:sSub>
                            <m:e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d</m:t>
                              </m:r>
                            </m:e>
                            <m:sub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pos</m:t>
                              </m:r>
                            </m:sub>
                          </m:sSub>
                        </m:e>
                        <m:sup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2</m:t>
                          </m:r>
                        </m:sup>
                      </m:sSup>
                      <m:r>
                        <w:rPr>
                          <w:sz w:val="52"/>
                          <w:rFonts w:ascii="Cambria Math" w:hAnsi="Cambria Math" w:eastAsia="Cambria Math"/>
                        </w:rPr>
                        <m:t> + </m:t>
                      </m:r>
                      <m:sSup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(</m:t>
                          </m:r>
                          <m:sSub>
                            <m:e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r</m:t>
                              </m:r>
                            </m:e>
                            <m:sub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dir</m:t>
                              </m:r>
                            </m:sub>
                          </m:s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 </m:t>
                          </m:r>
                          <m:sSub>
                            <m:e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d</m:t>
                              </m:r>
                            </m:e>
                            <m:sub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dir</m:t>
                              </m:r>
                            </m:sub>
                          </m:s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)</m:t>
                          </m:r>
                        </m:e>
                        <m:sup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2</m:t>
                          </m:r>
                        </m:sup>
                      </m:sSup>
                      <m:r>
                        <w:rPr>
                          <w:sz w:val="52"/>
                          <w:rFonts w:ascii="Cambria Math" w:hAnsi="Cambria Math" w:eastAsia="Cambria Math"/>
                        </w:rPr>
                        <m:t> + </m:t>
                      </m:r>
                      <m:sSup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(</m:t>
                          </m:r>
                          <m:sSub>
                            <m:e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r</m:t>
                              </m:r>
                            </m:e>
                            <m:sub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speed</m:t>
                              </m:r>
                            </m:sub>
                          </m:s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 </m:t>
                          </m:r>
                          <m:sSub>
                            <m:e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d</m:t>
                              </m:r>
                            </m:e>
                            <m:sub>
                              <m:r>
                                <w:rPr>
                                  <w:sz w:val="52"/>
                                  <w:rFonts w:ascii="Cambria Math" w:hAnsi="Cambria Math" w:eastAsia="Cambria Math"/>
                                </w:rPr>
                                <m:t>speed</m:t>
                              </m:r>
                            </m:sub>
                          </m:s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)</m:t>
                          </m:r>
                        </m:e>
                        <m:sup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2</m:t>
                          </m:r>
                        </m:sup>
                      </m:sSup>
                    </m:e>
                  </m:rad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192449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o0">
            <a:extLst xmlns:a="http://schemas.openxmlformats.org/drawingml/2006/main">
              <a:ext uri="{FF2B5EF4-FFF2-40B4-BE49-F238E27FC236}">
                <a16:creationId xmlns:a16="http://schemas.microsoft.com/office/drawing/2014/main" id="{90704A6A-FE0B-4BC8-B689-730A3D8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FC56DE1F-6342-489C-8580-187E10FD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三类运动场景的聚类回归实值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F072A7FC-01A9-44FD-A61E-109A51A9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9A8CD524-8183-4DFA-9EEE-BD47840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659DCC96-D850-4AF9-898F-E711BAC1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method_evidence.json；现行SplitClusters；本轮实际执行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CBB52B1D-1265-494B-B520-CC62982B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14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002346AC-A066-4A44-9420-39B3B61B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单帧转向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88CCFE83-246C-47DD-9456-22720C9D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7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9" name="line-5">
            <a:extLst xmlns:a="http://schemas.openxmlformats.org/drawingml/2006/main">
              <a:ext uri="{FF2B5EF4-FFF2-40B4-BE49-F238E27FC236}">
                <a16:creationId xmlns:a16="http://schemas.microsoft.com/office/drawing/2014/main" id="{595C48C7-0E3B-4BCA-8208-43BAFCB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28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0" name="line-5">
            <a:extLst xmlns:a="http://schemas.openxmlformats.org/drawingml/2006/main">
              <a:ext uri="{FF2B5EF4-FFF2-40B4-BE49-F238E27FC236}">
                <a16:creationId xmlns:a16="http://schemas.microsoft.com/office/drawing/2014/main" id="{3B24E43D-77B1-4EF0-B1D0-0D3FDBA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9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1" name="line-5">
            <a:extLst xmlns:a="http://schemas.openxmlformats.org/drawingml/2006/main">
              <a:ext uri="{FF2B5EF4-FFF2-40B4-BE49-F238E27FC236}">
                <a16:creationId xmlns:a16="http://schemas.microsoft.com/office/drawing/2014/main" id="{E2D93F4E-C7B5-477A-B362-E3913513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90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2" name="line-5">
            <a:extLst xmlns:a="http://schemas.openxmlformats.org/drawingml/2006/main">
              <a:ext uri="{FF2B5EF4-FFF2-40B4-BE49-F238E27FC236}">
                <a16:creationId xmlns:a16="http://schemas.microsoft.com/office/drawing/2014/main" id="{78582F1B-36EB-4EA5-8B53-245751E9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71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85F32A3E-18C9-4036-BD57-CE0C222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787D4F40-9BE0-4074-97B6-CC5D16DD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9647CE6A-3291-49AA-B08E-6CE1ACD0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6F3D2FEC-C48C-4DE9-9871-2A45A5C6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F8CA2358-6341-4213-AC7B-B384A255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C03CACE0-3633-4771-AA04-943F6E48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A020C252-F826-4708-95FC-430E664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47645D76-5715-4A48-8A08-D91AAC6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095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A末点</a:t>
            </a:r>
          </a:p>
        </p:txBody>
      </p:sp>
      <p:sp>
        <p:nvSpPr>
          <p:cNvPr id="21" name="line-13">
            <a:extLst xmlns:a="http://schemas.openxmlformats.org/drawingml/2006/main">
              <a:ext uri="{FF2B5EF4-FFF2-40B4-BE49-F238E27FC236}">
                <a16:creationId xmlns:a16="http://schemas.microsoft.com/office/drawing/2014/main" id="{C20739DE-E7E8-4A4A-90FB-E3429D4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7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2" name="line-13">
            <a:extLst xmlns:a="http://schemas.openxmlformats.org/drawingml/2006/main">
              <a:ext uri="{FF2B5EF4-FFF2-40B4-BE49-F238E27FC236}">
                <a16:creationId xmlns:a16="http://schemas.microsoft.com/office/drawing/2014/main" id="{82229B1D-98CF-4D51-90F9-2CAFD42C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28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3" name="line-13">
            <a:extLst xmlns:a="http://schemas.openxmlformats.org/drawingml/2006/main">
              <a:ext uri="{FF2B5EF4-FFF2-40B4-BE49-F238E27FC236}">
                <a16:creationId xmlns:a16="http://schemas.microsoft.com/office/drawing/2014/main" id="{2B0B2B0A-AFC7-4CF7-B314-32D51D3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9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4" name="line-13">
            <a:extLst xmlns:a="http://schemas.openxmlformats.org/drawingml/2006/main">
              <a:ext uri="{FF2B5EF4-FFF2-40B4-BE49-F238E27FC236}">
                <a16:creationId xmlns:a16="http://schemas.microsoft.com/office/drawing/2014/main" id="{4B7735F8-4160-4112-8958-FDC25B9B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90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5" name="line-13">
            <a:extLst xmlns:a="http://schemas.openxmlformats.org/drawingml/2006/main">
              <a:ext uri="{FF2B5EF4-FFF2-40B4-BE49-F238E27FC236}">
                <a16:creationId xmlns:a16="http://schemas.microsoft.com/office/drawing/2014/main" id="{8EDDAA76-A041-453D-9BC1-64A6BE9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71725" y="2333625"/>
            <a:ext cx="953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9BAE128E-2513-45E7-B7EB-A49F2465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26">
            <a:extLst xmlns:a="http://schemas.openxmlformats.org/drawingml/2006/main">
              <a:ext uri="{FF2B5EF4-FFF2-40B4-BE49-F238E27FC236}">
                <a16:creationId xmlns:a16="http://schemas.microsoft.com/office/drawing/2014/main" id="{485B2323-67FF-4D9E-8570-5836E12F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1545150F-1A4A-4B19-B06D-E6A0571E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28">
            <a:extLst xmlns:a="http://schemas.openxmlformats.org/drawingml/2006/main">
              <a:ext uri="{FF2B5EF4-FFF2-40B4-BE49-F238E27FC236}">
                <a16:creationId xmlns:a16="http://schemas.microsoft.com/office/drawing/2014/main" id="{040A9714-0180-4CEB-88C2-3496046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29">
            <a:extLst xmlns:a="http://schemas.openxmlformats.org/drawingml/2006/main">
              <a:ext uri="{FF2B5EF4-FFF2-40B4-BE49-F238E27FC236}">
                <a16:creationId xmlns:a16="http://schemas.microsoft.com/office/drawing/2014/main" id="{2365C397-94D1-4D99-9E02-FC71C694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0">
            <a:extLst xmlns:a="http://schemas.openxmlformats.org/drawingml/2006/main">
              <a:ext uri="{FF2B5EF4-FFF2-40B4-BE49-F238E27FC236}">
                <a16:creationId xmlns:a16="http://schemas.microsoft.com/office/drawing/2014/main" id="{75220531-4BBF-4100-B59A-D1D7ADC6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31">
            <a:extLst xmlns:a="http://schemas.openxmlformats.org/drawingml/2006/main">
              <a:ext uri="{FF2B5EF4-FFF2-40B4-BE49-F238E27FC236}">
                <a16:creationId xmlns:a16="http://schemas.microsoft.com/office/drawing/2014/main" id="{CAA45937-BC45-47DE-B5E1-F0EDE08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32">
            <a:extLst xmlns:a="http://schemas.openxmlformats.org/drawingml/2006/main">
              <a:ext uri="{FF2B5EF4-FFF2-40B4-BE49-F238E27FC236}">
                <a16:creationId xmlns:a16="http://schemas.microsoft.com/office/drawing/2014/main" id="{F93CC308-6FD3-48C6-BA7C-A33D6561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90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B末点</a:t>
            </a:r>
          </a:p>
        </p:txBody>
      </p:sp>
      <p:sp>
        <p:nvSpPr>
          <p:cNvPr id="34" name="o33">
            <a:extLst xmlns:a="http://schemas.openxmlformats.org/drawingml/2006/main">
              <a:ext uri="{FF2B5EF4-FFF2-40B4-BE49-F238E27FC236}">
                <a16:creationId xmlns:a16="http://schemas.microsoft.com/office/drawing/2014/main" id="{84258CF5-D1BB-4BD1-B4A0-073EEE0A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D(A,B) = 1.000</a:t>
            </a:r>
          </a:p>
        </p:txBody>
      </p:sp>
      <p:sp>
        <p:nvSpPr>
          <p:cNvPr id="35" name="o34">
            <a:extLst xmlns:a="http://schemas.openxmlformats.org/drawingml/2006/main">
              <a:ext uri="{FF2B5EF4-FFF2-40B4-BE49-F238E27FC236}">
                <a16:creationId xmlns:a16="http://schemas.microsoft.com/office/drawing/2014/main" id="{C5EF4089-2C93-4EC7-8ACE-41F75F5B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一簇：A、B</a:t>
            </a:r>
          </a:p>
        </p:txBody>
      </p:sp>
      <p:sp>
        <p:nvSpPr>
          <p:cNvPr id="36" name="o35">
            <a:extLst xmlns:a="http://schemas.openxmlformats.org/drawingml/2006/main">
              <a:ext uri="{FF2B5EF4-FFF2-40B4-BE49-F238E27FC236}">
                <a16:creationId xmlns:a16="http://schemas.microsoft.com/office/drawing/2014/main" id="{BC2BC03B-0AEC-47C2-A3F8-F3C7462D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悬停与缓行</a:t>
            </a:r>
          </a:p>
        </p:txBody>
      </p:sp>
      <p:sp>
        <p:nvSpPr>
          <p:cNvPr id="37" name="line-24">
            <a:extLst xmlns:a="http://schemas.openxmlformats.org/drawingml/2006/main">
              <a:ext uri="{FF2B5EF4-FFF2-40B4-BE49-F238E27FC236}">
                <a16:creationId xmlns:a16="http://schemas.microsoft.com/office/drawing/2014/main" id="{1B58B93B-F35C-4CEE-8172-C3AF79B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38" name="line-24">
            <a:extLst xmlns:a="http://schemas.openxmlformats.org/drawingml/2006/main">
              <a:ext uri="{FF2B5EF4-FFF2-40B4-BE49-F238E27FC236}">
                <a16:creationId xmlns:a16="http://schemas.microsoft.com/office/drawing/2014/main" id="{9D3ADED5-3954-4D57-AD62-391F2F54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39" name="line-24">
            <a:extLst xmlns:a="http://schemas.openxmlformats.org/drawingml/2006/main">
              <a:ext uri="{FF2B5EF4-FFF2-40B4-BE49-F238E27FC236}">
                <a16:creationId xmlns:a16="http://schemas.microsoft.com/office/drawing/2014/main" id="{CA92E2CA-5E29-4324-B0A5-DDC0542D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40" name="line-24">
            <a:extLst xmlns:a="http://schemas.openxmlformats.org/drawingml/2006/main">
              <a:ext uri="{FF2B5EF4-FFF2-40B4-BE49-F238E27FC236}">
                <a16:creationId xmlns:a16="http://schemas.microsoft.com/office/drawing/2014/main" id="{88A8D622-6416-4954-BA12-E3E5128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41" name="line-24">
            <a:extLst xmlns:a="http://schemas.openxmlformats.org/drawingml/2006/main">
              <a:ext uri="{FF2B5EF4-FFF2-40B4-BE49-F238E27FC236}">
                <a16:creationId xmlns:a16="http://schemas.microsoft.com/office/drawing/2014/main" id="{C375C1DE-7C5E-4A98-9EE2-F62E42B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42" name="o41">
            <a:extLst xmlns:a="http://schemas.openxmlformats.org/drawingml/2006/main">
              <a:ext uri="{FF2B5EF4-FFF2-40B4-BE49-F238E27FC236}">
                <a16:creationId xmlns:a16="http://schemas.microsoft.com/office/drawing/2014/main" id="{A0C93D99-91BB-40AA-8217-E5E333B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42">
            <a:extLst xmlns:a="http://schemas.openxmlformats.org/drawingml/2006/main">
              <a:ext uri="{FF2B5EF4-FFF2-40B4-BE49-F238E27FC236}">
                <a16:creationId xmlns:a16="http://schemas.microsoft.com/office/drawing/2014/main" id="{49AA28CD-4334-490E-8D61-FBF28C8B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43">
            <a:extLst xmlns:a="http://schemas.openxmlformats.org/drawingml/2006/main">
              <a:ext uri="{FF2B5EF4-FFF2-40B4-BE49-F238E27FC236}">
                <a16:creationId xmlns:a16="http://schemas.microsoft.com/office/drawing/2014/main" id="{7D2E5777-1542-4A61-9B06-E15EB1A2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44">
            <a:extLst xmlns:a="http://schemas.openxmlformats.org/drawingml/2006/main">
              <a:ext uri="{FF2B5EF4-FFF2-40B4-BE49-F238E27FC236}">
                <a16:creationId xmlns:a16="http://schemas.microsoft.com/office/drawing/2014/main" id="{78F95214-3E7C-4D79-B948-BF4822CC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45">
            <a:extLst xmlns:a="http://schemas.openxmlformats.org/drawingml/2006/main">
              <a:ext uri="{FF2B5EF4-FFF2-40B4-BE49-F238E27FC236}">
                <a16:creationId xmlns:a16="http://schemas.microsoft.com/office/drawing/2014/main" id="{36C6F378-4596-49E7-A87D-F5D9FFBA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46">
            <a:extLst xmlns:a="http://schemas.openxmlformats.org/drawingml/2006/main">
              <a:ext uri="{FF2B5EF4-FFF2-40B4-BE49-F238E27FC236}">
                <a16:creationId xmlns:a16="http://schemas.microsoft.com/office/drawing/2014/main" id="{037A6EBA-BC7C-41A9-B658-7FE71831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47">
            <a:extLst xmlns:a="http://schemas.openxmlformats.org/drawingml/2006/main">
              <a:ext uri="{FF2B5EF4-FFF2-40B4-BE49-F238E27FC236}">
                <a16:creationId xmlns:a16="http://schemas.microsoft.com/office/drawing/2014/main" id="{11D34227-FE35-47D3-9CFA-30C5A75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48">
            <a:extLst xmlns:a="http://schemas.openxmlformats.org/drawingml/2006/main">
              <a:ext uri="{FF2B5EF4-FFF2-40B4-BE49-F238E27FC236}">
                <a16:creationId xmlns:a16="http://schemas.microsoft.com/office/drawing/2014/main" id="{ACEA1137-0D12-4C74-B834-11C4E5E8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95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A末点</a:t>
            </a:r>
          </a:p>
        </p:txBody>
      </p:sp>
      <p:sp>
        <p:nvSpPr>
          <p:cNvPr id="50" name="line-32">
            <a:extLst xmlns:a="http://schemas.openxmlformats.org/drawingml/2006/main">
              <a:ext uri="{FF2B5EF4-FFF2-40B4-BE49-F238E27FC236}">
                <a16:creationId xmlns:a16="http://schemas.microsoft.com/office/drawing/2014/main" id="{258672E9-6198-4721-9AEC-88930F5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1" name="line-32">
            <a:extLst xmlns:a="http://schemas.openxmlformats.org/drawingml/2006/main">
              <a:ext uri="{FF2B5EF4-FFF2-40B4-BE49-F238E27FC236}">
                <a16:creationId xmlns:a16="http://schemas.microsoft.com/office/drawing/2014/main" id="{14116889-830A-4C8D-BC1B-15D7A3E7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533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2" name="line-32">
            <a:extLst xmlns:a="http://schemas.openxmlformats.org/drawingml/2006/main">
              <a:ext uri="{FF2B5EF4-FFF2-40B4-BE49-F238E27FC236}">
                <a16:creationId xmlns:a16="http://schemas.microsoft.com/office/drawing/2014/main" id="{B26EBEBC-24E7-47D1-8779-B56B6D4F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914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3" name="line-32">
            <a:extLst xmlns:a="http://schemas.openxmlformats.org/drawingml/2006/main">
              <a:ext uri="{FF2B5EF4-FFF2-40B4-BE49-F238E27FC236}">
                <a16:creationId xmlns:a16="http://schemas.microsoft.com/office/drawing/2014/main" id="{A38CCF00-FC46-4C08-AC3E-105AC235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9295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4" name="line-32">
            <a:extLst xmlns:a="http://schemas.openxmlformats.org/drawingml/2006/main">
              <a:ext uri="{FF2B5EF4-FFF2-40B4-BE49-F238E27FC236}">
                <a16:creationId xmlns:a16="http://schemas.microsoft.com/office/drawing/2014/main" id="{4DF2507D-13A9-443F-B23C-18D8BA79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9676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5" name="o54">
            <a:extLst xmlns:a="http://schemas.openxmlformats.org/drawingml/2006/main">
              <a:ext uri="{FF2B5EF4-FFF2-40B4-BE49-F238E27FC236}">
                <a16:creationId xmlns:a16="http://schemas.microsoft.com/office/drawing/2014/main" id="{73CB4382-BC45-46E6-AA0A-15748B9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55">
            <a:extLst xmlns:a="http://schemas.openxmlformats.org/drawingml/2006/main">
              <a:ext uri="{FF2B5EF4-FFF2-40B4-BE49-F238E27FC236}">
                <a16:creationId xmlns:a16="http://schemas.microsoft.com/office/drawing/2014/main" id="{2DF5C45B-DF66-4C22-A669-06BAE75A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23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56">
            <a:extLst xmlns:a="http://schemas.openxmlformats.org/drawingml/2006/main">
              <a:ext uri="{FF2B5EF4-FFF2-40B4-BE49-F238E27FC236}">
                <a16:creationId xmlns:a16="http://schemas.microsoft.com/office/drawing/2014/main" id="{CAC7E7A6-6E19-412A-AA60-AC00368A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o57">
            <a:extLst xmlns:a="http://schemas.openxmlformats.org/drawingml/2006/main">
              <a:ext uri="{FF2B5EF4-FFF2-40B4-BE49-F238E27FC236}">
                <a16:creationId xmlns:a16="http://schemas.microsoft.com/office/drawing/2014/main" id="{F44CD47F-CB5B-4D08-873D-8CF45EE9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85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o58">
            <a:extLst xmlns:a="http://schemas.openxmlformats.org/drawingml/2006/main">
              <a:ext uri="{FF2B5EF4-FFF2-40B4-BE49-F238E27FC236}">
                <a16:creationId xmlns:a16="http://schemas.microsoft.com/office/drawing/2014/main" id="{2FAED376-4F1A-4F27-947F-96A0056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66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o59">
            <a:extLst xmlns:a="http://schemas.openxmlformats.org/drawingml/2006/main">
              <a:ext uri="{FF2B5EF4-FFF2-40B4-BE49-F238E27FC236}">
                <a16:creationId xmlns:a16="http://schemas.microsoft.com/office/drawing/2014/main" id="{EFF984D4-AEF2-4A9F-91D2-434A23A7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o60">
            <a:extLst xmlns:a="http://schemas.openxmlformats.org/drawingml/2006/main">
              <a:ext uri="{FF2B5EF4-FFF2-40B4-BE49-F238E27FC236}">
                <a16:creationId xmlns:a16="http://schemas.microsoft.com/office/drawing/2014/main" id="{32D780FD-8A36-4DCD-B05F-F2A2208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o61">
            <a:extLst xmlns:a="http://schemas.openxmlformats.org/drawingml/2006/main">
              <a:ext uri="{FF2B5EF4-FFF2-40B4-BE49-F238E27FC236}">
                <a16:creationId xmlns:a16="http://schemas.microsoft.com/office/drawing/2014/main" id="{EC6C0233-DD60-4D2D-988E-AEA7D6D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B末点</a:t>
            </a:r>
          </a:p>
        </p:txBody>
      </p:sp>
      <p:sp>
        <p:nvSpPr>
          <p:cNvPr id="63" name="o62">
            <a:extLst xmlns:a="http://schemas.openxmlformats.org/drawingml/2006/main">
              <a:ext uri="{FF2B5EF4-FFF2-40B4-BE49-F238E27FC236}">
                <a16:creationId xmlns:a16="http://schemas.microsoft.com/office/drawing/2014/main" id="{ECB1357E-D306-42CA-9965-2BF54590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52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D(A,B) = 1.000</a:t>
            </a:r>
          </a:p>
        </p:txBody>
      </p:sp>
      <p:sp>
        <p:nvSpPr>
          <p:cNvPr id="64" name="o63">
            <a:extLst xmlns:a="http://schemas.openxmlformats.org/drawingml/2006/main">
              <a:ext uri="{FF2B5EF4-FFF2-40B4-BE49-F238E27FC236}">
                <a16:creationId xmlns:a16="http://schemas.microsoft.com/office/drawing/2014/main" id="{DA0C9CF4-5F65-4C33-BCF6-E3A3C09D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一簇：A、B</a:t>
            </a:r>
          </a:p>
        </p:txBody>
      </p:sp>
      <p:sp>
        <p:nvSpPr>
          <p:cNvPr id="65" name="o64">
            <a:extLst xmlns:a="http://schemas.openxmlformats.org/drawingml/2006/main">
              <a:ext uri="{FF2B5EF4-FFF2-40B4-BE49-F238E27FC236}">
                <a16:creationId xmlns:a16="http://schemas.microsoft.com/office/drawing/2014/main" id="{7B565945-73CB-4AA8-B5B2-E562B31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持续反向</a:t>
            </a:r>
          </a:p>
        </p:txBody>
      </p:sp>
      <p:sp>
        <p:nvSpPr>
          <p:cNvPr id="66" name="line-43">
            <a:extLst xmlns:a="http://schemas.openxmlformats.org/drawingml/2006/main">
              <a:ext uri="{FF2B5EF4-FFF2-40B4-BE49-F238E27FC236}">
                <a16:creationId xmlns:a16="http://schemas.microsoft.com/office/drawing/2014/main" id="{F284CF78-739B-46ED-8F70-4794F7C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15325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67" name="line-43">
            <a:extLst xmlns:a="http://schemas.openxmlformats.org/drawingml/2006/main">
              <a:ext uri="{FF2B5EF4-FFF2-40B4-BE49-F238E27FC236}">
                <a16:creationId xmlns:a16="http://schemas.microsoft.com/office/drawing/2014/main" id="{59F53DF3-91CF-4280-9A0A-AED519DF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0600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68" name="line-43">
            <a:extLst xmlns:a="http://schemas.openxmlformats.org/drawingml/2006/main">
              <a:ext uri="{FF2B5EF4-FFF2-40B4-BE49-F238E27FC236}">
                <a16:creationId xmlns:a16="http://schemas.microsoft.com/office/drawing/2014/main" id="{E395304E-7013-46DD-BD38-4A76DA6A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05875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69" name="line-43">
            <a:extLst xmlns:a="http://schemas.openxmlformats.org/drawingml/2006/main">
              <a:ext uri="{FF2B5EF4-FFF2-40B4-BE49-F238E27FC236}">
                <a16:creationId xmlns:a16="http://schemas.microsoft.com/office/drawing/2014/main" id="{80721FEA-130C-4E3A-B5D8-DBCAB081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01150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70" name="line-43">
            <a:extLst xmlns:a="http://schemas.openxmlformats.org/drawingml/2006/main">
              <a:ext uri="{FF2B5EF4-FFF2-40B4-BE49-F238E27FC236}">
                <a16:creationId xmlns:a16="http://schemas.microsoft.com/office/drawing/2014/main" id="{71161A1D-6965-456A-9708-9DF2EF59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496425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71" name="o70">
            <a:extLst xmlns:a="http://schemas.openxmlformats.org/drawingml/2006/main">
              <a:ext uri="{FF2B5EF4-FFF2-40B4-BE49-F238E27FC236}">
                <a16:creationId xmlns:a16="http://schemas.microsoft.com/office/drawing/2014/main" id="{D424B44D-5E9F-4501-959D-133CCAA6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o71">
            <a:extLst xmlns:a="http://schemas.openxmlformats.org/drawingml/2006/main">
              <a:ext uri="{FF2B5EF4-FFF2-40B4-BE49-F238E27FC236}">
                <a16:creationId xmlns:a16="http://schemas.microsoft.com/office/drawing/2014/main" id="{950E07B9-EBFA-4FAB-9E65-1C06CB55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o72">
            <a:extLst xmlns:a="http://schemas.openxmlformats.org/drawingml/2006/main">
              <a:ext uri="{FF2B5EF4-FFF2-40B4-BE49-F238E27FC236}">
                <a16:creationId xmlns:a16="http://schemas.microsoft.com/office/drawing/2014/main" id="{73D721F0-2151-4EA2-AF91-52B3C59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o73">
            <a:extLst xmlns:a="http://schemas.openxmlformats.org/drawingml/2006/main">
              <a:ext uri="{FF2B5EF4-FFF2-40B4-BE49-F238E27FC236}">
                <a16:creationId xmlns:a16="http://schemas.microsoft.com/office/drawing/2014/main" id="{6CD68393-EE9B-4A9B-87E9-CFC110CE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o74">
            <a:extLst xmlns:a="http://schemas.openxmlformats.org/drawingml/2006/main">
              <a:ext uri="{FF2B5EF4-FFF2-40B4-BE49-F238E27FC236}">
                <a16:creationId xmlns:a16="http://schemas.microsoft.com/office/drawing/2014/main" id="{2EEF3EA6-D0F0-42DB-A8B1-FF8875E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o75">
            <a:extLst xmlns:a="http://schemas.openxmlformats.org/drawingml/2006/main">
              <a:ext uri="{FF2B5EF4-FFF2-40B4-BE49-F238E27FC236}">
                <a16:creationId xmlns:a16="http://schemas.microsoft.com/office/drawing/2014/main" id="{21ADB1F3-2B73-403B-AE7D-43D5A161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o76">
            <a:extLst xmlns:a="http://schemas.openxmlformats.org/drawingml/2006/main">
              <a:ext uri="{FF2B5EF4-FFF2-40B4-BE49-F238E27FC236}">
                <a16:creationId xmlns:a16="http://schemas.microsoft.com/office/drawing/2014/main" id="{46DB192A-518E-4C44-93E2-A73E12D2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171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o77">
            <a:extLst xmlns:a="http://schemas.openxmlformats.org/drawingml/2006/main">
              <a:ext uri="{FF2B5EF4-FFF2-40B4-BE49-F238E27FC236}">
                <a16:creationId xmlns:a16="http://schemas.microsoft.com/office/drawing/2014/main" id="{3F6C7C81-1954-47A3-8673-B74D77E2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A末点</a:t>
            </a:r>
          </a:p>
        </p:txBody>
      </p:sp>
      <p:sp>
        <p:nvSpPr>
          <p:cNvPr id="79" name="line-51">
            <a:extLst xmlns:a="http://schemas.openxmlformats.org/drawingml/2006/main">
              <a:ext uri="{FF2B5EF4-FFF2-40B4-BE49-F238E27FC236}">
                <a16:creationId xmlns:a16="http://schemas.microsoft.com/office/drawing/2014/main" id="{C0F6B7F1-C23E-419A-908D-33753218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72800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0" name="line-51">
            <a:extLst xmlns:a="http://schemas.openxmlformats.org/drawingml/2006/main">
              <a:ext uri="{FF2B5EF4-FFF2-40B4-BE49-F238E27FC236}">
                <a16:creationId xmlns:a16="http://schemas.microsoft.com/office/drawing/2014/main" id="{216D399F-0A55-4678-93F5-A2B890DA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77525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1" name="line-51">
            <a:extLst xmlns:a="http://schemas.openxmlformats.org/drawingml/2006/main">
              <a:ext uri="{FF2B5EF4-FFF2-40B4-BE49-F238E27FC236}">
                <a16:creationId xmlns:a16="http://schemas.microsoft.com/office/drawing/2014/main" id="{60535A33-FB04-4735-BB12-F08AA3FA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82250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2" name="line-51">
            <a:extLst xmlns:a="http://schemas.openxmlformats.org/drawingml/2006/main">
              <a:ext uri="{FF2B5EF4-FFF2-40B4-BE49-F238E27FC236}">
                <a16:creationId xmlns:a16="http://schemas.microsoft.com/office/drawing/2014/main" id="{D560251E-D193-4180-9C47-8DDF07D8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86975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3" name="line-51">
            <a:extLst xmlns:a="http://schemas.openxmlformats.org/drawingml/2006/main">
              <a:ext uri="{FF2B5EF4-FFF2-40B4-BE49-F238E27FC236}">
                <a16:creationId xmlns:a16="http://schemas.microsoft.com/office/drawing/2014/main" id="{1F779224-FC27-4E55-A3C8-23AAC65C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91700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4" name="o83">
            <a:extLst xmlns:a="http://schemas.openxmlformats.org/drawingml/2006/main">
              <a:ext uri="{FF2B5EF4-FFF2-40B4-BE49-F238E27FC236}">
                <a16:creationId xmlns:a16="http://schemas.microsoft.com/office/drawing/2014/main" id="{CD58066E-8248-4E33-A012-ECC3179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o84">
            <a:extLst xmlns:a="http://schemas.openxmlformats.org/drawingml/2006/main">
              <a:ext uri="{FF2B5EF4-FFF2-40B4-BE49-F238E27FC236}">
                <a16:creationId xmlns:a16="http://schemas.microsoft.com/office/drawing/2014/main" id="{EEF5988E-F7A1-46CF-9726-213966AB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o85">
            <a:extLst xmlns:a="http://schemas.openxmlformats.org/drawingml/2006/main">
              <a:ext uri="{FF2B5EF4-FFF2-40B4-BE49-F238E27FC236}">
                <a16:creationId xmlns:a16="http://schemas.microsoft.com/office/drawing/2014/main" id="{48408AC0-05E8-4CEA-AD8C-B79BFE47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o86">
            <a:extLst xmlns:a="http://schemas.openxmlformats.org/drawingml/2006/main">
              <a:ext uri="{FF2B5EF4-FFF2-40B4-BE49-F238E27FC236}">
                <a16:creationId xmlns:a16="http://schemas.microsoft.com/office/drawing/2014/main" id="{77306D6F-9CC4-4080-B114-6D520C2F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o87">
            <a:extLst xmlns:a="http://schemas.openxmlformats.org/drawingml/2006/main">
              <a:ext uri="{FF2B5EF4-FFF2-40B4-BE49-F238E27FC236}">
                <a16:creationId xmlns:a16="http://schemas.microsoft.com/office/drawing/2014/main" id="{3C3D44DD-409D-4326-A44B-3E03AAF7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o88">
            <a:extLst xmlns:a="http://schemas.openxmlformats.org/drawingml/2006/main">
              <a:ext uri="{FF2B5EF4-FFF2-40B4-BE49-F238E27FC236}">
                <a16:creationId xmlns:a16="http://schemas.microsoft.com/office/drawing/2014/main" id="{ACA4299D-F2A5-44C1-9583-CEE737FA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o89">
            <a:extLst xmlns:a="http://schemas.openxmlformats.org/drawingml/2006/main">
              <a:ext uri="{FF2B5EF4-FFF2-40B4-BE49-F238E27FC236}">
                <a16:creationId xmlns:a16="http://schemas.microsoft.com/office/drawing/2014/main" id="{493F321A-596F-4245-9136-D6627F4B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95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o90">
            <a:extLst xmlns:a="http://schemas.openxmlformats.org/drawingml/2006/main">
              <a:ext uri="{FF2B5EF4-FFF2-40B4-BE49-F238E27FC236}">
                <a16:creationId xmlns:a16="http://schemas.microsoft.com/office/drawing/2014/main" id="{53261E29-EDF4-49B7-AEC7-A333DCC8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B末点</a:t>
            </a:r>
          </a:p>
        </p:txBody>
      </p:sp>
      <p:sp>
        <p:nvSpPr>
          <p:cNvPr id="92" name="o91">
            <a:extLst xmlns:a="http://schemas.openxmlformats.org/drawingml/2006/main">
              <a:ext uri="{FF2B5EF4-FFF2-40B4-BE49-F238E27FC236}">
                <a16:creationId xmlns:a16="http://schemas.microsoft.com/office/drawing/2014/main" id="{FBD95E95-998F-4CFA-8AEF-15D9BE4C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D(A,B) = 5.845</a:t>
            </a:r>
          </a:p>
        </p:txBody>
      </p:sp>
      <p:sp>
        <p:nvSpPr>
          <p:cNvPr id="93" name="o92">
            <a:extLst xmlns:a="http://schemas.openxmlformats.org/drawingml/2006/main">
              <a:ext uri="{FF2B5EF4-FFF2-40B4-BE49-F238E27FC236}">
                <a16:creationId xmlns:a16="http://schemas.microsoft.com/office/drawing/2014/main" id="{2BDAC716-F899-4921-AFD8-BB020B9C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两簇：A / B</a:t>
            </a:r>
          </a:p>
        </p:txBody>
      </p:sp>
      <p:sp>
        <p:nvSpPr>
          <p:cNvPr id="94" name="line-61">
            <a:extLst xmlns:a="http://schemas.openxmlformats.org/drawingml/2006/main">
              <a:ext uri="{FF2B5EF4-FFF2-40B4-BE49-F238E27FC236}">
                <a16:creationId xmlns:a16="http://schemas.microsoft.com/office/drawing/2014/main" id="{44C9E8F3-99C9-4BA3-B741-A500E3A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95" name="o94">
            <a:extLst xmlns:a="http://schemas.openxmlformats.org/drawingml/2006/main">
              <a:ext uri="{FF2B5EF4-FFF2-40B4-BE49-F238E27FC236}">
                <a16:creationId xmlns:a16="http://schemas.microsoft.com/office/drawing/2014/main" id="{9DA5C42E-63D0-4E2D-AD1A-0DD39D2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相同eps=1.5；局部米制轨迹各列独立缩放，菱形标出末点。</a:t>
            </a:r>
          </a:p>
        </p:txBody>
      </p:sp>
    </p:spTree>
    <p:extLst>
      <p:ext uri="{BB962C8B-B14F-4D97-AF65-F5344CB8AC3E}">
        <p14:creationId xmlns:p14="http://schemas.microsoft.com/office/powerpoint/2010/main" val="16436234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o0">
            <a:extLst xmlns:a="http://schemas.openxmlformats.org/drawingml/2006/main">
              <a:ext uri="{FF2B5EF4-FFF2-40B4-BE49-F238E27FC236}">
                <a16:creationId xmlns:a16="http://schemas.microsoft.com/office/drawing/2014/main" id="{478F5C93-CC77-4691-A315-7A008C4E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7968A500-8413-4B2B-9A82-2CCF0BE9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队形输入的时间对齐与空间标准化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A003F4A-591D-47B5-8620-B69293B6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41E1D47F-53F0-493D-800B-E1AA358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EB1F13A-86C8-40D6-9663-031512C4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method_evidence.json pointnet；BasicFormProc；同次五成员输入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DF7CB46-EE79-4B96-84EC-CA6D3B4B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15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FAD0CD29-1DD5-469B-9BE9-9D01FC67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UTM原始末位置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6E0B9D0D-8109-4BAA-8934-9C75D42D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705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9E447F85-16D7-460E-AA2B-1AD9D693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703" y="36416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3F3A7A26-C153-4341-BFA3-066E606F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333" y="27511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6DD87571-4EA5-41B2-A8C4-504236C1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809" y="27970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89C978FF-F676-4839-A430-F0EB0D5D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92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B9443FCE-1FE5-4239-AE9B-1094651C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坐标：米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5BEAF32F-676C-43E6-B03C-D1FC2B3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方向旋转后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95AF2EA0-61EC-4A49-BEC1-7AF7EE9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81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AB0ADED1-5622-4299-B17B-D3DCEA0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838" y="35804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BDC242A5-AB65-4431-9967-41A35FA1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336" y="423087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10AA8C58-1D77-46A9-8EC5-2737445D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040" y="35813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AD3A5C3F-064E-440A-9AAD-D9848C9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237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492E40BF-F089-4147-80E3-AC11CE79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坐标：米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95657657-A404-4B75-974D-B84A06DB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均值居中</a:t>
            </a:r>
          </a:p>
        </p:txBody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B4CD31CA-2FB8-4436-AC7F-2A83FE0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81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BEBB6E7B-4062-4278-8A71-6417227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713" y="35804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60116CBB-A65C-4533-A307-3F01A3A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211" y="423087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259DA1DF-5C79-4DFF-B2EB-620B4621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915" y="35813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09006413-7C52-4461-B483-3AB9659E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37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26">
            <a:extLst xmlns:a="http://schemas.openxmlformats.org/drawingml/2006/main">
              <a:ext uri="{FF2B5EF4-FFF2-40B4-BE49-F238E27FC236}">
                <a16:creationId xmlns:a16="http://schemas.microsoft.com/office/drawing/2014/main" id="{0A145B5C-4730-4288-9367-4F85E3AA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坐标：米</a:t>
            </a:r>
          </a:p>
        </p:txBody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43D7F56D-C4D1-4FDB-8779-D14097B4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最大绝对值归一化</a:t>
            </a:r>
          </a:p>
        </p:txBody>
      </p:sp>
      <p:sp>
        <p:nvSpPr>
          <p:cNvPr id="29" name="o28">
            <a:extLst xmlns:a="http://schemas.openxmlformats.org/drawingml/2006/main">
              <a:ext uri="{FF2B5EF4-FFF2-40B4-BE49-F238E27FC236}">
                <a16:creationId xmlns:a16="http://schemas.microsoft.com/office/drawing/2014/main" id="{61D0D1A2-27EE-4BC0-BFD6-1AFDFF49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81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29">
            <a:extLst xmlns:a="http://schemas.openxmlformats.org/drawingml/2006/main">
              <a:ext uri="{FF2B5EF4-FFF2-40B4-BE49-F238E27FC236}">
                <a16:creationId xmlns:a16="http://schemas.microsoft.com/office/drawing/2014/main" id="{2D27CEED-01B3-46C6-A748-21BBD864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588" y="35804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0">
            <a:extLst xmlns:a="http://schemas.openxmlformats.org/drawingml/2006/main">
              <a:ext uri="{FF2B5EF4-FFF2-40B4-BE49-F238E27FC236}">
                <a16:creationId xmlns:a16="http://schemas.microsoft.com/office/drawing/2014/main" id="{840A4C2C-CE78-4FD0-9BA6-C443422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86" y="423087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31">
            <a:extLst xmlns:a="http://schemas.openxmlformats.org/drawingml/2006/main">
              <a:ext uri="{FF2B5EF4-FFF2-40B4-BE49-F238E27FC236}">
                <a16:creationId xmlns:a16="http://schemas.microsoft.com/office/drawing/2014/main" id="{91783202-A0B9-4646-9DDC-0C389DC0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790" y="35813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32">
            <a:extLst xmlns:a="http://schemas.openxmlformats.org/drawingml/2006/main">
              <a:ext uri="{FF2B5EF4-FFF2-40B4-BE49-F238E27FC236}">
                <a16:creationId xmlns:a16="http://schemas.microsoft.com/office/drawing/2014/main" id="{5577FE97-853F-4181-8428-2A31E991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0237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33">
            <a:extLst xmlns:a="http://schemas.openxmlformats.org/drawingml/2006/main">
              <a:ext uri="{FF2B5EF4-FFF2-40B4-BE49-F238E27FC236}">
                <a16:creationId xmlns:a16="http://schemas.microsoft.com/office/drawing/2014/main" id="{0EBEB894-71E1-4577-ACB7-CAD037E1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坐标：无量纲</a:t>
            </a:r>
          </a:p>
        </p:txBody>
      </p:sp>
      <p:sp>
        <p:nvSpPr>
          <p:cNvPr id="35" name="line-32">
            <a:extLst xmlns:a="http://schemas.openxmlformats.org/drawingml/2006/main">
              <a:ext uri="{FF2B5EF4-FFF2-40B4-BE49-F238E27FC236}">
                <a16:creationId xmlns:a16="http://schemas.microsoft.com/office/drawing/2014/main" id="{54DD94B5-0009-415B-A121-76A0257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36" name="o35">
            <a:extLst xmlns:a="http://schemas.openxmlformats.org/drawingml/2006/main">
              <a:ext uri="{FF2B5EF4-FFF2-40B4-BE49-F238E27FC236}">
                <a16:creationId xmlns:a16="http://schemas.microsoft.com/office/drawing/2014/main" id="{C414119E-915D-4740-B552-8A9002DD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同一五成员真实输入；群内至少两个共同时间戳，三机及以上进入五类分类。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normalize"/>
          <p:cNvSpPr txBox="1">
            <a:spLocks noGrp="1"/>
          </p:cNvSpPr>
          <p:nvPr/>
        </p:nvSpPr>
        <p:spPr>
          <a:xfrm>
            <a:off x="857250" y="5400675"/>
            <a:ext cx="1047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46"/>
                          <w:rFonts w:ascii="Cambria Math" w:hAnsi="Cambria Math" w:eastAsia="Cambria Math"/>
                        </w:rPr>
                        <m:t>q</m:t>
                      </m:r>
                    </m:e>
                    <m:sub>
                      <m:r>
                        <w:rPr>
                          <w:sz w:val="46"/>
                          <w:rFonts w:ascii="Cambria Math" w:hAnsi="Cambria Math" w:eastAsia="Cambria Math"/>
                        </w:rPr>
                        <m:t>i</m:t>
                      </m:r>
                    </m:sub>
                  </m:sSub>
                  <m:r>
                    <w:rPr>
                      <w:sz w:val="46"/>
                      <w:rFonts w:ascii="Cambria Math" w:hAnsi="Cambria Math" w:eastAsia="Cambria Math"/>
                    </w:rPr>
                    <m:t> = </m:t>
                  </m:r>
                  <m:sSub>
                    <m:e>
                      <m:r>
                        <w:rPr>
                          <w:sz w:val="46"/>
                          <w:rFonts w:ascii="Cambria Math" w:hAnsi="Cambria Math" w:eastAsia="Cambria Math"/>
                        </w:rPr>
                        <m:t>R</m:t>
                      </m:r>
                    </m:e>
                    <m:sub>
                      <m:r>
                        <w:rPr>
                          <w:sz w:val="46"/>
                          <w:rFonts w:ascii="Cambria Math" w:hAnsi="Cambria Math" w:eastAsia="Cambria Math"/>
                        </w:rPr>
                        <m:t>θ</m:t>
                      </m:r>
                    </m:sub>
                  </m:sSub>
                  <m:sSub>
                    <m:e>
                      <m:r>
                        <w:rPr>
                          <w:sz w:val="46"/>
                          <w:rFonts w:ascii="Cambria Math" w:hAnsi="Cambria Math" w:eastAsia="Cambria Math"/>
                        </w:rPr>
                        <m:t>p</m:t>
                      </m:r>
                    </m:e>
                    <m:sub>
                      <m:r>
                        <w:rPr>
                          <w:sz w:val="46"/>
                          <w:rFonts w:ascii="Cambria Math" w:hAnsi="Cambria Math" w:eastAsia="Cambria Math"/>
                        </w:rPr>
                        <m:t>i</m:t>
                      </m:r>
                    </m:sub>
                  </m:sSub>
                  <m:r>
                    <w:rPr>
                      <w:sz w:val="46"/>
                      <w:rFonts w:ascii="Cambria Math" w:hAnsi="Cambria Math" w:eastAsia="Cambria Math"/>
                    </w:rPr>
                    <m:t>    </m:t>
                  </m:r>
                  <m:sSub>
                    <m:e>
                      <m:r>
                        <w:rPr>
                          <w:sz w:val="46"/>
                          <w:rFonts w:ascii="Cambria Math" w:hAnsi="Cambria Math" w:eastAsia="Cambria Math"/>
                        </w:rPr>
                        <m:t>z</m:t>
                      </m:r>
                    </m:e>
                    <m:sub>
                      <m:r>
                        <w:rPr>
                          <w:sz w:val="46"/>
                          <w:rFonts w:ascii="Cambria Math" w:hAnsi="Cambria Math" w:eastAsia="Cambria Math"/>
                        </w:rPr>
                        <m:t>i</m:t>
                      </m:r>
                    </m:sub>
                  </m:sSub>
                  <m:r>
                    <w:rPr>
                      <w:sz w:val="46"/>
                      <w:rFonts w:ascii="Cambria Math" w:hAnsi="Cambria Math" w:eastAsia="Cambria Math"/>
                    </w:rPr>
                    <m:t> = </m:t>
                  </m:r>
                  <m:f>
                    <m:num>
                      <m:sSub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m:t>q</m:t>
                          </m:r>
                        </m:e>
                        <m: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m:t>i</m:t>
                          </m:r>
                        </m:sub>
                      </m:sSub>
                      <m:r>
                        <w:rPr>
                          <w:sz w:val="46"/>
                          <w:rFonts w:ascii="Cambria Math" w:hAnsi="Cambria Math" w:eastAsia="Cambria Math"/>
                        </w:rPr>
                        <m:t> − </m:t>
                      </m:r>
                      <m:bar>
                        <m:barPr>
                          <m:pos m:val="top"/>
                        </m:barPr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m:t>q</m:t>
                          </m:r>
                        </m:e>
                      </m:bar>
                    </m:num>
                    <m:den>
                      <m:r>
                        <w:rPr>
                          <w:sz w:val="46"/>
                          <w:rFonts w:ascii="Cambria Math" w:hAnsi="Cambria Math" w:eastAsia="Cambria Math"/>
                        </w:rPr>
                        <m:t>s</m:t>
                      </m:r>
                    </m:den>
                  </m:f>
                  <m:r>
                    <w:rPr>
                      <w:sz w:val="46"/>
                      <w:rFonts w:ascii="Cambria Math" w:hAnsi="Cambria Math" w:eastAsia="Cambria Math"/>
                    </w:rPr>
                    <m:t>    s = max |q − q̄|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5214828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5FA80C-587D-455F-B882-4238180CC0EA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10600" y="4581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21C35-E1BE-4FB0-8B69-91D11D5A948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800725" y="4581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FAAAF-993E-4F51-9C4E-323C5D8E200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990850" y="4581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BBB85-771B-4EC5-B33E-9ECD03C7222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10600" y="2333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B44551-5A2B-4436-ACBE-01BD3F0B1A0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00725" y="2333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D1F8CF-69C2-493F-9D6C-C417DAB4FE2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90850" y="2333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34" name="o0">
            <a:extLst xmlns:a="http://schemas.openxmlformats.org/drawingml/2006/main">
              <a:ext uri="{FF2B5EF4-FFF2-40B4-BE49-F238E27FC236}">
                <a16:creationId xmlns:a16="http://schemas.microsoft.com/office/drawing/2014/main" id="{1F2E28A4-1052-401F-AE5B-34B0C2B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91AD1307-8849-4289-803C-D82E5177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PointNet 实际网络结构与张量维度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837E82C8-503E-4F34-ABA8-4301B8FB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68A623E0-EC4F-4261-85A3-A18CAA45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94715057-3D8B-4D05-AEF3-574F8E3C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PointNetClassifier.forward；input=2，hidden=128，classes=5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03B6C11-42A5-404C-A08A-4809FB8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16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6DACBDC0-49C1-4364-A39D-3F997E3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二维点集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transpose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A517D03B-BF98-4CE7-9F97-1782921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N × 2 → B × 2 × N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EC4F854B-21D2-401C-AEEF-8B9DC82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050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Conv1d 2→128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BN + ReLU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BF023F34-B532-46DE-B4F7-B2AEC91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43225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FA3C456F-ADF3-4CCA-A25A-5C5C40F6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Conv1d 128→128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BN + ReLU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B86D719D-1C4A-435F-A0F6-981699B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43225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EDFF1F3E-8A7B-4A08-B2E2-3F81BD9A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050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Conv1d 128→128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BN + ReLU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991387DC-0081-43FF-BF09-FC9085D4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43225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5" name="o17">
            <a:extLst xmlns:a="http://schemas.openxmlformats.org/drawingml/2006/main">
              <a:ext uri="{FF2B5EF4-FFF2-40B4-BE49-F238E27FC236}">
                <a16:creationId xmlns:a16="http://schemas.microsoft.com/office/drawing/2014/main" id="{C3817555-398F-4B39-9FD7-D9D7ABE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lengths 掩码</a:t>
            </a:r>
          </a:p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排除填充点</a:t>
            </a:r>
          </a:p>
        </p:txBody>
      </p:sp>
      <p:sp>
        <p:nvSpPr>
          <p:cNvPr id="16" name="o18">
            <a:extLst xmlns:a="http://schemas.openxmlformats.org/drawingml/2006/main">
              <a:ext uri="{FF2B5EF4-FFF2-40B4-BE49-F238E27FC236}">
                <a16:creationId xmlns:a16="http://schemas.microsoft.com/office/drawing/2014/main" id="{80B64C32-C8E6-429E-9491-2A66039B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7" name="o19">
            <a:extLst xmlns:a="http://schemas.openxmlformats.org/drawingml/2006/main">
              <a:ext uri="{FF2B5EF4-FFF2-40B4-BE49-F238E27FC236}">
                <a16:creationId xmlns:a16="http://schemas.microsoft.com/office/drawing/2014/main" id="{746319A6-A8ED-4B4E-942B-E6D6EFA8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529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全局最大池化</a:t>
            </a:r>
          </a:p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沿点维N聚合</a:t>
            </a:r>
          </a:p>
        </p:txBody>
      </p:sp>
      <p:sp>
        <p:nvSpPr>
          <p:cNvPr id="18" name="o20">
            <a:extLst xmlns:a="http://schemas.openxmlformats.org/drawingml/2006/main">
              <a:ext uri="{FF2B5EF4-FFF2-40B4-BE49-F238E27FC236}">
                <a16:creationId xmlns:a16="http://schemas.microsoft.com/office/drawing/2014/main" id="{E56C224A-A45F-4EB0-826F-640A6E51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</a:t>
            </a:r>
          </a:p>
        </p:txBody>
      </p:sp>
      <p:sp>
        <p:nvSpPr>
          <p:cNvPr id="19" name="o21">
            <a:extLst xmlns:a="http://schemas.openxmlformats.org/drawingml/2006/main">
              <a:ext uri="{FF2B5EF4-FFF2-40B4-BE49-F238E27FC236}">
                <a16:creationId xmlns:a16="http://schemas.microsoft.com/office/drawing/2014/main" id="{4873027F-F2A9-49E0-8D37-478A5B8B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29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Linear 128→128</a:t>
            </a:r>
          </a:p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ReLU / Dropout 0.3</a:t>
            </a:r>
          </a:p>
        </p:txBody>
      </p:sp>
      <p:sp>
        <p:nvSpPr>
          <p:cNvPr id="20" name="o22">
            <a:extLst xmlns:a="http://schemas.openxmlformats.org/drawingml/2006/main">
              <a:ext uri="{FF2B5EF4-FFF2-40B4-BE49-F238E27FC236}">
                <a16:creationId xmlns:a16="http://schemas.microsoft.com/office/drawing/2014/main" id="{733D386A-030A-4B9A-B8DB-535F3757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006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</a:t>
            </a:r>
          </a:p>
        </p:txBody>
      </p:sp>
      <p:sp>
        <p:nvSpPr>
          <p:cNvPr id="21" name="o23">
            <a:extLst xmlns:a="http://schemas.openxmlformats.org/drawingml/2006/main">
              <a:ext uri="{FF2B5EF4-FFF2-40B4-BE49-F238E27FC236}">
                <a16:creationId xmlns:a16="http://schemas.microsoft.com/office/drawing/2014/main" id="{CFE0E57F-3F85-4054-BF1C-58F41E4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1529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Linear 128→5</a:t>
            </a:r>
          </a:p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logits / argmax</a:t>
            </a:r>
          </a:p>
        </p:txBody>
      </p:sp>
      <p:sp>
        <p:nvSpPr>
          <p:cNvPr id="22" name="o24">
            <a:extLst xmlns:a="http://schemas.openxmlformats.org/drawingml/2006/main">
              <a:ext uri="{FF2B5EF4-FFF2-40B4-BE49-F238E27FC236}">
                <a16:creationId xmlns:a16="http://schemas.microsoft.com/office/drawing/2014/main" id="{02F3031C-3405-4320-822A-72D2DA65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2006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5 → 类别</a:t>
            </a:r>
          </a:p>
        </p:txBody>
      </p:sp>
      <p:sp>
        <p:nvSpPr>
          <p:cNvPr id="23" name="line-20">
            <a:extLst xmlns:a="http://schemas.openxmlformats.org/drawingml/2006/main">
              <a:ext uri="{FF2B5EF4-FFF2-40B4-BE49-F238E27FC236}">
                <a16:creationId xmlns:a16="http://schemas.microsoft.com/office/drawing/2014/main" id="{D45EEA33-C5DE-4E78-9872-51349E49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0" y="2762250"/>
            <a:ext cx="953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24" name="line-20">
            <a:extLst xmlns:a="http://schemas.openxmlformats.org/drawingml/2006/main">
              <a:ext uri="{FF2B5EF4-FFF2-40B4-BE49-F238E27FC236}">
                <a16:creationId xmlns:a16="http://schemas.microsoft.com/office/drawing/2014/main" id="{04ACF736-DCE8-46D5-9F69-E4EDF9ED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" y="3714750"/>
            <a:ext cx="10382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25" name="line-20">
            <a:extLst xmlns:a="http://schemas.openxmlformats.org/drawingml/2006/main">
              <a:ext uri="{FF2B5EF4-FFF2-40B4-BE49-F238E27FC236}">
                <a16:creationId xmlns:a16="http://schemas.microsoft.com/office/drawing/2014/main" id="{CAF3D68B-0E62-4212-9DCD-9BBF8C59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" y="3714750"/>
            <a:ext cx="953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26" name="line-20">
            <a:extLst xmlns:a="http://schemas.openxmlformats.org/drawingml/2006/main">
              <a:ext uri="{FF2B5EF4-FFF2-40B4-BE49-F238E27FC236}">
                <a16:creationId xmlns:a16="http://schemas.microsoft.com/office/drawing/2014/main" id="{70354A13-E3A4-4454-8A42-A29FE4F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27" name="o32">
            <a:extLst xmlns:a="http://schemas.openxmlformats.org/drawingml/2006/main">
              <a:ext uri="{FF2B5EF4-FFF2-40B4-BE49-F238E27FC236}">
                <a16:creationId xmlns:a16="http://schemas.microsoft.com/office/drawing/2014/main" id="{80E1CF3A-E410-4409-A95D-CDD8CBE2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卷积核均为1；共享逐点运算＋对称聚合；51,333个参数；推理通常B=1。</a:t>
            </a:r>
          </a:p>
        </p:txBody>
      </p:sp>
    </p:spTree>
    <p:extLst>
      <p:ext uri="{BB962C8B-B14F-4D97-AF65-F5344CB8AC3E}">
        <p14:creationId xmlns:p14="http://schemas.microsoft.com/office/powerpoint/2010/main" val="8430807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o0">
            <a:extLst xmlns:a="http://schemas.openxmlformats.org/drawingml/2006/main">
              <a:ext uri="{FF2B5EF4-FFF2-40B4-BE49-F238E27FC236}">
                <a16:creationId xmlns:a16="http://schemas.microsoft.com/office/drawing/2014/main" id="{A3678FB4-4BFC-4EA1-A29E-A2B41C8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2C09269C-8894-4B3D-9905-63065EB9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模型训练方法与当前可核验证据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3880B3D9-F893-464E-A635-32ADF08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9AF832A-A8C2-45DD-A746-8B6AEC8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E39893F-3230-47AD-B3DD-2EEF4C0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Origin fit_on_data / eval_accuracy；当前权重20260812_200622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EBCC1598-87B1-4317-9F7D-4B1E018F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17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67B7FBF7-544C-4DEA-AAA6-9B8DD89E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训练／评估点集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2C3473D6-E250-4CE0-8AFB-19D5D9D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90850" y="21907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0A2D0146-4871-4DF0-88CD-8ECADE98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8573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变长补齐与掩码</a:t>
            </a:r>
          </a:p>
        </p:txBody>
      </p:sp>
      <p:sp>
        <p:nvSpPr>
          <p:cNvPr id="10" name="line-6">
            <a:extLst xmlns:a="http://schemas.openxmlformats.org/drawingml/2006/main">
              <a:ext uri="{FF2B5EF4-FFF2-40B4-BE49-F238E27FC236}">
                <a16:creationId xmlns:a16="http://schemas.microsoft.com/office/drawing/2014/main" id="{FE204D11-ED89-4A72-91B3-B2BAC560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00725" y="21907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46A0D2AE-D858-45D2-94AE-430ACDE9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573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交叉熵＋Adam</a:t>
            </a:r>
          </a:p>
        </p:txBody>
      </p:sp>
      <p:sp>
        <p:nvSpPr>
          <p:cNvPr id="12" name="line-7">
            <a:extLst xmlns:a="http://schemas.openxmlformats.org/drawingml/2006/main">
              <a:ext uri="{FF2B5EF4-FFF2-40B4-BE49-F238E27FC236}">
                <a16:creationId xmlns:a16="http://schemas.microsoft.com/office/drawing/2014/main" id="{39226683-F6B8-47E6-A02E-A1203BA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0600" y="21907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F1F925CF-6D4D-48DD-A9E3-5D02FAD7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573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分类报告／混淆矩阵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AA02BC24-603E-4661-9E83-8811D851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点序不变性示例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3570F881-A8B0-469C-BF7B-C90F067C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同一组点逆序输入</a:t>
            </a:r>
          </a:p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比较模型输出而非只比较标签</a:t>
            </a:r>
          </a:p>
        </p:txBody>
      </p:sp>
      <p:sp>
        <p:nvSpPr>
          <p:cNvPr id="16" name="line-10">
            <a:extLst xmlns:a="http://schemas.openxmlformats.org/drawingml/2006/main">
              <a:ext uri="{FF2B5EF4-FFF2-40B4-BE49-F238E27FC236}">
                <a16:creationId xmlns:a16="http://schemas.microsoft.com/office/drawing/2014/main" id="{7870F9DD-AEFD-44D6-9E3A-22858BD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BAF3944D-2364-4442-BF4B-EE93C416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代码注释acc 0.905不能直接作为当前系统准确率；不展示无来源的效果图。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crossentropy"/>
          <p:cNvSpPr txBox="1">
            <a:spLocks noGrp="1"/>
          </p:cNvSpPr>
          <p:nvPr/>
        </p:nvSpPr>
        <p:spPr>
          <a:xfrm>
            <a:off x="609600" y="2943225"/>
            <a:ext cx="59055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r>
                    <w:rPr>
                      <w:sz w:val="52"/>
                      <w:rFonts w:ascii="Cambria Math" w:hAnsi="Cambria Math" w:eastAsia="Cambria Math"/>
                    </w:rPr>
                    <m:t>L = −</m:t>
                  </m:r>
                  <m:f>
                    <m:num>
                      <m:r>
                        <w:rPr>
                          <w:sz w:val="52"/>
                          <w:rFonts w:ascii="Cambria Math" w:hAnsi="Cambria Math" w:eastAsia="Cambria Math"/>
                        </w:rPr>
                        <m:t>1</m:t>
                      </m:r>
                    </m:num>
                    <m:den>
                      <m:r>
                        <w:rPr>
                          <w:sz w:val="52"/>
                          <w:rFonts w:ascii="Cambria Math" w:hAnsi="Cambria Math" w:eastAsia="Cambria Math"/>
                        </w:rPr>
                        <m:t>B</m:t>
                      </m:r>
                    </m:den>
                  </m:f>
                  <m:sSub>
                    <m:e>
                      <m:r>
                        <w:rPr>
                          <w:sz w:val="52"/>
                          <w:rFonts w:ascii="Cambria Math" w:hAnsi="Cambria Math" w:eastAsia="Cambria Math"/>
                        </w:rPr>
                        <m:t>Σ</m:t>
                      </m:r>
                    </m:e>
                    <m: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b</m:t>
                      </m:r>
                    </m:sub>
                  </m:sSub>
                  <m:r>
                    <w:rPr>
                      <w:sz w:val="52"/>
                      <w:rFonts w:ascii="Cambria Math" w:hAnsi="Cambria Math" w:eastAsia="Cambria Math"/>
                    </w:rPr>
                    <m:t> log </m:t>
                  </m:r>
                  <m:f>
                    <m:num>
                      <m:r>
                        <w:rPr>
                          <w:sz w:val="52"/>
                          <w:rFonts w:ascii="Cambria Math" w:hAnsi="Cambria Math" w:eastAsia="Cambria Math"/>
                        </w:rPr>
                        <m:t>exp(</m:t>
                      </m:r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o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b,yb</m:t>
                          </m:r>
                        </m:sub>
                      </m:s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)</m:t>
                      </m:r>
                    </m:num>
                    <m:den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Σ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k</m:t>
                          </m:r>
                        </m:sub>
                      </m:s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 exp(</m:t>
                      </m:r>
                      <m:sSub>
                        <m:e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o</m:t>
                          </m:r>
                        </m:e>
                        <m:sub>
                          <m:r>
                            <w:rPr>
                              <w:sz w:val="52"/>
                              <w:rFonts w:ascii="Cambria Math" w:hAnsi="Cambria Math" w:eastAsia="Cambria Math"/>
                            </w:rPr>
                            <m:t>b,k</m:t>
                          </m:r>
                        </m:sub>
                      </m:sSub>
                      <m:r>
                        <w:rPr>
                          <w:sz w:val="52"/>
                          <w:rFonts w:ascii="Cambria Math" w:hAnsi="Cambria Math" w:eastAsia="Cambria Math"/>
                        </w:rPr>
                        <m:t>)</m:t>
                      </m:r>
                    </m:den>
                  </m:f>
                </m:oMath>
              </m:oMathPara>
            </a14:m>
          </a:p>
        </p:txBody>
      </p:sp>
      <p:graphicFrame>
        <p:nvGraphicFramePr>
          <p:cNvPr id="7002" name="native-table-7002"/>
          <p:cNvGraphicFramePr/>
          <p:nvPr/>
        </p:nvGraphicFramePr>
        <p:xfrm>
          <a:off xmlns:a="http://schemas.openxmlformats.org/drawingml/2006/main" x="6905625" y="2952750"/>
          <a:ext xmlns:a="http://schemas.openxmlformats.org/drawingml/2006/main" cx="466725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60245"/>
                <a:gridCol w="2707005"/>
              </a:tblGrid>
              <a:tr h="4762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4762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网络和权重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已核对，参数51,333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固定五成员推理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vshape；logits已保存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4762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成员逆序检查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最大绝对差9.54×10⁻⁷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独立分类效果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未完成证据核实</a:t>
                      </a:r>
                      <a:endParaRPr lang="zh-CN" sz="16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954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ACB31-426D-4C8F-B2B2-E66C9150334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91350" y="30289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25F1D-99AB-4F58-8162-11225193F75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30289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17" name="o0">
            <a:extLst xmlns:a="http://schemas.openxmlformats.org/drawingml/2006/main">
              <a:ext uri="{FF2B5EF4-FFF2-40B4-BE49-F238E27FC236}">
                <a16:creationId xmlns:a16="http://schemas.microsoft.com/office/drawing/2014/main" id="{FF4AA183-29E8-4A18-946C-9F779041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86783C10-C6C9-48B5-AE31-6FD7363F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意图候选生成与确定性选择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72DE7F37-89B4-4F93-B9CB-C5CD5728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C921067-E1C3-4D24-8BD6-673BA25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E3F79804-FF9F-4643-A796-7377A0BA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§8.1–§8.2、§8.5；F06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5F386E2-8777-485C-9B17-370009A5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18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699C7839-7433-4AEA-B5DB-9F691909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运动、群体、空间</a:t>
            </a:r>
          </a:p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身份与计划特征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64607F8A-6C72-49EA-AB7F-30B0E5EB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19项规则</a:t>
            </a:r>
          </a:p>
          <a:p xmlns:a="http://schemas.openxmlformats.org/drawingml/2006/main">
            <a: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分别评估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FF809BAE-4893-4BC5-9EF3-3D1251DF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3638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主意图与其他候选</a:t>
            </a:r>
          </a:p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保留触发证据</a:t>
            </a:r>
          </a:p>
        </p:txBody>
      </p:sp>
      <p:sp>
        <p:nvSpPr>
          <p:cNvPr id="10" name="o11">
            <a:extLst xmlns:a="http://schemas.openxmlformats.org/drawingml/2006/main">
              <a:ext uri="{FF2B5EF4-FFF2-40B4-BE49-F238E27FC236}">
                <a16:creationId xmlns:a16="http://schemas.microsoft.com/office/drawing/2014/main" id="{985B8FD1-635E-449E-9AB3-8F94DB11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排序：优先级 → confidence → 完整度 → 代码</a:t>
            </a:r>
          </a:p>
        </p:txBody>
      </p:sp>
      <p:sp>
        <p:nvSpPr>
          <p:cNvPr id="11" name="o12">
            <a:extLst xmlns:a="http://schemas.openxmlformats.org/drawingml/2006/main">
              <a:ext uri="{FF2B5EF4-FFF2-40B4-BE49-F238E27FC236}">
                <a16:creationId xmlns:a16="http://schemas.microsoft.com/office/drawing/2014/main" id="{5BF565CD-7575-40A0-B0BF-9BA3C64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单机与集群各自评估；无候选时空意图并复核</a:t>
            </a:r>
          </a:p>
        </p:txBody>
      </p:sp>
      <p:sp>
        <p:nvSpPr>
          <p:cNvPr id="12" name="line-9">
            <a:extLst xmlns:a="http://schemas.openxmlformats.org/drawingml/2006/main">
              <a:ext uri="{FF2B5EF4-FFF2-40B4-BE49-F238E27FC236}">
                <a16:creationId xmlns:a16="http://schemas.microsoft.com/office/drawing/2014/main" id="{56A36525-C44E-42C7-9FC7-DD0ADE8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3" name="o14">
            <a:extLst xmlns:a="http://schemas.openxmlformats.org/drawingml/2006/main">
              <a:ext uri="{FF2B5EF4-FFF2-40B4-BE49-F238E27FC236}">
                <a16:creationId xmlns:a16="http://schemas.microsoft.com/office/drawing/2014/main" id="{F4AFCF5A-4641-4BCC-8C68-BFAEB78C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I-28不作兜底；规则confidence不是校准概率。</a:t>
            </a:r>
          </a:p>
        </p:txBody>
      </p:sp>
      <p:sp>
        <p:nvSpPr>
          <p:cNvPr id="14" name="o15">
            <a:extLst xmlns:a="http://schemas.openxmlformats.org/drawingml/2006/main">
              <a:ext uri="{FF2B5EF4-FFF2-40B4-BE49-F238E27FC236}">
                <a16:creationId xmlns:a16="http://schemas.microsoft.com/office/drawing/2014/main" id="{BA9407F8-D01F-4F01-9599-D49693F6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输入：行为／群体／空间／身份特征    产物：主意图、候选与证据    核验：规则回归</a:t>
            </a:r>
          </a:p>
        </p:txBody>
      </p:sp>
    </p:spTree>
    <p:extLst>
      <p:ext uri="{BB962C8B-B14F-4D97-AF65-F5344CB8AC3E}">
        <p14:creationId xmlns:p14="http://schemas.microsoft.com/office/powerpoint/2010/main" val="4382761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5EB9F-9A54-4ACF-91FC-197DA4574A1A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034588" y="3543300"/>
            <a:ext cx="500063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80B"/>
            </a:solidFill>
            <a:prstDash val="solid"/>
            <a:tailEnd type="triangle" w="med" len="med"/>
          </a:ln>
        </p:spPr>
      </p:cxnSp>
      <p:sp>
        <p:nvSpPr>
          <p:cNvPr id="24" name="o0">
            <a:extLst xmlns:a="http://schemas.openxmlformats.org/drawingml/2006/main">
              <a:ext uri="{FF2B5EF4-FFF2-40B4-BE49-F238E27FC236}">
                <a16:creationId xmlns:a16="http://schemas.microsoft.com/office/drawing/2014/main" id="{7926B13C-83BD-4DB4-8274-23C60EBD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47B2182E-F150-4107-BDF3-21AD0D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历史投票成立后，还要检查最新运动状态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9CA3C2CD-F255-453D-8507-EB97A657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493A724-E670-4591-8030-F529B245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D6FEC433-3092-4C28-BFBC-2181857E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§8.3；F07；以下为方法示意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82079238-E9A0-41E1-95A7-E6566662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19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491262D7-E7CD-48A8-93D4-FC9AE241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五个评估时刻，各自只使用当时已有观测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36B5259E-8EB6-4223-8D44-CDF7F479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t−4</a:t>
            </a:r>
          </a:p>
        </p:txBody>
      </p:sp>
      <p:sp>
        <p:nvSpPr>
          <p:cNvPr id="9" name="vote0">
            <a:extLst xmlns:a="http://schemas.openxmlformats.org/drawingml/2006/main">
              <a:ext uri="{FF2B5EF4-FFF2-40B4-BE49-F238E27FC236}">
                <a16:creationId xmlns:a16="http://schemas.microsoft.com/office/drawing/2014/main" id="{60659A9A-773D-429C-8D30-3CCF52C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CE1A00C8-A037-4D58-A6FC-142F2C45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t−3</a:t>
            </a:r>
          </a:p>
        </p:txBody>
      </p:sp>
      <p:sp>
        <p:nvSpPr>
          <p:cNvPr id="11" name="vote1">
            <a:extLst xmlns:a="http://schemas.openxmlformats.org/drawingml/2006/main">
              <a:ext uri="{FF2B5EF4-FFF2-40B4-BE49-F238E27FC236}">
                <a16:creationId xmlns:a16="http://schemas.microsoft.com/office/drawing/2014/main" id="{A89DCCCC-BF30-48FC-86A9-908F92C9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B5680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缺失 / 不可用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890CD9E3-5A1C-4C68-ABA9-4FA33FEE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t−2</a:t>
            </a:r>
          </a:p>
        </p:txBody>
      </p:sp>
      <p:sp>
        <p:nvSpPr>
          <p:cNvPr id="13" name="vote2">
            <a:extLst xmlns:a="http://schemas.openxmlformats.org/drawingml/2006/main">
              <a:ext uri="{FF2B5EF4-FFF2-40B4-BE49-F238E27FC236}">
                <a16:creationId xmlns:a16="http://schemas.microsoft.com/office/drawing/2014/main" id="{3384A5D1-2617-43F5-AA3F-C96786D2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A5BD8CBE-5579-4CF4-9730-CB1E3508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t−1</a:t>
            </a:r>
          </a:p>
        </p:txBody>
      </p:sp>
      <p:sp>
        <p:nvSpPr>
          <p:cNvPr id="15" name="vote3">
            <a:extLst xmlns:a="http://schemas.openxmlformats.org/drawingml/2006/main">
              <a:ext uri="{FF2B5EF4-FFF2-40B4-BE49-F238E27FC236}">
                <a16:creationId xmlns:a16="http://schemas.microsoft.com/office/drawing/2014/main" id="{FBC85A62-0251-45C6-A5B1-229C8DE6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0D72858D-42AC-4FC8-B118-0B6875F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t0</a:t>
            </a:r>
          </a:p>
        </p:txBody>
      </p:sp>
      <p:sp>
        <p:nvSpPr>
          <p:cNvPr id="17" name="vote4">
            <a:extLst xmlns:a="http://schemas.openxmlformats.org/drawingml/2006/main">
              <a:ext uri="{FF2B5EF4-FFF2-40B4-BE49-F238E27FC236}">
                <a16:creationId xmlns:a16="http://schemas.microsoft.com/office/drawing/2014/main" id="{0AFA7531-2E51-4D1F-ACE4-CED96F57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740D7C4E-B08C-4F42-9C9C-F6788FE6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62400"/>
            <a:ext cx="309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4E9"/>
          </a:solidFill>
          <a:ln xmlns:a="http://schemas.openxmlformats.org/drawingml/2006/main" w="12383">
            <a:solidFill>
              <a:srgbClr val="B5680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最新门控</a:t>
            </a:r>
          </a:p>
          <a:p xmlns:a="http://schemas.openxmlformats.org/drawingml/2006/main">
            <a: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闭合速度与朝向仍成立</a:t>
            </a:r>
          </a:p>
        </p:txBody>
      </p:sp>
      <p:sp>
        <p:nvSpPr>
          <p:cNvPr id="19" name="o19">
            <a:extLst xmlns:a="http://schemas.openxmlformats.org/drawingml/2006/main">
              <a:ext uri="{FF2B5EF4-FFF2-40B4-BE49-F238E27FC236}">
                <a16:creationId xmlns:a16="http://schemas.microsoft.com/office/drawing/2014/main" id="{200732C7-620C-4F5B-BCB6-1871307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至少3个有效评估＋至少3次命中＋最新门控</a:t>
            </a:r>
          </a:p>
        </p:txBody>
      </p:sp>
      <p:sp>
        <p:nvSpPr>
          <p:cNvPr id="20" name="line-17">
            <a:extLst xmlns:a="http://schemas.openxmlformats.org/drawingml/2006/main">
              <a:ext uri="{FF2B5EF4-FFF2-40B4-BE49-F238E27FC236}">
                <a16:creationId xmlns:a16="http://schemas.microsoft.com/office/drawing/2014/main" id="{E3A5314A-FA7C-4856-BC50-107346A9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21" name="o21">
            <a:extLst xmlns:a="http://schemas.openxmlformats.org/drawingml/2006/main">
              <a:ext uri="{FF2B5EF4-FFF2-40B4-BE49-F238E27FC236}">
                <a16:creationId xmlns:a16="http://schemas.microsoft.com/office/drawing/2014/main" id="{5835DB58-D58B-4C24-8FF4-64435C8F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同一端点不重复计票；缺失、过旧或重复观测不补成命中。</a:t>
            </a:r>
          </a:p>
        </p:txBody>
      </p:sp>
      <p:sp>
        <p:nvSpPr>
          <p:cNvPr id="22" name="o22">
            <a:extLst xmlns:a="http://schemas.openxmlformats.org/drawingml/2006/main">
              <a:ext uri="{FF2B5EF4-FFF2-40B4-BE49-F238E27FC236}">
                <a16:creationId xmlns:a16="http://schemas.microsoft.com/office/drawing/2014/main" id="{C8CEE6BD-F44B-4B42-8773-D8D71C49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输入：请求内历史观测    产物：因果投票与最新门控    核验：23项I-24定向用例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1" name="native-equation-i24"/>
          <p:cNvSpPr txBox="1">
            <a:spLocks noGrp="1"/>
          </p:cNvSpPr>
          <p:nvPr/>
        </p:nvSpPr>
        <p:spPr>
          <a:xfrm>
            <a:off x="609600" y="3857625"/>
            <a:ext cx="7524750" cy="1095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ParaPr>
                  <m:jc m:val="center"/>
                </m:oMathParaPr>
                <m:oMath>
                  <m:r>
                    <w:rPr>
                      <w:sz w:val="42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1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I24Hit</m:t>
                  </m:r>
                  <m:r>
                    <w:rPr>
                      <w:sz w:val="42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1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d>
                    <m:dPr>
                      <m:begChr m:val="["/>
                      <m:sepChr m:val=""/>
                      <m:endChr m:val="]"/>
                      <m:grow m:val="on"/>
                      <m:ctrl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dPr>
                    <m:e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  <m:e>
                          <m:sSub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w:rPr>
                          <w:sz w:val="42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e>
                  </m:d>
                  <m:r>
                    <w:rPr>
                      <w:sz w:val="42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1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∧</m:t>
                  </m:r>
                  <m:d>
                    <m:dPr>
                      <m:begChr m:val="["/>
                      <m:sepChr m:val=""/>
                      <m:endChr m:val="]"/>
                      <m:grow m:val="on"/>
                      <m:ctrl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dPr>
                    <m:e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  <m:e>
                          <m:sSub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w:rPr>
                          <w:sz w:val="42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e>
                  </m:d>
                  <m:r>
                    <w:rPr>
                      <w:sz w:val="42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1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∧</m:t>
                  </m:r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latest</m:t>
                      </m:r>
                    </m:sub>
                  </m:sSub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7513670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o0">
            <a:extLst xmlns:a="http://schemas.openxmlformats.org/drawingml/2006/main">
              <a:ext uri="{FF2B5EF4-FFF2-40B4-BE49-F238E27FC236}">
                <a16:creationId xmlns:a16="http://schemas.microsoft.com/office/drawing/2014/main" id="{603D7660-45FC-45F4-9C2A-59605358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EC9E824C-B4BD-42AC-AFA2-F2BD10E5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群体一致性特征与独立成员判读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A5BA58F-05B9-40D3-849E-C9D9272D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ECD379B-FA4C-4C3E-BB0E-C1DC9B88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CBBA8EB-0DE2-4B10-AAC5-B8C50CFC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§8.4；F08；启发式而非通信图模型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D9B77D8B-B0EA-431B-8C3E-9F369AD8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20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C164304C-41C6-46E9-83B4-BF1F0043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成员与设施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FC6357D1-4492-4959-95AF-7B41C00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至少3成员，同一设施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7463803B-A839-4732-BA4B-C014C104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趋近占比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DFFC5B31-5E3A-432B-A669-9808721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至少2/3，长窗距离减小≥30米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B1F972D3-F14E-43C4-B3DC-63BED58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方向离散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0F7233FD-DE2B-41E4-B592-A22C20DC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相对圆均值最大角差≤25°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552A569A-EDAF-40F3-8DC4-0C347B93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ETA离散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61170221-840F-414D-A059-F205A0E0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19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有效值至少2个，极差≤20秒</a:t>
            </a:r>
          </a:p>
        </p:txBody>
      </p:sp>
      <p:sp>
        <p:nvSpPr>
          <p:cNvPr id="15" name="line-12">
            <a:extLst xmlns:a="http://schemas.openxmlformats.org/drawingml/2006/main">
              <a:ext uri="{FF2B5EF4-FFF2-40B4-BE49-F238E27FC236}">
                <a16:creationId xmlns:a16="http://schemas.microsoft.com/office/drawing/2014/main" id="{75108D97-F388-4B7A-96A3-B033CC0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5015D851-40A4-45EA-9A31-FD35F80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群体ETA特征与公共ETA路径不同；没有推断真实通信关系或控制角色。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1" name="native-equation-coord"/>
          <p:cNvSpPr txBox="1">
            <a:spLocks noGrp="1"/>
          </p:cNvSpPr>
          <p:nvPr/>
        </p:nvSpPr>
        <p:spPr>
          <a:xfrm>
            <a:off x="609600" y="4429125"/>
            <a:ext cx="10972800" cy="106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</m:e>
                    <m:sub>
                      <m:r>
                        <w:rPr>
                          <w:sz w:val="44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coord</m:t>
                      </m:r>
                    </m:sub>
                  </m:sSub>
                  <m:r>
                    <w:rPr>
                      <w:sz w:val="44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2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func>
                    <m:funcPr/>
                    <m:fName>
                      <m:sSub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clip</m:t>
                          </m:r>
                        </m:e>
                        <m:sub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m:rPr>
                                  <m:sty m:val="p"/>
                                </m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</m:fName>
                    <m:e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0.45f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0.30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func>
                            <m:funcPr/>
                            <m:fNam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m:rPr>
                                  <m:sty m:val="p"/>
                                </m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m:rPr>
                                      <m:sty m:val="p"/>
                                    </m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m:rPr>
                                      <m:sty m:val="p"/>
                                    </m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e>
                                          <m:r>
                                            <w:rPr>
                                              <w:sz w:val="44"/>
                                              <w:rFonts w:ascii="Cambria Math" w:hAnsi="Cambria Math" w:eastAsia="Cambria Math"/>
                                            </w:rPr>
                                            <a:rPr lang="zh-CN" sz="2200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δ</m:t>
                                          </m:r>
                                        </m:e>
                                        <m:sub>
                                          <m:r>
                                            <w:rPr>
                                              <w:sz w:val="44"/>
                                              <w:rFonts w:ascii="Cambria Math" w:hAnsi="Cambria Math" w:eastAsia="Cambria Math"/>
                                            </w:rPr>
                                            <a:rPr lang="zh-CN" sz="2200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w:rPr>
                                          <w:sz w:val="44"/>
                                          <w:rFonts w:ascii="Cambria Math" w:hAnsi="Cambria Math" w:eastAsia="Cambria Math"/>
                                        </w:rP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25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0.25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func>
                            <m:funcPr/>
                            <m:fNam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m:rPr>
                                  <m:sty m:val="p"/>
                                </m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m:rPr>
                                      <m:sty m:val="p"/>
                                    </m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m:rPr>
                                      <m:sty m:val="p"/>
                                    </m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e>
                                          <m:r>
                                            <w:rPr>
                                              <w:sz w:val="44"/>
                                              <w:rFonts w:ascii="Cambria Math" w:hAnsi="Cambria Math" w:eastAsia="Cambria Math"/>
                                            </w:rPr>
                                            <a:rPr lang="zh-CN" sz="2200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δ</m:t>
                                          </m:r>
                                        </m:e>
                                        <m:sub>
                                          <m:r>
                                            <w:rPr>
                                              <w:sz w:val="44"/>
                                              <w:rFonts w:ascii="Cambria Math" w:hAnsi="Cambria Math" w:eastAsia="Cambria Math"/>
                                            </w:rPr>
                                            <a:rPr lang="zh-CN" sz="2200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τ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w:rPr>
                                          <w:sz w:val="44"/>
                                          <w:rFonts w:ascii="Cambria Math" w:hAnsi="Cambria Math" w:eastAsia="Cambria Math"/>
                                        </w:rP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e>
                  </m:func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6410777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o0">
            <a:extLst xmlns:a="http://schemas.openxmlformats.org/drawingml/2006/main">
              <a:ext uri="{FF2B5EF4-FFF2-40B4-BE49-F238E27FC236}">
                <a16:creationId xmlns:a16="http://schemas.microsoft.com/office/drawing/2014/main" id="{A0299B85-745D-428C-9ACE-7C98BF3B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6282ABA9-688D-4983-B904-B5638800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十维威胁评分的计算与约束顺序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E1A6C5C3-04B0-4EA3-9C11-D1BEABB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07DA9A9E-9FD4-46AC-A0BC-F0E40FCC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73552B5-6407-4246-8B8D-F23EB100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engine.py _threat；project_reference §9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2064DF30-6D43-4FBA-995B-5814A376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21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D4F417E2-3030-41DF-8C5F-DD522EE2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加权＋飞手偏置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E79FC315-0DFD-455E-B244-70B3DDD2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62225" y="4619625"/>
            <a:ext cx="200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FA96DAC7-E72C-4955-876C-4139C4F1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置信调整</a:t>
            </a:r>
          </a:p>
        </p:txBody>
      </p:sp>
      <p:sp>
        <p:nvSpPr>
          <p:cNvPr id="10" name="line-6">
            <a:extLst xmlns:a="http://schemas.openxmlformats.org/drawingml/2006/main">
              <a:ext uri="{FF2B5EF4-FFF2-40B4-BE49-F238E27FC236}">
                <a16:creationId xmlns:a16="http://schemas.microsoft.com/office/drawing/2014/main" id="{FF968644-2C2F-4052-B5A5-78CFA033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10125" y="4619625"/>
            <a:ext cx="200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427AD95A-31A3-4DE3-ADD4-DF97583A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862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截断／取整</a:t>
            </a:r>
          </a:p>
        </p:txBody>
      </p:sp>
      <p:sp>
        <p:nvSpPr>
          <p:cNvPr id="12" name="line-7">
            <a:extLst xmlns:a="http://schemas.openxmlformats.org/drawingml/2006/main">
              <a:ext uri="{FF2B5EF4-FFF2-40B4-BE49-F238E27FC236}">
                <a16:creationId xmlns:a16="http://schemas.microsoft.com/office/drawing/2014/main" id="{30AE0403-2F3A-45E5-89F2-84011D8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58025" y="4619625"/>
            <a:ext cx="200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E6A65F41-3713-43EE-AA90-1C09D2B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862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硬规则抬底</a:t>
            </a:r>
          </a:p>
        </p:txBody>
      </p:sp>
      <p:sp>
        <p:nvSpPr>
          <p:cNvPr id="14" name="line-8">
            <a:extLst xmlns:a="http://schemas.openxmlformats.org/drawingml/2006/main">
              <a:ext uri="{FF2B5EF4-FFF2-40B4-BE49-F238E27FC236}">
                <a16:creationId xmlns:a16="http://schemas.microsoft.com/office/drawing/2014/main" id="{BAAE22D5-9A8D-4772-A32D-415E7C70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05925" y="4619625"/>
            <a:ext cx="200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A"/>
            </a:solidFill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FDA5D36C-9DE9-44F9-955E-54DAB11E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86250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空间约束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550E9EA2-3EA5-4C7B-B529-E804C45C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642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单机与群体分别计算；分数与证据一同输出</a:t>
            </a:r>
          </a:p>
        </p:txBody>
      </p:sp>
      <p:sp>
        <p:nvSpPr>
          <p:cNvPr id="17" name="line-10">
            <a:extLst xmlns:a="http://schemas.openxmlformats.org/drawingml/2006/main">
              <a:ext uri="{FF2B5EF4-FFF2-40B4-BE49-F238E27FC236}">
                <a16:creationId xmlns:a16="http://schemas.microsoft.com/office/drawing/2014/main" id="{39DDC972-B7EB-4BEB-884E-C9497387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05E86C4C-9C48-4298-B2D3-8D68696E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权重、修正、阈值属于现行规则基线；独立风险等级校准仍需真值。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904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36192"/>
                <a:gridCol w="943661"/>
                <a:gridCol w="943661"/>
                <a:gridCol w="943661"/>
                <a:gridCol w="943661"/>
                <a:gridCol w="943661"/>
                <a:gridCol w="943661"/>
                <a:gridCol w="943661"/>
                <a:gridCol w="943661"/>
                <a:gridCol w="943661"/>
                <a:gridCol w="943661"/>
              </a:tblGrid>
              <a:tr h="4524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意图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空域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趋势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集群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机型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载荷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飞手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4524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权重%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5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endParaRPr lang="zh-CN" sz="15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2" name="equation-weighted"/>
          <p:cNvSpPr txBox="1">
            <a:spLocks noGrp="1"/>
          </p:cNvSpPr>
          <p:nvPr/>
        </p:nvSpPr>
        <p:spPr>
          <a:xfrm>
            <a:off x="609600" y="3048000"/>
            <a:ext cx="438150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4"/>
                          <w:rFonts w:ascii="Cambria Math" w:hAnsi="Cambria Math" w:eastAsia="Cambria Math"/>
                        </w:rPr>
                        <m:t>S</m:t>
                      </m:r>
                    </m:e>
                    <m:sub>
                      <m:r>
                        <w:rPr>
                          <w:sz w:val="54"/>
                          <w:rFonts w:ascii="Cambria Math" w:hAnsi="Cambria Math" w:eastAsia="Cambria Math"/>
                        </w:rPr>
                        <m:t>w</m:t>
                      </m:r>
                    </m:sub>
                  </m:sSub>
                  <m:r>
                    <w:rPr>
                      <w:sz w:val="54"/>
                      <w:rFonts w:ascii="Cambria Math" w:hAnsi="Cambria Math" w:eastAsia="Cambria Math"/>
                    </w:rPr>
                    <m:t> = </m:t>
                  </m:r>
                  <m:f>
                    <m:num>
                      <m:sSub>
                        <m:e>
                          <m:r>
                            <w:rPr>
                              <w:sz w:val="54"/>
                              <w:rFonts w:ascii="Cambria Math" w:hAnsi="Cambria Math" w:eastAsia="Cambria Math"/>
                            </w:rPr>
                            <m:t>Σ</m:t>
                          </m:r>
                        </m:e>
                        <m:sub>
                          <m:r>
                            <w:rPr>
                              <w:sz w:val="54"/>
                              <w:rFonts w:ascii="Cambria Math" w:hAnsi="Cambria Math" w:eastAsia="Cambria Math"/>
                            </w:rPr>
                            <m:t>j</m:t>
                          </m:r>
                        </m:sub>
                      </m:sSub>
                      <m:sSub>
                        <m:e>
                          <m:r>
                            <w:rPr>
                              <w:sz w:val="54"/>
                              <w:rFonts w:ascii="Cambria Math" w:hAnsi="Cambria Math" w:eastAsia="Cambria Math"/>
                            </w:rPr>
                            <m:t>w</m:t>
                          </m:r>
                        </m:e>
                        <m:sub>
                          <m:r>
                            <w:rPr>
                              <w:sz w:val="54"/>
                              <w:rFonts w:ascii="Cambria Math" w:hAnsi="Cambria Math" w:eastAsia="Cambria Math"/>
                            </w:rPr>
                            <m:t>j</m:t>
                          </m:r>
                        </m:sub>
                      </m:sSub>
                      <m:sSub>
                        <m:e>
                          <m:r>
                            <w:rPr>
                              <w:sz w:val="54"/>
                              <w:rFonts w:ascii="Cambria Math" w:hAnsi="Cambria Math" w:eastAsia="Cambria Math"/>
                            </w:rPr>
                            <m:t>s</m:t>
                          </m:r>
                        </m:e>
                        <m:sub>
                          <m:r>
                            <w:rPr>
                              <w:sz w:val="54"/>
                              <w:rFonts w:ascii="Cambria Math" w:hAnsi="Cambria Math" w:eastAsia="Cambria Math"/>
                            </w:rPr>
                            <m:t>j</m:t>
                          </m:r>
                        </m:sub>
                      </m:sSub>
                    </m:num>
                    <m:den>
                      <m:r>
                        <w:rPr>
                          <w:sz w:val="54"/>
                          <w:rFonts w:ascii="Cambria Math" w:hAnsi="Cambria Math" w:eastAsia="Cambria Math"/>
                        </w:rPr>
                        <m:t>100</m:t>
                      </m:r>
                    </m:den>
                  </m:f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2055426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o0">
            <a:extLst xmlns:a="http://schemas.openxmlformats.org/drawingml/2006/main">
              <a:ext uri="{FF2B5EF4-FFF2-40B4-BE49-F238E27FC236}">
                <a16:creationId xmlns:a16="http://schemas.microsoft.com/office/drawing/2014/main" id="{97E85B11-8589-49DD-A77F-ACB6C67F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B5D85F3C-4BF6-4A00-B7A6-5B2FE2C3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真实案例的十维评分复算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1267456-D351-4223-96C2-F3534E61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DB2A2FBF-A1A9-4B07-8E4A-56741927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4A5846C-D08B-4C09-907F-9AE7D815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§9；同次案例加权45.65、取整46；完整公式见A7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FF443A47-5FD9-46B4-9FD7-F9D2311E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22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1973596A-0512-4484-B8EC-1469BF8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66875"/>
            <a:ext cx="468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计算顺序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02E24370-E6E2-478E-960E-26AD7C7E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B8B82488-FD69-4FA5-A3CE-FA544561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33572900-0039-4580-89F5-D1C01AD7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十维加权与飞手偏置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52457B19-2263-4F02-B7D8-D25B0840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5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1955CDD8-1126-45A1-8BC8-00EEF7C8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5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9CC7C941-BB2E-4E18-A22F-70B6294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置信修正与限幅取整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528C5AF2-1BBB-415A-AF94-4962BBA4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71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D4153F09-1142-4EAB-92D0-3ED2D800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718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27ED3BBD-24FA-4077-AACD-6F4B4B0A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硬规则抬底</a:t>
            </a:r>
          </a:p>
        </p:txBody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B9CF84D8-4E79-4308-994C-A9B4DA3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5DA9A1C2-BA54-4EC8-8765-82A846E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F300DADD-3CEA-48E2-A0F1-5B9D7E3A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100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空间作用域限制与分级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9286F60E-D866-4D05-AFCE-376935CA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67325"/>
            <a:ext cx="468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真实案例  45.65 → 46</a:t>
            </a:r>
          </a:p>
        </p:txBody>
      </p:sp>
      <p:sp>
        <p:nvSpPr>
          <p:cNvPr id="21" name="line-18">
            <a:extLst xmlns:a="http://schemas.openxmlformats.org/drawingml/2006/main">
              <a:ext uri="{FF2B5EF4-FFF2-40B4-BE49-F238E27FC236}">
                <a16:creationId xmlns:a16="http://schemas.microsoft.com/office/drawing/2014/main" id="{C64C4F5E-7B4D-4E8F-8167-A9CD793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7334A03C-94F0-42D0-9DB0-38D42476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权重为固定实现值；规则评分不是经过统计标定的损失概率。</a:t>
            </a:r>
          </a:p>
        </p:txBody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E284676D-56C5-4C8E-96B7-2771C5EC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输入：规则与业务维度    产物：分数、等级与评分分解    核验：案例复算；权重仍待标定</a:t>
            </a:r>
          </a:p>
        </p:txBody>
      </p:sp>
      <p:graphicFrame xmlns:a="http://schemas.openxmlformats.org/drawingml/2006/main">
        <p:nvGraphicFramePr>
          <p:cNvPr id="7001" name="Chart 24"/>
          <p:cNvGraphicFramePr>
            <a:graphicFrameLocks noGrp="1"/>
          </p:cNvGraphicFramePr>
          <p:nvPr/>
        </p:nvGraphicFramePr>
        <p:xfrm>
          <a:off x="609600" y="1714500"/>
          <a:ext cx="5476875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Native7001"/>
          </a:graphicData>
        </a:graphic>
      </p:graphicFrame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2" name="native-equation-sraw"/>
          <p:cNvSpPr txBox="1">
            <a:spLocks noGrp="1"/>
          </p:cNvSpPr>
          <p:nvPr/>
        </p:nvSpPr>
        <p:spPr>
          <a:xfrm>
            <a:off x="619125" y="4933950"/>
            <a:ext cx="5810250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w:rPr>
                          <w:sz w:val="38"/>
                          <w:rFonts w:ascii="Cambria Math" w:hAnsi="Cambria Math" w:eastAsia="Cambria Math"/>
                        </w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e>
                    <m:sub>
                      <m:r>
                        <w:rPr>
                          <w:sz w:val="38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raw</m:t>
                      </m:r>
                    </m:sub>
                  </m:sSub>
                  <m:r>
                    <w:rPr>
                      <w:sz w:val="38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19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nary>
                    <m:naryPr>
                      <m:chr m:val="∑"/>
                      <m:limLoc m:val="undOvr"/>
                      <m:grow m:val="off"/>
                      <m:subHide m:val="off"/>
                      <m:supHide m:val="off"/>
                      <m:ctrl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naryPr>
                    <m:sub>
                      <m:r>
                        <w:rPr>
                          <w:sz w:val="38"/>
                          <w:rFonts w:ascii="Cambria Math" w:hAnsi="Cambria Math" w:eastAsia="Cambria Math"/>
                        </w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w:rPr>
                          <w:sz w:val="38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w:rPr>
                          <w:sz w:val="38"/>
                          <w:rFonts w:ascii="Cambria Math" w:hAnsi="Cambria Math" w:eastAsia="Cambria Math"/>
                        </w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w:rPr>
                          <w:sz w:val="38"/>
                          <w:rFonts w:ascii="Cambria Math" w:hAnsi="Cambria Math" w:eastAsia="Cambria Math"/>
                        </w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</m:sup>
                    <m:e>
                      <m:sSub>
                        <m:e>
                          <m:r>
                            <w:rPr>
                              <w:sz w:val="38"/>
                              <w:rFonts w:ascii="Cambria Math" w:hAnsi="Cambria Math" w:eastAsia="Cambria Math"/>
                            </w:rPr>
                            <a:rPr lang="zh-CN" sz="19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w:rPr>
                              <w:sz w:val="38"/>
                              <w:rFonts w:ascii="Cambria Math" w:hAnsi="Cambria Math" w:eastAsia="Cambria Math"/>
                            </w:rPr>
                            <a:rPr lang="zh-CN" sz="19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w:rPr>
                          <w:sz w:val="38"/>
                          <w:rFonts w:ascii="Cambria Math" w:hAnsi="Cambria Math" w:eastAsia="Cambria Math"/>
                        </w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w:rPr>
                              <w:sz w:val="38"/>
                              <w:rFonts w:ascii="Cambria Math" w:hAnsi="Cambria Math" w:eastAsia="Cambria Math"/>
                            </w:rPr>
                            <a:rPr lang="zh-CN" sz="19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w:rPr>
                              <w:sz w:val="38"/>
                              <w:rFonts w:ascii="Cambria Math" w:hAnsi="Cambria Math" w:eastAsia="Cambria Math"/>
                            </w:rPr>
                            <a:rPr lang="zh-CN" sz="19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</m:e>
                  </m:nary>
                  <m:r>
                    <w:rPr>
                      <w:sz w:val="38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19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w:rPr>
                          <w:sz w:val="38"/>
                          <w:rFonts w:ascii="Cambria Math" w:hAnsi="Cambria Math" w:eastAsia="Cambria Math"/>
                        </w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e>
                    <m:sub>
                      <m:r>
                        <w:rPr>
                          <w:sz w:val="38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19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pilot</m:t>
                      </m:r>
                    </m:sub>
                  </m:sSub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2291294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o0">
            <a:extLst xmlns:a="http://schemas.openxmlformats.org/drawingml/2006/main">
              <a:ext uri="{FF2B5EF4-FFF2-40B4-BE49-F238E27FC236}">
                <a16:creationId xmlns:a16="http://schemas.microsoft.com/office/drawing/2014/main" id="{7AB6CE46-7EC8-4389-A7B5-19BAE536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1CA95E33-D8F0-4EDA-BE68-7D476348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边界时间与设施 ETA 的三条计算路径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049392A7-81DE-4FB9-83DD-2B79B031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5DE92094-D2EC-4A83-A63E-D0971FE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D670BE90-A4D7-4D37-93CD-1F84351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airspace_analysis.py；intention_recognition.py:429；engine.py:2103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7F3F27A-CE1D-427A-AAD2-E69474EC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23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EBD7537E-70FE-49E2-A940-FD28F90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空域边界穿越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F300A1C2-807F-4962-AC65-1A883CCF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适配器设施ETA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2BEB2807-FCFD-4E22-8373-A5D696F6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引擎设施ETA回退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A4553425-2416-4EE0-87E3-49F209C8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边界距离按真实时间回归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运动条件成立才外推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D3874369-5814-4CC1-AFDD-BC2EB67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66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最近3点每步距离变化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乘窗口平均时间间隔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02FDA145-949C-43C4-B73C-39F5B56C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同一主设施与成员作用域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有效速度大于0.5 m/s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97E609BE-532A-4949-8AF6-6D9ECD88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输出：predictedBoundaryCrossingSeconds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48701DD8-8E37-4776-A053-16473150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39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设施ETA：有效适配器值 → 条件回退 → null</a:t>
            </a:r>
          </a:p>
        </p:txBody>
      </p:sp>
      <p:sp>
        <p:nvSpPr>
          <p:cNvPr id="15" name="line-12">
            <a:extLst xmlns:a="http://schemas.openxmlformats.org/drawingml/2006/main">
              <a:ext uri="{FF2B5EF4-FFF2-40B4-BE49-F238E27FC236}">
                <a16:creationId xmlns:a16="http://schemas.microsoft.com/office/drawing/2014/main" id="{F290AD96-0106-46AF-92D9-31670DA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54C635BD-5214-4B3D-ABB9-ED393711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边界时间和设施时间分别解释；当前不模拟未来转弯、绕障或多分支轨迹。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boundary"/>
          <p:cNvSpPr txBox="1">
            <a:spLocks noGrp="1"/>
          </p:cNvSpPr>
          <p:nvPr/>
        </p:nvSpPr>
        <p:spPr>
          <a:xfrm>
            <a:off x="609600" y="2476500"/>
            <a:ext cx="3381375" cy="714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0"/>
                          <w:rFonts w:ascii="Cambria Math" w:hAnsi="Cambria Math" w:eastAsia="Cambria Math"/>
                        </w:rPr>
                        <m:t>τ</m:t>
                      </m:r>
                    </m:e>
                    <m:sub>
                      <m:r>
                        <w:rPr>
                          <w:sz w:val="50"/>
                          <w:rFonts w:ascii="Cambria Math" w:hAnsi="Cambria Math" w:eastAsia="Cambria Math"/>
                        </w:rPr>
                        <m:t>boundary</m:t>
                      </m:r>
                    </m:sub>
                  </m:sSub>
                  <m:r>
                    <w:rPr>
                      <w:sz w:val="50"/>
                      <w:rFonts w:ascii="Cambria Math" w:hAnsi="Cambria Math" w:eastAsia="Cambria Math"/>
                    </w:rPr>
                    <m:t> = </m:t>
                  </m:r>
                  <m:f>
                    <m:num>
                      <m:sSub>
                        <m:e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d</m:t>
                          </m:r>
                        </m:e>
                        <m:sub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boundary</m:t>
                          </m:r>
                        </m:sub>
                      </m:sSub>
                    </m:num>
                    <m:den>
                      <m:r>
                        <w:rPr>
                          <w:sz w:val="50"/>
                          <w:rFonts w:ascii="Cambria Math" w:hAnsi="Cambria Math" w:eastAsia="Cambria Math"/>
                        </w:rPr>
                        <m:t>|b|</m:t>
                      </m:r>
                    </m:den>
                  </m:f>
                  <m:r>
                    <w:rPr>
                      <w:sz w:val="50"/>
                      <w:rFonts w:ascii="Cambria Math" w:hAnsi="Cambria Math" w:eastAsia="Cambria Math"/>
                    </w:rPr>
                    <m:t> , b &lt; 0</m:t>
                  </m:r>
                </m:oMath>
              </m:oMathPara>
            </a14:m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2" name="equation-etaadapter"/>
          <p:cNvSpPr txBox="1">
            <a:spLocks noGrp="1"/>
          </p:cNvSpPr>
          <p:nvPr/>
        </p:nvSpPr>
        <p:spPr>
          <a:xfrm>
            <a:off x="4343400" y="2476500"/>
            <a:ext cx="3381375" cy="714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0"/>
                          <w:rFonts w:ascii="Cambria Math" w:hAnsi="Cambria Math" w:eastAsia="Cambria Math"/>
                        </w:rPr>
                        <m:t>τ</m:t>
                      </m:r>
                    </m:e>
                    <m:sub>
                      <m:r>
                        <w:rPr>
                          <w:sz w:val="50"/>
                          <w:rFonts w:ascii="Cambria Math" w:hAnsi="Cambria Math" w:eastAsia="Cambria Math"/>
                        </w:rPr>
                        <m:t>adapter</m:t>
                      </m:r>
                    </m:sub>
                  </m:sSub>
                  <m:r>
                    <w:rPr>
                      <w:sz w:val="50"/>
                      <w:rFonts w:ascii="Cambria Math" w:hAnsi="Cambria Math" w:eastAsia="Cambria Math"/>
                    </w:rPr>
                    <m:t> = </m:t>
                  </m:r>
                  <m:f>
                    <m:num>
                      <m:sSub>
                        <m:e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d</m:t>
                          </m:r>
                        </m:e>
                        <m:sub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m</m:t>
                          </m:r>
                        </m:sub>
                      </m:sSub>
                    </m:num>
                    <m:den>
                      <m:r>
                        <w:rPr>
                          <w:sz w:val="50"/>
                          <w:rFonts w:ascii="Cambria Math" w:hAnsi="Cambria Math" w:eastAsia="Cambria Math"/>
                        </w:rPr>
                        <m:t>|Δd̄|</m:t>
                      </m:r>
                    </m:den>
                  </m:f>
                  <m:r>
                    <w:rPr>
                      <w:sz w:val="50"/>
                      <w:rFonts w:ascii="Cambria Math" w:hAnsi="Cambria Math" w:eastAsia="Cambria Math"/>
                    </w:rPr>
                    <m:t> Δt̄</m:t>
                  </m:r>
                </m:oMath>
              </m:oMathPara>
            </a14:m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3" name="equation-etafallback"/>
          <p:cNvSpPr txBox="1">
            <a:spLocks noGrp="1"/>
          </p:cNvSpPr>
          <p:nvPr/>
        </p:nvSpPr>
        <p:spPr>
          <a:xfrm>
            <a:off x="8077200" y="2476500"/>
            <a:ext cx="3476625" cy="714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0"/>
                          <w:rFonts w:ascii="Cambria Math" w:hAnsi="Cambria Math" w:eastAsia="Cambria Math"/>
                        </w:rPr>
                        <m:t>τ</m:t>
                      </m:r>
                    </m:e>
                    <m:sub>
                      <m:r>
                        <w:rPr>
                          <w:sz w:val="50"/>
                          <w:rFonts w:ascii="Cambria Math" w:hAnsi="Cambria Math" w:eastAsia="Cambria Math"/>
                        </w:rPr>
                        <m:t>fallback</m:t>
                      </m:r>
                    </m:sub>
                  </m:sSub>
                  <m:r>
                    <w:rPr>
                      <w:sz w:val="50"/>
                      <w:rFonts w:ascii="Cambria Math" w:hAnsi="Cambria Math" w:eastAsia="Cambria Math"/>
                    </w:rPr>
                    <m:t> = ⌊</m:t>
                  </m:r>
                  <m:f>
                    <m:num>
                      <m:sSub>
                        <m:e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d</m:t>
                          </m:r>
                        </m:e>
                        <m:sub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facility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v</m:t>
                          </m:r>
                        </m:e>
                        <m:sub>
                          <m:r>
                            <w:rPr>
                              <w:sz w:val="50"/>
                              <w:rFonts w:ascii="Cambria Math" w:hAnsi="Cambria Math" w:eastAsia="Cambria Math"/>
                            </w:rPr>
                            <m:t>max,scope</m:t>
                          </m:r>
                        </m:sub>
                      </m:sSub>
                    </m:den>
                  </m:f>
                  <m:r>
                    <w:rPr>
                      <w:sz w:val="50"/>
                      <w:rFonts w:ascii="Cambria Math" w:hAnsi="Cambria Math" w:eastAsia="Cambria Math"/>
                    </w:rPr>
                    <m:t>⌋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6904853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o0">
            <a:extLst xmlns:a="http://schemas.openxmlformats.org/drawingml/2006/main">
              <a:ext uri="{FF2B5EF4-FFF2-40B4-BE49-F238E27FC236}">
                <a16:creationId xmlns:a16="http://schemas.microsoft.com/office/drawing/2014/main" id="{DDF6D717-6F82-4C53-8ABE-FFA73FD8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DC29270C-73C8-4014-A9A1-D6959929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代表点探测覆盖与组合评估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8097D837-536E-45F4-88D2-9793A194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C1D894BE-C869-49ED-9918-A2E8EA29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41D45F7-332B-40DD-9E9F-D59ADED6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defense_analysis.py _cluster_point / _detection_vulnerability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750D28B-1F53-4EFE-98D9-48DC9B76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24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3807F7FE-B841-40F6-AE61-B473F477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34290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4D505C05-AC92-45A7-BF07-70C7127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314325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DA76AC28-A31C-4ED2-823F-BDE08665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4A1C9072-98CD-465A-AC96-56B094B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5C9580D4-6A05-42ED-B9EE-EA126BA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366BED13-BA65-4BD1-8E9D-3A1054D3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206A75B6-D426-4C1D-BBFA-EDC1C1A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906" y="3357563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1375C5ED-9939-44EB-99E6-9F20E171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766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群体代表点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4D89208A-A20B-462E-B73C-BB8154EA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有成员位于覆盖外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A037E299-2220-4227-9597-E15A480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C：有效且覆盖代表点的设备</a:t>
            </a:r>
          </a:p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p：输入设备概率参数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缺输入与覆盖不足分开输出</a:t>
            </a:r>
          </a:p>
        </p:txBody>
      </p:sp>
      <p:sp>
        <p:nvSpPr>
          <p:cNvPr id="17" name="line-14">
            <a:extLst xmlns:a="http://schemas.openxmlformats.org/drawingml/2006/main">
              <a:ext uri="{FF2B5EF4-FFF2-40B4-BE49-F238E27FC236}">
                <a16:creationId xmlns:a16="http://schemas.microsoft.com/office/drawing/2014/main" id="{8784770F-C7E6-4391-B295-EA4EF3A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CF8EE8D7-B606-4451-AE4D-A1800D4F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几何方法示意；不是群体轮廓覆盖，也不是实测探测概率。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coverage"/>
          <p:cNvSpPr txBox="1">
            <a:spLocks noGrp="1"/>
          </p:cNvSpPr>
          <p:nvPr/>
        </p:nvSpPr>
        <p:spPr>
          <a:xfrm>
            <a:off x="6858000" y="2190750"/>
            <a:ext cx="4667250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54"/>
                          <w:rFonts w:ascii="Cambria Math" w:hAnsi="Cambria Math" w:eastAsia="Cambria Math"/>
                        </w:rPr>
                        <m:t>P</m:t>
                      </m:r>
                    </m:e>
                    <m:sub>
                      <m:r>
                        <w:rPr>
                          <w:sz w:val="54"/>
                          <w:rFonts w:ascii="Cambria Math" w:hAnsi="Cambria Math" w:eastAsia="Cambria Math"/>
                        </w:rPr>
                        <m:t>detect</m:t>
                      </m:r>
                    </m:sub>
                  </m:sSub>
                  <m:r>
                    <w:rPr>
                      <w:sz w:val="54"/>
                      <w:rFonts w:ascii="Cambria Math" w:hAnsi="Cambria Math" w:eastAsia="Cambria Math"/>
                    </w:rPr>
                    <m:t> = 1 − </m:t>
                  </m:r>
                  <m:sSub>
                    <m:e>
                      <m:r>
                        <w:rPr>
                          <w:sz w:val="54"/>
                          <w:rFonts w:ascii="Cambria Math" w:hAnsi="Cambria Math" w:eastAsia="Cambria Math"/>
                        </w:rPr>
                        <m:t>∏</m:t>
                      </m:r>
                    </m:e>
                    <m:sub>
                      <m:r>
                        <w:rPr>
                          <w:sz w:val="54"/>
                          <w:rFonts w:ascii="Cambria Math" w:hAnsi="Cambria Math" w:eastAsia="Cambria Math"/>
                        </w:rPr>
                        <m:t>i∈C</m:t>
                      </m:r>
                    </m:sub>
                  </m:sSub>
                  <m:r>
                    <w:rPr>
                      <w:sz w:val="54"/>
                      <w:rFonts w:ascii="Cambria Math" w:hAnsi="Cambria Math" w:eastAsia="Cambria Math"/>
                    </w:rPr>
                    <m:t>(1 − </m:t>
                  </m:r>
                  <m:sSub>
                    <m:e>
                      <m:r>
                        <w:rPr>
                          <w:sz w:val="54"/>
                          <w:rFonts w:ascii="Cambria Math" w:hAnsi="Cambria Math" w:eastAsia="Cambria Math"/>
                        </w:rPr>
                        <m:t>p</m:t>
                      </m:r>
                    </m:e>
                    <m:sub>
                      <m:r>
                        <w:rPr>
                          <w:sz w:val="54"/>
                          <w:rFonts w:ascii="Cambria Math" w:hAnsi="Cambria Math" w:eastAsia="Cambria Math"/>
                        </w:rPr>
                        <m:t>i</m:t>
                      </m:r>
                    </m:sub>
                  </m:sSub>
                  <m:r>
                    <w:rPr>
                      <w:sz w:val="54"/>
                      <w:rFonts w:ascii="Cambria Math" w:hAnsi="Cambria Math" w:eastAsia="Cambria Math"/>
                    </w:rPr>
                    <m:t>)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1641556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E193E-1A69-42C5-9E70-C5F0AA323B9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43350" y="4048125"/>
            <a:ext cx="23431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90A6F-154E-4FF0-B5DC-D3DA134D54C6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905875" y="4238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93EEB-C8C9-4192-AE7B-7F39FE06D38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905875" y="30480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FC7CB-1A5B-4F21-B10E-A338679330E0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276475" y="3048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1" name="o0">
            <a:extLst xmlns:a="http://schemas.openxmlformats.org/drawingml/2006/main">
              <a:ext uri="{FF2B5EF4-FFF2-40B4-BE49-F238E27FC236}">
                <a16:creationId xmlns:a16="http://schemas.microsoft.com/office/drawing/2014/main" id="{2D580085-9E0A-4AC6-BC42-7889ECF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AFB23C5D-0B01-4B38-AA97-BA6F1A2B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请求内基础资源评估流程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E5E108DA-43DE-4D79-8978-2418795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E61B750-3D70-40AB-9181-6EE5669E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4E42EEA-B37B-467B-80B3-BB644161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defense_analysis.py evaluate / _allocate_defense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1F1C713-5AC1-47F9-8C2B-4C0EC0F3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25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8AC3F37F-55F5-492F-9D37-A5D4303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群体顺序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E6E499DE-1E32-43E3-AF5E-F0D621C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资源条件与分配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3B6BBECD-AA5D-4741-BBB9-049513CC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等级／分数排序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904F3D58-718E-4F75-84E3-89F3457F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逐群需求：成员数量</a:t>
            </a:r>
          </a:p>
        </p:txBody>
      </p:sp>
      <p:sp>
        <p:nvSpPr>
          <p:cNvPr id="11" name="o11">
            <a:extLst xmlns:a="http://schemas.openxmlformats.org/drawingml/2006/main">
              <a:ext uri="{FF2B5EF4-FFF2-40B4-BE49-F238E27FC236}">
                <a16:creationId xmlns:a16="http://schemas.microsoft.com/office/drawing/2014/main" id="{EA6AF3BF-3688-4CF4-8169-5F9B0418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23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启用／范围／响应条件</a:t>
            </a:r>
          </a:p>
        </p:txBody>
      </p:sp>
      <p:sp>
        <p:nvSpPr>
          <p:cNvPr id="12" name="o12">
            <a:extLst xmlns:a="http://schemas.openxmlformats.org/drawingml/2006/main">
              <a:ext uri="{FF2B5EF4-FFF2-40B4-BE49-F238E27FC236}">
                <a16:creationId xmlns:a16="http://schemas.microsoft.com/office/drawing/2014/main" id="{F6EE6CCF-F5DC-41EF-A41E-EA03948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23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按响应时间、距离排序</a:t>
            </a:r>
          </a:p>
        </p:txBody>
      </p:sp>
      <p:sp>
        <p:nvSpPr>
          <p:cNvPr id="13" name="o13">
            <a:extLst xmlns:a="http://schemas.openxmlformats.org/drawingml/2006/main">
              <a:ext uri="{FF2B5EF4-FFF2-40B4-BE49-F238E27FC236}">
                <a16:creationId xmlns:a16="http://schemas.microsoft.com/office/drawing/2014/main" id="{669AD059-597F-491D-9A13-895C7F5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23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取可用数量并扣减本请求余量</a:t>
            </a:r>
          </a:p>
        </p:txBody>
      </p:sp>
      <p:sp>
        <p:nvSpPr>
          <p:cNvPr id="14" name="o17">
            <a:extLst xmlns:a="http://schemas.openxmlformats.org/drawingml/2006/main">
              <a:ext uri="{FF2B5EF4-FFF2-40B4-BE49-F238E27FC236}">
                <a16:creationId xmlns:a16="http://schemas.microsoft.com/office/drawing/2014/main" id="{8BE75814-8818-46C2-A5B0-4B994A7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分配数量、剩余量</a:t>
            </a:r>
          </a:p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响应时间、评估状态</a:t>
            </a:r>
          </a:p>
        </p:txBody>
      </p:sp>
      <p:sp>
        <p:nvSpPr>
          <p:cNvPr id="15" name="line-12">
            <a:extLst xmlns:a="http://schemas.openxmlformats.org/drawingml/2006/main">
              <a:ext uri="{FF2B5EF4-FFF2-40B4-BE49-F238E27FC236}">
                <a16:creationId xmlns:a16="http://schemas.microsoft.com/office/drawing/2014/main" id="{5B815452-B9FA-4838-9BDA-771921D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6" name="o19">
            <a:extLst xmlns:a="http://schemas.openxmlformats.org/drawingml/2006/main">
              <a:ext uri="{FF2B5EF4-FFF2-40B4-BE49-F238E27FC236}">
                <a16:creationId xmlns:a16="http://schemas.microsoft.com/office/drawing/2014/main" id="{79E7360C-CBBD-48EF-BEA7-AB1E673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ETA缺失时响应时限筛选不生效；successRate为当前模型评估字段。</a:t>
            </a:r>
          </a:p>
        </p:txBody>
      </p:sp>
    </p:spTree>
    <p:extLst>
      <p:ext uri="{BB962C8B-B14F-4D97-AF65-F5344CB8AC3E}">
        <p14:creationId xmlns:p14="http://schemas.microsoft.com/office/powerpoint/2010/main" val="4238593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CB5F5B99-D190-4D1A-A08F-49F0F6B6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91947B3D-3D30-48B1-84B2-A131F35F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最终交付结果同时保留业务结论与质量状态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C74AA200-6EF9-4DDF-AA51-F69A5DB9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75355098-0F27-4036-8A0F-E62EE99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D5DF6B1-4FDC-47C7-A36C-A6C338D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§11.1；公共响应字段映射见本页备注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3386F24-874A-45F4-89FF-3338C582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26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9BABD610-B144-40CC-B7EF-DF2C69D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820172CF-D94C-4F8C-BFAB-EEF6CDAE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下游既要知道“结论是什么”，也要知道“依据是什么、何时不可用”。</a:t>
            </a:r>
          </a:p>
        </p:txBody>
      </p:sp>
      <p:graphicFrame xmlns:a="http://schemas.openxmlformats.org/drawingml/2006/main">
        <p:nvGraphicFramePr>
          <p:cNvPr id="7001" name="Table 9"/>
          <p:cNvGraphicFramePr>
            <a:graphicFrameLocks noGrp="1"/>
          </p:cNvGraphicFramePr>
          <p:nvPr/>
        </p:nvGraphicFramePr>
        <p:xfrm>
          <a:off x="609600" y="1781175"/>
          <a:ext cx="10972800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4389120"/>
                <a:gridCol w="4828032"/>
              </a:tblGrid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输出族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业务内容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必须同时保留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集群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成员、队形、意图、威胁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候选、评分分解与证据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单机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独立意图与成员威胁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有效／豁免／跳过状态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空间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圈层、禁飞区及设施关联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不相关与不可用的区别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辅助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ETA、覆盖与资源评估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缺失输入和估计方法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9531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解释与诊断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事件建议、警告、规则版本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9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900">
                          <a:latin typeface="Microsoft YaHei"/>
                          <a:ea typeface="Microsoft YaHei"/>
                          <a:cs typeface="Microsoft YaHei"/>
                        </a:rPr>
                        <a:t>实际调用、降级与数据来源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2638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1BC6E4-A2F6-409B-8E3D-85E0C858878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24900" y="2009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DBD16B-9A6F-4082-B27E-81DAAC873FF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76925" y="2009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079860-CCD6-4D30-914B-CD54FE409C4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28950" y="2009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37" name="o0">
            <a:extLst xmlns:a="http://schemas.openxmlformats.org/drawingml/2006/main">
              <a:ext uri="{FF2B5EF4-FFF2-40B4-BE49-F238E27FC236}">
                <a16:creationId xmlns:a16="http://schemas.microsoft.com/office/drawing/2014/main" id="{20D2F238-142B-4440-AB0B-5C79C1DB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2B5C5FF0-72C8-45DB-87F5-4FCFA879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同一次请求串起成员、队形、意图与评分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3889E448-90C5-497A-BE17-3A196EB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EA202A3A-D56C-4F69-8BCA-D7EC5C38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626F398-5A72-4DD5-9C7B-C8FA0FE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同次case_request／case_response／case_trace；vectorized模式，CPU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C17BF015-236F-4011-9853-E5CB6DB8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27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CEBBC9DC-B822-444E-9606-79C9B4FE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19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13个输入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7EFFE0FB-0AC7-47DC-90F4-4746A0EF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14500"/>
            <a:ext cx="2419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4个有效豁免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B56136F8-4B5D-483A-BFDB-B312BBFD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419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9个进入聚类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8207B0EB-D916-40AA-AE59-D55E1D7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14500"/>
            <a:ext cx="2419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2组独立判读</a:t>
            </a:r>
          </a:p>
        </p:txBody>
      </p:sp>
      <p:sp>
        <p:nvSpPr>
          <p:cNvPr id="11" name="line-8">
            <a:extLst xmlns:a="http://schemas.openxmlformats.org/drawingml/2006/main">
              <a:ext uri="{FF2B5EF4-FFF2-40B4-BE49-F238E27FC236}">
                <a16:creationId xmlns:a16="http://schemas.microsoft.com/office/drawing/2014/main" id="{817C06F9-3D00-4864-826B-DE1A86BF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2695575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12" name="o14">
            <a:extLst xmlns:a="http://schemas.openxmlformats.org/drawingml/2006/main">
              <a:ext uri="{FF2B5EF4-FFF2-40B4-BE49-F238E27FC236}">
                <a16:creationId xmlns:a16="http://schemas.microsoft.com/office/drawing/2014/main" id="{EAE75214-703D-4F69-80D3-0CD6C22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5成员  ·  vshape</a:t>
            </a:r>
          </a:p>
        </p:txBody>
      </p:sp>
      <p:sp>
        <p:nvSpPr>
          <p:cNvPr id="13" name="o15">
            <a:extLst xmlns:a="http://schemas.openxmlformats.org/drawingml/2006/main">
              <a:ext uri="{FF2B5EF4-FFF2-40B4-BE49-F238E27FC236}">
                <a16:creationId xmlns:a16="http://schemas.microsoft.com/office/drawing/2014/main" id="{A4ED2A1F-48E0-4734-87F1-3A9F8C20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I-13  闯入警戒区</a:t>
            </a:r>
          </a:p>
        </p:txBody>
      </p:sp>
      <p:sp>
        <p:nvSpPr>
          <p:cNvPr id="14" name="o16">
            <a:extLst xmlns:a="http://schemas.openxmlformats.org/drawingml/2006/main">
              <a:ext uri="{FF2B5EF4-FFF2-40B4-BE49-F238E27FC236}">
                <a16:creationId xmlns:a16="http://schemas.microsoft.com/office/drawing/2014/main" id="{17079816-1B7E-4CDE-87E9-F68C8ED4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46 分  中档</a:t>
            </a:r>
          </a:p>
        </p:txBody>
      </p:sp>
      <p:sp>
        <p:nvSpPr>
          <p:cNvPr id="15" name="o17">
            <a:extLst xmlns:a="http://schemas.openxmlformats.org/drawingml/2006/main">
              <a:ext uri="{FF2B5EF4-FFF2-40B4-BE49-F238E27FC236}">
                <a16:creationId xmlns:a16="http://schemas.microsoft.com/office/drawing/2014/main" id="{5420EC31-54A1-43A6-A5D1-B8D8D120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加权45.65，再按规则取整</a:t>
            </a:r>
          </a:p>
        </p:txBody>
      </p:sp>
      <p:sp>
        <p:nvSpPr>
          <p:cNvPr id="16" name="o18">
            <a:extLst xmlns:a="http://schemas.openxmlformats.org/drawingml/2006/main">
              <a:ext uri="{FF2B5EF4-FFF2-40B4-BE49-F238E27FC236}">
                <a16:creationId xmlns:a16="http://schemas.microsoft.com/office/drawing/2014/main" id="{3F73A27A-C456-4E59-8819-87631C37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965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9">
            <a:extLst xmlns:a="http://schemas.openxmlformats.org/drawingml/2006/main">
              <a:ext uri="{FF2B5EF4-FFF2-40B4-BE49-F238E27FC236}">
                <a16:creationId xmlns:a16="http://schemas.microsoft.com/office/drawing/2014/main" id="{2480557F-BA49-4492-B99E-F17699BC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627" y="44340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20">
            <a:extLst xmlns:a="http://schemas.openxmlformats.org/drawingml/2006/main">
              <a:ext uri="{FF2B5EF4-FFF2-40B4-BE49-F238E27FC236}">
                <a16:creationId xmlns:a16="http://schemas.microsoft.com/office/drawing/2014/main" id="{FDCE6B92-F54D-4FD5-A5E8-ED98606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43" y="401948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21">
            <a:extLst xmlns:a="http://schemas.openxmlformats.org/drawingml/2006/main">
              <a:ext uri="{FF2B5EF4-FFF2-40B4-BE49-F238E27FC236}">
                <a16:creationId xmlns:a16="http://schemas.microsoft.com/office/drawing/2014/main" id="{37EA7D37-270F-4786-B3A4-3C0C5073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517" y="40718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22">
            <a:extLst xmlns:a="http://schemas.openxmlformats.org/drawingml/2006/main">
              <a:ext uri="{FF2B5EF4-FFF2-40B4-BE49-F238E27FC236}">
                <a16:creationId xmlns:a16="http://schemas.microsoft.com/office/drawing/2014/main" id="{0DD50ADE-2258-4A20-AEC1-77A32AD6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172" y="40481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23">
            <a:extLst xmlns:a="http://schemas.openxmlformats.org/drawingml/2006/main">
              <a:ext uri="{FF2B5EF4-FFF2-40B4-BE49-F238E27FC236}">
                <a16:creationId xmlns:a16="http://schemas.microsoft.com/office/drawing/2014/main" id="{DFDF13CD-9C26-4AAF-8534-1B1FE8A2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196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实际末位置（各组等比缩放）</a:t>
            </a:r>
          </a:p>
        </p:txBody>
      </p:sp>
      <p:sp>
        <p:nvSpPr>
          <p:cNvPr id="22" name="line-18">
            <a:extLst xmlns:a="http://schemas.openxmlformats.org/drawingml/2006/main">
              <a:ext uri="{FF2B5EF4-FFF2-40B4-BE49-F238E27FC236}">
                <a16:creationId xmlns:a16="http://schemas.microsoft.com/office/drawing/2014/main" id="{476CB03F-7511-4F7A-AF8F-8A775760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2695575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4E88"/>
            </a:solidFill>
            <a:prstDash val="solid"/>
          </a:ln>
        </p:spPr>
      </p:sp>
      <p:sp>
        <p:nvSpPr>
          <p:cNvPr id="23" name="o25">
            <a:extLst xmlns:a="http://schemas.openxmlformats.org/drawingml/2006/main">
              <a:ext uri="{FF2B5EF4-FFF2-40B4-BE49-F238E27FC236}">
                <a16:creationId xmlns:a16="http://schemas.microsoft.com/office/drawing/2014/main" id="{9FC36B44-4D82-46AA-8282-DACB815A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479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4成员  ·  vshape</a:t>
            </a:r>
          </a:p>
        </p:txBody>
      </p:sp>
      <p:sp>
        <p:nvSpPr>
          <p:cNvPr id="24" name="o26">
            <a:extLst xmlns:a="http://schemas.openxmlformats.org/drawingml/2006/main">
              <a:ext uri="{FF2B5EF4-FFF2-40B4-BE49-F238E27FC236}">
                <a16:creationId xmlns:a16="http://schemas.microsoft.com/office/drawing/2014/main" id="{89E001CC-75A7-41D8-9DF4-63B36A23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194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I-29  身份不可辨</a:t>
            </a:r>
          </a:p>
        </p:txBody>
      </p:sp>
      <p:sp>
        <p:nvSpPr>
          <p:cNvPr id="25" name="o27">
            <a:extLst xmlns:a="http://schemas.openxmlformats.org/drawingml/2006/main">
              <a:ext uri="{FF2B5EF4-FFF2-40B4-BE49-F238E27FC236}">
                <a16:creationId xmlns:a16="http://schemas.microsoft.com/office/drawing/2014/main" id="{4011B353-1177-4C10-B811-9CB744F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32 分  低档</a:t>
            </a:r>
          </a:p>
        </p:txBody>
      </p:sp>
      <p:sp>
        <p:nvSpPr>
          <p:cNvPr id="26" name="o28">
            <a:extLst xmlns:a="http://schemas.openxmlformats.org/drawingml/2006/main">
              <a:ext uri="{FF2B5EF4-FFF2-40B4-BE49-F238E27FC236}">
                <a16:creationId xmlns:a16="http://schemas.microsoft.com/office/drawing/2014/main" id="{63836BCC-515E-4350-B017-365EAFBA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00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加权32.23，再按规则取整</a:t>
            </a:r>
          </a:p>
        </p:txBody>
      </p:sp>
      <p:sp>
        <p:nvSpPr>
          <p:cNvPr id="27" name="o29">
            <a:extLst xmlns:a="http://schemas.openxmlformats.org/drawingml/2006/main">
              <a:ext uri="{FF2B5EF4-FFF2-40B4-BE49-F238E27FC236}">
                <a16:creationId xmlns:a16="http://schemas.microsoft.com/office/drawing/2014/main" id="{2FDF1239-C9F8-404A-9F77-7941935F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115" y="38827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30">
            <a:extLst xmlns:a="http://schemas.openxmlformats.org/drawingml/2006/main">
              <a:ext uri="{FF2B5EF4-FFF2-40B4-BE49-F238E27FC236}">
                <a16:creationId xmlns:a16="http://schemas.microsoft.com/office/drawing/2014/main" id="{5DC733C3-887F-4D1B-B3B3-9D079FC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782" y="39877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31">
            <a:extLst xmlns:a="http://schemas.openxmlformats.org/drawingml/2006/main">
              <a:ext uri="{FF2B5EF4-FFF2-40B4-BE49-F238E27FC236}">
                <a16:creationId xmlns:a16="http://schemas.microsoft.com/office/drawing/2014/main" id="{5B98767B-5AE2-45D5-9716-BC905845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859" y="441677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32">
            <a:extLst xmlns:a="http://schemas.openxmlformats.org/drawingml/2006/main">
              <a:ext uri="{FF2B5EF4-FFF2-40B4-BE49-F238E27FC236}">
                <a16:creationId xmlns:a16="http://schemas.microsoft.com/office/drawing/2014/main" id="{74AC49F7-D650-4618-BDF2-D2819A7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144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3">
            <a:extLst xmlns:a="http://schemas.openxmlformats.org/drawingml/2006/main">
              <a:ext uri="{FF2B5EF4-FFF2-40B4-BE49-F238E27FC236}">
                <a16:creationId xmlns:a16="http://schemas.microsoft.com/office/drawing/2014/main" id="{9827FED6-1B99-4459-A904-51995349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196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实际末位置（各组等比缩放）</a:t>
            </a:r>
          </a:p>
        </p:txBody>
      </p:sp>
      <p:sp>
        <p:nvSpPr>
          <p:cNvPr id="32" name="line-27">
            <a:extLst xmlns:a="http://schemas.openxmlformats.org/drawingml/2006/main">
              <a:ext uri="{FF2B5EF4-FFF2-40B4-BE49-F238E27FC236}">
                <a16:creationId xmlns:a16="http://schemas.microsoft.com/office/drawing/2014/main" id="{68E0A98E-1396-451A-907A-776EDC80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33" name="o35">
            <a:extLst xmlns:a="http://schemas.openxmlformats.org/drawingml/2006/main">
              <a:ext uri="{FF2B5EF4-FFF2-40B4-BE49-F238E27FC236}">
                <a16:creationId xmlns:a16="http://schemas.microsoft.com/office/drawing/2014/main" id="{ADF4D1AF-25AE-4198-A9ED-77613EE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配对ID：algorithm-review-20261025-chain；本页用于可追溯核查。</a:t>
            </a:r>
          </a:p>
        </p:txBody>
      </p:sp>
    </p:spTree>
    <p:extLst>
      <p:ext uri="{BB962C8B-B14F-4D97-AF65-F5344CB8AC3E}">
        <p14:creationId xmlns:p14="http://schemas.microsoft.com/office/powerpoint/2010/main" val="4883363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DF0A204E-9F56-4630-809D-D620BD2C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2044B3D4-7732-4FC6-B862-E782E68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身份、分组与缺失输入的分支回归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153092C9-8881-438F-9CAF-F0AD065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47EA5F7B-947C-4433-9731-ADA3788D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6AF1F62E-8406-45DA-880E-2AFF6B4F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method_evidence.json regression；本轮12项定向回归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4A12DAC5-C5D4-4C2C-86FB-A482F7D2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28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DC22490C-1726-4A49-B3B7-48B21520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37862E89-82F2-4476-9FF5-0B6B0188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本轮12/12通过；不与历史103项相加，不是独立准确率统计。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14016"/>
                <a:gridCol w="6035040"/>
                <a:gridCol w="2523744"/>
              </a:tblGrid>
              <a:tr h="6953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分支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当前断言／结果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证据性质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6953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单帧转向／低速／反向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按预期同簇或分离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3项聚类回归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身份与豁免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重复有效登记拒绝；冲突白名单禁用</a:t>
                      </a:r>
                      <a:endParaRPr lang="zh-CN" sz="1700"/>
                    </a:p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偏离计划不豁免；邻近合法目标不连带豁免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7项定向回归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953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输入设备和资源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输出available，并使用供给资源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独立测试夹具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缺设备和资源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输出unavailable，评估值为空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独立测试夹具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8716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5EF87-D7A1-4A97-B15E-96988FAFF87D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96000" y="49387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8EA9C-6DFC-4311-8BC2-C6A42200A4C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096000" y="39671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C8643-BB37-413F-AA41-BB0C1AF98EB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96000" y="29956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0B03F-6F7A-48CC-AA61-86EC8C8F71A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96000" y="20240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6" name="o0">
            <a:extLst xmlns:a="http://schemas.openxmlformats.org/drawingml/2006/main">
              <a:ext uri="{FF2B5EF4-FFF2-40B4-BE49-F238E27FC236}">
                <a16:creationId xmlns:a16="http://schemas.microsoft.com/office/drawing/2014/main" id="{7860B227-1FD1-42E4-B1E7-AFDEE232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359FC1DA-A9F3-4E8B-892F-9AF39B23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多无人机场景的优化位置与计算方法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19BD4FFE-01D0-4B66-B234-449BE9C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ADFA0C7-F250-4E20-BD5B-59A7F42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CFCBBB0A-AF15-426A-AED7-5C7A6A73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§12.5；Word第18.1–18.7节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1770E5AD-B440-49D7-BE08-2A88D04A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29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6D2A32A1-5667-430D-A2E7-A6E03E2F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行为特征</a:t>
            </a:r>
          </a:p>
        </p:txBody>
      </p:sp>
      <p:sp>
        <p:nvSpPr>
          <p:cNvPr id="8" name="old0">
            <a:extLst xmlns:a="http://schemas.openxmlformats.org/drawingml/2006/main">
              <a:ext uri="{FF2B5EF4-FFF2-40B4-BE49-F238E27FC236}">
                <a16:creationId xmlns:a16="http://schemas.microsoft.com/office/drawing/2014/main" id="{AE4C56BB-F4B8-4ED9-A12D-6ACFAC6C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逐目标分析</a:t>
            </a:r>
          </a:p>
        </p:txBody>
      </p:sp>
      <p:sp>
        <p:nvSpPr>
          <p:cNvPr id="9" name="new0">
            <a:extLst xmlns:a="http://schemas.openxmlformats.org/drawingml/2006/main">
              <a:ext uri="{FF2B5EF4-FFF2-40B4-BE49-F238E27FC236}">
                <a16:creationId xmlns:a16="http://schemas.microsoft.com/office/drawing/2014/main" id="{33F16F79-B9BF-4988-BBB3-DF1D797C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统一数组与NumPy规约</a:t>
            </a:r>
          </a:p>
        </p:txBody>
      </p:sp>
      <p:sp>
        <p:nvSpPr>
          <p:cNvPr id="10" name="o10">
            <a:extLst xmlns:a="http://schemas.openxmlformats.org/drawingml/2006/main">
              <a:ext uri="{FF2B5EF4-FFF2-40B4-BE49-F238E27FC236}">
                <a16:creationId xmlns:a16="http://schemas.microsoft.com/office/drawing/2014/main" id="{F6C662DF-AA6C-4111-8150-6E854DF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轨迹跨度</a:t>
            </a:r>
          </a:p>
        </p:txBody>
      </p:sp>
      <p:sp>
        <p:nvSpPr>
          <p:cNvPr id="11" name="old1">
            <a:extLst xmlns:a="http://schemas.openxmlformats.org/drawingml/2006/main">
              <a:ext uri="{FF2B5EF4-FFF2-40B4-BE49-F238E27FC236}">
                <a16:creationId xmlns:a16="http://schemas.microsoft.com/office/drawing/2014/main" id="{EFB23184-2B30-4445-90B6-519D9C32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Python点对循环</a:t>
            </a:r>
          </a:p>
        </p:txBody>
      </p:sp>
      <p:sp>
        <p:nvSpPr>
          <p:cNvPr id="12" name="new1">
            <a:extLst xmlns:a="http://schemas.openxmlformats.org/drawingml/2006/main">
              <a:ext uri="{FF2B5EF4-FFF2-40B4-BE49-F238E27FC236}">
                <a16:creationId xmlns:a16="http://schemas.microsoft.com/office/drawing/2014/main" id="{0ADF51D4-2E4C-49EA-B096-81E8F0CB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广播矩阵求最大距离</a:t>
            </a:r>
          </a:p>
        </p:txBody>
      </p:sp>
      <p:sp>
        <p:nvSpPr>
          <p:cNvPr id="13" name="o14">
            <a:extLst xmlns:a="http://schemas.openxmlformats.org/drawingml/2006/main">
              <a:ext uri="{FF2B5EF4-FFF2-40B4-BE49-F238E27FC236}">
                <a16:creationId xmlns:a16="http://schemas.microsoft.com/office/drawing/2014/main" id="{AF43B990-0916-4056-9A0E-978D6FCE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回退分组</a:t>
            </a:r>
          </a:p>
        </p:txBody>
      </p:sp>
      <p:sp>
        <p:nvSpPr>
          <p:cNvPr id="14" name="old2">
            <a:extLst xmlns:a="http://schemas.openxmlformats.org/drawingml/2006/main">
              <a:ext uri="{FF2B5EF4-FFF2-40B4-BE49-F238E27FC236}">
                <a16:creationId xmlns:a16="http://schemas.microsoft.com/office/drawing/2014/main" id="{40CC5A72-7780-418D-8405-AF87A07A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遍历候选与查索引</a:t>
            </a:r>
          </a:p>
        </p:txBody>
      </p:sp>
      <p:sp>
        <p:nvSpPr>
          <p:cNvPr id="15" name="new2">
            <a:extLst xmlns:a="http://schemas.openxmlformats.org/drawingml/2006/main">
              <a:ext uri="{FF2B5EF4-FFF2-40B4-BE49-F238E27FC236}">
                <a16:creationId xmlns:a16="http://schemas.microsoft.com/office/drawing/2014/main" id="{C81D73E1-7E1D-4E7D-A851-E79F9BEF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KD-tree＋ID字典</a:t>
            </a:r>
          </a:p>
        </p:txBody>
      </p:sp>
      <p:sp>
        <p:nvSpPr>
          <p:cNvPr id="16" name="o18">
            <a:extLst xmlns:a="http://schemas.openxmlformats.org/drawingml/2006/main">
              <a:ext uri="{FF2B5EF4-FFF2-40B4-BE49-F238E27FC236}">
                <a16:creationId xmlns:a16="http://schemas.microsoft.com/office/drawing/2014/main" id="{B31016FC-6A63-4E73-876B-AD6FDD4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成员特征</a:t>
            </a:r>
          </a:p>
        </p:txBody>
      </p:sp>
      <p:sp>
        <p:nvSpPr>
          <p:cNvPr id="17" name="old3">
            <a:extLst xmlns:a="http://schemas.openxmlformats.org/drawingml/2006/main">
              <a:ext uri="{FF2B5EF4-FFF2-40B4-BE49-F238E27FC236}">
                <a16:creationId xmlns:a16="http://schemas.microsoft.com/office/drawing/2014/main" id="{B147BCCB-CC6B-4075-BF9F-A95A44BF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集群与成员重复计算</a:t>
            </a:r>
          </a:p>
        </p:txBody>
      </p:sp>
      <p:sp>
        <p:nvSpPr>
          <p:cNvPr id="18" name="new3">
            <a:extLst xmlns:a="http://schemas.openxmlformats.org/drawingml/2006/main">
              <a:ext uri="{FF2B5EF4-FFF2-40B4-BE49-F238E27FC236}">
                <a16:creationId xmlns:a16="http://schemas.microsoft.com/office/drawing/2014/main" id="{0297020C-E86C-40B8-BB2E-E2768844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2915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一次请求内缓存复用</a:t>
            </a:r>
          </a:p>
        </p:txBody>
      </p:sp>
      <p:sp>
        <p:nvSpPr>
          <p:cNvPr id="19" name="line-16">
            <a:extLst xmlns:a="http://schemas.openxmlformats.org/drawingml/2006/main">
              <a:ext uri="{FF2B5EF4-FFF2-40B4-BE49-F238E27FC236}">
                <a16:creationId xmlns:a16="http://schemas.microsoft.com/office/drawing/2014/main" id="{93423181-4301-480E-8C36-882DBFF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20" name="o23">
            <a:extLst xmlns:a="http://schemas.openxmlformats.org/drawingml/2006/main">
              <a:ext uri="{FF2B5EF4-FFF2-40B4-BE49-F238E27FC236}">
                <a16:creationId xmlns:a16="http://schemas.microsoft.com/office/drawing/2014/main" id="{DEBA6F66-04C4-4460-906B-F6173DF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本次案例／基准均启用向量化；模型预热与空间复用未单独量化。</a:t>
            </a:r>
          </a:p>
        </p:txBody>
      </p:sp>
      <p:sp>
        <p:nvSpPr>
          <p:cNvPr id="21" name="o24">
            <a:extLst xmlns:a="http://schemas.openxmlformats.org/drawingml/2006/main">
              <a:ext uri="{FF2B5EF4-FFF2-40B4-BE49-F238E27FC236}">
                <a16:creationId xmlns:a16="http://schemas.microsoft.com/office/drawing/2014/main" id="{13D2C614-9A0F-45CC-B72D-AC12DCC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启用条件：VECTORIZED_FEATURES=1；Docker已设置；直接Python未设置时走legacy</a:t>
            </a:r>
          </a:p>
        </p:txBody>
      </p:sp>
    </p:spTree>
    <p:extLst>
      <p:ext uri="{BB962C8B-B14F-4D97-AF65-F5344CB8AC3E}">
        <p14:creationId xmlns:p14="http://schemas.microsoft.com/office/powerpoint/2010/main" val="20821936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o0">
            <a:extLst xmlns:a="http://schemas.openxmlformats.org/drawingml/2006/main">
              <a:ext uri="{FF2B5EF4-FFF2-40B4-BE49-F238E27FC236}">
                <a16:creationId xmlns:a16="http://schemas.microsoft.com/office/drawing/2014/main" id="{3E325095-9F4F-4CDD-AFDE-A418311E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31BF1325-900C-4CC3-8C4E-3B5C8D66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用规模、窗口和密度构造可复现实验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15811584-5875-4E57-8A00-16063BE6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282E7C5-9517-4F06-B4CC-CFD33A5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C88043E7-4C82-4790-83F5-97DA7D41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§12.5；results.json；生成器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C421BEFB-57B0-435A-8E30-1D854180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30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0D7D0874-0AA7-40E4-8842-6E4FD0B3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4种目标数 × 3种输入长度 × 2种布局 = 24组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ECF91B70-C565-425C-9884-57A96E01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分散布局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CBE5F574-4A48-40C3-959B-B839AF83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A0D03150-761B-4693-8CC6-048E23E1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193D75B7-A505-4E40-BB32-1244B1F1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F10B1C4F-B246-4117-8A0F-85AC039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7594E181-58E7-4E67-9FC6-1EC08342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18F00AE4-77A4-4CD2-9001-1C4725E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E1729BBB-14FE-44B3-AF98-F0660D3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CB3DED38-8CE0-4D0A-B1E0-0B76700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80DA15AC-DF63-4C31-9F19-76109B46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FB383900-C571-4AA8-91BA-897B5AF2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CCBB1ABE-E930-428A-8907-E42823C1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45CF15EC-08BC-463C-A2B5-A421A82D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CDEC6656-D51A-43AE-8E9D-A379A1F5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61BC833C-F0C3-4F7F-9437-EE05420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7831C891-63AE-4274-9A33-075DB287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61E770BF-F745-46BE-9499-E1E4C85A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每5架邻近，组间约650米</a:t>
            </a:r>
          </a:p>
        </p:txBody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5F4B5ACD-9050-46C1-929A-156783C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622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密集布局</a:t>
            </a:r>
          </a:p>
        </p:txBody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39B4FFE7-8C8B-44A5-AFB9-65C80F99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26">
            <a:extLst xmlns:a="http://schemas.openxmlformats.org/drawingml/2006/main">
              <a:ext uri="{FF2B5EF4-FFF2-40B4-BE49-F238E27FC236}">
                <a16:creationId xmlns:a16="http://schemas.microsoft.com/office/drawing/2014/main" id="{01D33394-D961-4656-8A56-EF0BADA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4EAE423E-59FE-43DD-8F77-326BAE99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28">
            <a:extLst xmlns:a="http://schemas.openxmlformats.org/drawingml/2006/main">
              <a:ext uri="{FF2B5EF4-FFF2-40B4-BE49-F238E27FC236}">
                <a16:creationId xmlns:a16="http://schemas.microsoft.com/office/drawing/2014/main" id="{03F006BA-83C4-4925-88BE-38555D7D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29">
            <a:extLst xmlns:a="http://schemas.openxmlformats.org/drawingml/2006/main">
              <a:ext uri="{FF2B5EF4-FFF2-40B4-BE49-F238E27FC236}">
                <a16:creationId xmlns:a16="http://schemas.microsoft.com/office/drawing/2014/main" id="{23334EDB-46FF-4763-A495-92BFADB4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0">
            <a:extLst xmlns:a="http://schemas.openxmlformats.org/drawingml/2006/main">
              <a:ext uri="{FF2B5EF4-FFF2-40B4-BE49-F238E27FC236}">
                <a16:creationId xmlns:a16="http://schemas.microsoft.com/office/drawing/2014/main" id="{EFD40C66-222B-4E14-A60F-F1E357A4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31">
            <a:extLst xmlns:a="http://schemas.openxmlformats.org/drawingml/2006/main">
              <a:ext uri="{FF2B5EF4-FFF2-40B4-BE49-F238E27FC236}">
                <a16:creationId xmlns:a16="http://schemas.microsoft.com/office/drawing/2014/main" id="{F4496108-2145-4263-BD10-2F1D70D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71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32">
            <a:extLst xmlns:a="http://schemas.openxmlformats.org/drawingml/2006/main">
              <a:ext uri="{FF2B5EF4-FFF2-40B4-BE49-F238E27FC236}">
                <a16:creationId xmlns:a16="http://schemas.microsoft.com/office/drawing/2014/main" id="{C29252F5-73AE-4592-AD08-8766444B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4686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末位置集中在几十米内</a:t>
            </a:r>
          </a:p>
        </p:txBody>
      </p:sp>
      <p:sp>
        <p:nvSpPr>
          <p:cNvPr id="34" name="o33">
            <a:extLst xmlns:a="http://schemas.openxmlformats.org/drawingml/2006/main">
              <a:ext uri="{FF2B5EF4-FFF2-40B4-BE49-F238E27FC236}">
                <a16:creationId xmlns:a16="http://schemas.microsoft.com/office/drawing/2014/main" id="{6C7DB667-836F-47D1-84AB-8E31A760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72份输入  ·  3个种子  ·  576次计时＋144次预热</a:t>
            </a:r>
          </a:p>
        </p:txBody>
      </p:sp>
      <p:sp>
        <p:nvSpPr>
          <p:cNvPr id="35" name="line-32">
            <a:extLst xmlns:a="http://schemas.openxmlformats.org/drawingml/2006/main">
              <a:ext uri="{FF2B5EF4-FFF2-40B4-BE49-F238E27FC236}">
                <a16:creationId xmlns:a16="http://schemas.microsoft.com/office/drawing/2014/main" id="{5CE32852-7327-4209-B67F-23804960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36" name="o35">
            <a:extLst xmlns:a="http://schemas.openxmlformats.org/drawingml/2006/main">
              <a:ext uri="{FF2B5EF4-FFF2-40B4-BE49-F238E27FC236}">
                <a16:creationId xmlns:a16="http://schemas.microsoft.com/office/drawing/2014/main" id="{F96571F8-A9C9-454B-B68F-9D3AED70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CPU、进程内、串行热态；240输入点在120秒窗内实际保留121点。</a:t>
            </a:r>
          </a:p>
        </p:txBody>
      </p:sp>
    </p:spTree>
    <p:extLst>
      <p:ext uri="{BB962C8B-B14F-4D97-AF65-F5344CB8AC3E}">
        <p14:creationId xmlns:p14="http://schemas.microsoft.com/office/powerpoint/2010/main" val="4972027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o0">
            <a:extLst xmlns:a="http://schemas.openxmlformats.org/drawingml/2006/main">
              <a:ext uri="{FF2B5EF4-FFF2-40B4-BE49-F238E27FC236}">
                <a16:creationId xmlns:a16="http://schemas.microsoft.com/office/drawing/2014/main" id="{560388E2-CAA5-4DEF-8F9B-A6EDDD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8EBAEA1E-4826-44EA-B995-120F274F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100目标路由P95约466至580毫秒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07B637E8-E327-4670-BDAE-F8AE9CB3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4B07C369-DFED-4BFD-9805-EDA435C1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7CFE05D-DDA3-4C2F-86F0-490BDFD5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results.json：api[window=120].route；最近秩P95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9EFB4E3-A71A-41EE-9D48-EAC5CA99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31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EA8F382C-6183-4034-90DD-5C5F43D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100目标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1A13A86B-A5E8-4DE2-9FFA-F67FA1E8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466–580 ms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6ECA35B3-D0E1-4E84-B6A2-DE659423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200目标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297AEB6F-50F6-4E15-A0FA-61EB8A9F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935–1182 ms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FC6C2527-91AB-4513-9B17-FB3BEBC3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3009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每架120输入点</a:t>
            </a:r>
          </a:p>
          <a:p xmlns:a="http://schemas.openxmlformats.org/drawingml/2006/main">
            <a: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不含网络、排队和并发</a:t>
            </a:r>
          </a:p>
        </p:txBody>
      </p:sp>
      <p:sp>
        <p:nvSpPr>
          <p:cNvPr id="12" name="line-9">
            <a:extLst xmlns:a="http://schemas.openxmlformats.org/drawingml/2006/main">
              <a:ext uri="{FF2B5EF4-FFF2-40B4-BE49-F238E27FC236}">
                <a16:creationId xmlns:a16="http://schemas.microsoft.com/office/drawing/2014/main" id="{94B2920A-5A9E-49D6-BAFE-6A7425A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8B0D4C53-7D56-4B37-9DBB-410B65B9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24次样本取有序第23项；没有业务时延阈值，不虚构达标线。</a:t>
            </a:r>
          </a:p>
        </p:txBody>
      </p:sp>
      <p:graphicFrame xmlns:a="http://schemas.openxmlformats.org/drawingml/2006/main">
        <p:nvGraphicFramePr>
          <p:cNvPr id="7001" name="Chart 14"/>
          <p:cNvGraphicFramePr>
            <a:graphicFrameLocks noGrp="1"/>
          </p:cNvGraphicFramePr>
          <p:nvPr/>
        </p:nvGraphicFramePr>
        <p:xfrm>
          <a:off x="609600" y="1762125"/>
          <a:ext cx="7239000" cy="367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Native7001"/>
          </a:graphicData>
        </a:graphic>
      </p:graphicFrame>
    </p:spTree>
    <p:extLst>
      <p:ext uri="{BB962C8B-B14F-4D97-AF65-F5344CB8AC3E}">
        <p14:creationId xmlns:p14="http://schemas.microsoft.com/office/powerpoint/2010/main" val="8299833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0">
            <a:extLst xmlns:a="http://schemas.openxmlformats.org/drawingml/2006/main">
              <a:ext uri="{FF2B5EF4-FFF2-40B4-BE49-F238E27FC236}">
                <a16:creationId xmlns:a16="http://schemas.microsoft.com/office/drawing/2014/main" id="{EB3FD256-B8D2-4882-9AE0-D51E92F1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E7F4E59E-F8EE-4E36-B2F8-8D8B8CC3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报告计算收益，同时保留场景与结果差异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B64F655B-84EF-4DB5-8401-C4D3869E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4D9A16F0-2123-4454-8C17-9175A35A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1A89D04-089E-4814-8FB1-515E6844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results.json：components、cacheComparison；缓存差异复核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6BE5B0A3-ECDC-4B22-A4C7-FFA42F64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32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36B5ACE9-7815-4033-89D1-907A76CA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733550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D5843D77-47E3-4485-89A7-66DE5EB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跨度矩阵化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CBCF3CE7-2457-4A62-9B46-D66F0D2D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20.07倍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FBE6B2AD-225A-4D0C-B7D7-1CC1320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120点：4.64 → 0.23 ms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10D0E8F2-DB95-46E8-931D-E5881499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数值差 &lt; 2×10⁻⁹米；仍是平方开销</a:t>
            </a:r>
          </a:p>
        </p:txBody>
      </p:sp>
      <p:sp>
        <p:nvSpPr>
          <p:cNvPr id="12" name="line-8">
            <a:extLst xmlns:a="http://schemas.openxmlformats.org/drawingml/2006/main">
              <a:ext uri="{FF2B5EF4-FFF2-40B4-BE49-F238E27FC236}">
                <a16:creationId xmlns:a16="http://schemas.microsoft.com/office/drawing/2014/main" id="{C011A9C7-72D2-4B0C-A23D-27A1CCF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1733550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52ED60B7-9C94-48D4-A088-C64AB2F8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764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请求内成员缓存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817B314F-8E8A-4244-BB22-021E130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71725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降低16.13%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B5CE0580-58B8-4FBD-898C-62FE89CD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100目标：548.18 → 459.78 ms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A1369C9B-03A3-4128-BD04-66121E05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每请求计算200→100次；算法data一致</a:t>
            </a:r>
          </a:p>
        </p:txBody>
      </p:sp>
      <p:sp>
        <p:nvSpPr>
          <p:cNvPr id="17" name="line-12">
            <a:extLst xmlns:a="http://schemas.openxmlformats.org/drawingml/2006/main">
              <a:ext uri="{FF2B5EF4-FFF2-40B4-BE49-F238E27FC236}">
                <a16:creationId xmlns:a16="http://schemas.microsoft.com/office/drawing/2014/main" id="{76EF6A75-4FC8-4D3E-801A-5B45A8DA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3876675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80B"/>
            </a:solidFill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B8FE0A80-BDC9-4856-852A-52C3020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KD-tree回退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CB04305A-3989-4E4E-B355-82BCDBE9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分散4.36倍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19158F05-85C7-4901-A963-33542FB8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密集：0.38 → 1.26 ms，反而更慢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4DE2725A-0E02-4124-862C-C263609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成员集合一致；不代表正常DBSCAN加速</a:t>
            </a:r>
          </a:p>
        </p:txBody>
      </p:sp>
      <p:sp>
        <p:nvSpPr>
          <p:cNvPr id="22" name="line-16">
            <a:extLst xmlns:a="http://schemas.openxmlformats.org/drawingml/2006/main">
              <a:ext uri="{FF2B5EF4-FFF2-40B4-BE49-F238E27FC236}">
                <a16:creationId xmlns:a16="http://schemas.microsoft.com/office/drawing/2014/main" id="{E111259C-38BD-4A73-9979-3FD0C6ED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3876675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80B"/>
            </a:solidFill>
            <a:prstDash val="solid"/>
          </a:ln>
        </p:spPr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2C054EAF-2781-4F5B-94BA-8C03AB4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行为向量化</a:t>
            </a:r>
          </a:p>
        </p:txBody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65CFA141-A226-4A94-A110-81139181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耗时比13.16</a:t>
            </a:r>
          </a:p>
        </p:txBody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10363229-10BA-409D-A79F-276FDF86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9587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100目标：57.85 → 4.40 ms</a:t>
            </a:r>
          </a:p>
        </p:txBody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377AEF44-1D3F-484C-8F9C-C105B461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435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加速6／减速9／转向3项判定不同</a:t>
            </a:r>
          </a:p>
        </p:txBody>
      </p:sp>
    </p:spTree>
    <p:extLst>
      <p:ext uri="{BB962C8B-B14F-4D97-AF65-F5344CB8AC3E}">
        <p14:creationId xmlns:p14="http://schemas.microsoft.com/office/powerpoint/2010/main" val="1172429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FA42674A-2D72-4995-917B-11055A9F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FAB67EBC-9B8D-42B8-901A-35E6012E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验证覆盖与独立效果证据缺口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FC04418E-4EA3-4028-97D3-ED3E983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0EE617D9-369C-4E09-A5BF-A58E73B0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ACC696D0-D4E2-4DB9-9F6A-5857A981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定向回归结果.json；results.json；同次案例；参考 §12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996B1BF-697B-40DF-BA70-40E70436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33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1C70D2E8-24A7-4207-BAF5-2AC69DC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CE5B3DB9-72E0-484C-BC81-8DE51EAF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103项不与较早56项累加；仿真性能与功能通过均不等于真实场景准确率。</a:t>
            </a:r>
          </a:p>
        </p:txBody>
      </p:sp>
      <p:graphicFrame xmlns:a="http://schemas.openxmlformats.org/drawingml/2006/main">
        <p:nvGraphicFramePr>
          <p:cNvPr id="7001" name="Table 9"/>
          <p:cNvGraphicFramePr>
            <a:graphicFrameLocks noGrp="1"/>
          </p:cNvGraphicFramePr>
          <p:nvPr/>
        </p:nvGraphicFramePr>
        <p:xfrm>
          <a:off x="609600" y="1752600"/>
          <a:ext cx="10972799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4"/>
                <a:gridCol w="4498848"/>
                <a:gridCol w="3950207"/>
              </a:tblGrid>
              <a:tr h="53884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环节／性质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现有核验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仍需补齐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3884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预处理与规则功能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103项定向回归；本次配对回放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更多边界和输入组合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3884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聚类／队形效果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功能回归；两组PointNet输出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独立成员标签、混淆矩阵与F1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3884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意图／威胁效果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规则断言、触发证据、评分复算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独立标注、误报漏报与等级一致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3884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计算性能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24组合；576计时；中位／P95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部署并发、网络、冷启动、长尾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3884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优化一致性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跨度误差／缓存data／成员集合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行为路径差异；最终意图未证明等价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388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ETA／资源辅助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实现与条件分支；本例缺失状态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50">
                          <a:latin typeface="Microsoft YaHei"/>
                          <a:ea typeface="Microsoft YaHei"/>
                          <a:cs typeface="Microsoft YaHei"/>
                        </a:rPr>
                        <a:t>抵达真值与完整资源输入对照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24170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0">
            <a:extLst xmlns:a="http://schemas.openxmlformats.org/drawingml/2006/main">
              <a:ext uri="{FF2B5EF4-FFF2-40B4-BE49-F238E27FC236}">
                <a16:creationId xmlns:a16="http://schemas.microsoft.com/office/drawing/2014/main" id="{C52F8DF3-687C-408D-8D39-AEDBD0C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69C03EA0-5752-4D96-9CC5-83F3576D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项目贡献与下一阶段验证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B68005B-2DE0-48DC-9F32-54CEDE4B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994BF5E1-2868-47BA-8550-A3AD68B0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659B37EE-0463-43E2-891E-4BBCB71C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§13；代码、模型、配置和输入哈希见案例回执与性能材料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5E97263-69AA-4CB6-BE0C-8B2CF71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34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C829BF74-085E-48D6-82D2-E712A34E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本阶段构成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35F1665F-7E3F-4660-8BAC-FD2891C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2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32A0875B-EBD3-4AB6-82F9-0F996D0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复用：DBSCAN与PointNet等子算法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8C3B2353-EBE3-4C8D-B8CE-A31FFB84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8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A1CB4810-68E4-4445-AFEF-638D435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适配：双窗口、可靠度与共享空间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FF952351-9D3E-44F2-978A-800EA79D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5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EB92C411-B14F-4D7C-B067-3C40B175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判读：独立规则、评分及可用性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22CBC8BC-B248-466F-A5A5-C3CEB2EF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2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8F63BC75-3B02-4E3D-A1BA-3C6499F3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优化：矩阵化、索引与请求缓存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5AB51804-1067-4D82-B9DC-DAC78CBE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24025"/>
            <a:ext cx="468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下一步评审事项</a:t>
            </a:r>
          </a:p>
        </p:txBody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81BB5927-2749-48EE-B9F3-AD60D58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2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584EE210-0CAD-44A5-A34F-1A88A7B3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确认公司实际持续输入条件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CB307277-12F6-49C3-A90C-186B67D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8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C0173370-D71F-4A6C-A710-D285E841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补齐独立效果标签与验收指标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BE03F2FB-96EE-47C5-9342-4726549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95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C28EE13D-CF06-4DA0-8C0D-DA538991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147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固定运行模式与处理周期</a:t>
            </a:r>
          </a:p>
        </p:txBody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F86B84F3-B7BE-4A26-8CCD-24A29C80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2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DC96B4BA-D382-42E0-BC39-7F27556D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验证并发、冷启动及完整辅助路径</a:t>
            </a:r>
          </a:p>
        </p:txBody>
      </p:sp>
      <p:sp>
        <p:nvSpPr>
          <p:cNvPr id="25" name="line-22">
            <a:extLst xmlns:a="http://schemas.openxmlformats.org/drawingml/2006/main">
              <a:ext uri="{FF2B5EF4-FFF2-40B4-BE49-F238E27FC236}">
                <a16:creationId xmlns:a16="http://schemas.microsoft.com/office/drawing/2014/main" id="{37501803-D942-4181-B335-79520FC7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C48C5C2C-E040-4D96-9228-B66AB866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交付固定输入、代码／模型／配置版本、结构化结果和可回放证据。</a:t>
            </a:r>
          </a:p>
        </p:txBody>
      </p:sp>
    </p:spTree>
    <p:extLst>
      <p:ext uri="{BB962C8B-B14F-4D97-AF65-F5344CB8AC3E}">
        <p14:creationId xmlns:p14="http://schemas.microsoft.com/office/powerpoint/2010/main" val="128441065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0">
            <a:extLst xmlns:a="http://schemas.openxmlformats.org/drawingml/2006/main">
              <a:ext uri="{FF2B5EF4-FFF2-40B4-BE49-F238E27FC236}">
                <a16:creationId xmlns:a16="http://schemas.microsoft.com/office/drawing/2014/main" id="{26220E9A-5C9C-4C63-A939-6D6BD5A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0B60B965-CC20-4DD7-B765-EEE04E6E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A1 参数、符号与方法来源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701BCAF0-DB88-4564-A2C4-DBA3AC4B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4F7681D8-816C-402A-8E3E-329442D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2FD0DF6-223D-4BE8-9958-222B5C8F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§15；代码配置与文献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7C2F9E3-67F8-4BDF-BCFC-3CB369BE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35 / 44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6429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符号／基线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6429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eps=1.5；min_samples=1；最多11段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config.ini；SplitClusters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点集网络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输入2；隐藏128；输出5；Dropout0.3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PointNetClassifier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429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意图120秒/240点；适配器末12点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engine / legacy_adapter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边界容差10米；关联范围5000米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airspace_analysis / ruleConfig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4293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基础论文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DBSCAN KDD1996；PointNet CVPR2017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原论文与本地实现分别引用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0638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0">
            <a:extLst xmlns:a="http://schemas.openxmlformats.org/drawingml/2006/main">
              <a:ext uri="{FF2B5EF4-FFF2-40B4-BE49-F238E27FC236}">
                <a16:creationId xmlns:a16="http://schemas.microsoft.com/office/drawing/2014/main" id="{71A9ED7D-F71A-400D-AD31-73CA2320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E05FD85E-792D-4F16-87A9-75ECF80F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A2 身份与计划判定表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B02928AC-77EE-4E70-8A66-9F1D6AA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827D17AB-0941-476E-83A9-2AEB686D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F91C7FC6-C5E8-4AAD-B5B6-20CD7E62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v32_gateway.py；engine.py _target_exemption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E26EB8A2-542C-4D34-9490-03FC1385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36 / 44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557893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当前行为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557893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无SN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registrationStatus=unknown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身份来源不足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有SN，无有效设备记录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unregistered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明确未登记路径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57893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重复有效设备SN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拒绝请求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防止任意选择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有效白名单重复／型号冲突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禁用相关白名单并诊断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不能据此豁免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57893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计划当前点不在路线容差内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该计划不命中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保留正常判读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多条计划命中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偏差、申报时间、ID排序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稳定选择并留记录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944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0">
            <a:extLst xmlns:a="http://schemas.openxmlformats.org/drawingml/2006/main">
              <a:ext uri="{FF2B5EF4-FFF2-40B4-BE49-F238E27FC236}">
                <a16:creationId xmlns:a16="http://schemas.microsoft.com/office/drawing/2014/main" id="{21CFAFB5-30A7-4F3B-99C3-7C3B9502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3C5AFA0F-7A62-4DCB-BF61-51F22C31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A3 聚类伪代码与特殊配置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1AE0275F-896A-4062-BA8A-8A72EA87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A05358AC-EDE0-4123-AF2A-1A3B3AB3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8C3428CF-9901-40C1-860D-7A0D791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SplitClusters；当前参数；正常DBSCAN与回退分组分别计量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0FA77765-D733-40F8-BDA2-F68A45C3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37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1492EC73-5E7B-4E03-AE16-51517335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01  提取末位置与有效短窗运动段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02  中位速度／单位方向，估计可靠度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03  分别标准化位置、方向和速度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04  成对取最小可靠度，计算完整距离矩阵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05  DBSCAN(metric=precomputed, eps=1.5, min_samples=1)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06  输出成员集合与成员集合生成的ID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1F5C4B8E-6416-4EA8-BE4B-E3C38AFF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73A1429A-785A-4763-9B39-CC6DDED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无可用分组才走引擎距离／航向连通回退；当前无持续群体身份跟踪。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SpPr>
          <p:cNvPr id="7001" name="equation-neighbors"/>
          <p:cNvSpPr txBox="1">
            <a:spLocks noGrp="1"/>
          </p:cNvSpPr>
          <p:nvPr/>
        </p:nvSpPr>
        <p:spPr>
          <a:xfrm>
            <a:off x="609600" y="5095875"/>
            <a:ext cx="6667500" cy="523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48"/>
                          <w:rFonts w:ascii="Cambria Math" w:hAnsi="Cambria Math" w:eastAsia="Cambria Math"/>
                        </w:rPr>
                        <m:t>N</m:t>
                      </m:r>
                    </m:e>
                    <m:sub>
                      <m:r>
                        <w:rPr>
                          <w:sz w:val="48"/>
                          <w:rFonts w:ascii="Cambria Math" w:hAnsi="Cambria Math" w:eastAsia="Cambria Math"/>
                        </w:rPr>
                        <m:t>ε</m:t>
                      </m:r>
                    </m:sub>
                  </m:sSub>
                  <m:r>
                    <w:rPr>
                      <w:sz w:val="48"/>
                      <w:rFonts w:ascii="Cambria Math" w:hAnsi="Cambria Math" w:eastAsia="Cambria Math"/>
                    </w:rPr>
                    <m:t>(i) = {j : </m:t>
                  </m:r>
                  <m:sSub>
                    <m:e>
                      <m:r>
                        <w:rPr>
                          <w:sz w:val="48"/>
                          <w:rFonts w:ascii="Cambria Math" w:hAnsi="Cambria Math" w:eastAsia="Cambria Math"/>
                        </w:rPr>
                        <m:t>D</m:t>
                      </m:r>
                    </m:e>
                    <m:sub>
                      <m:r>
                        <w:rPr>
                          <w:sz w:val="48"/>
                          <w:rFonts w:ascii="Cambria Math" w:hAnsi="Cambria Math" w:eastAsia="Cambria Math"/>
                        </w:rPr>
                        <m:t>ij</m:t>
                      </m:r>
                    </m:sub>
                  </m:sSub>
                  <m:r>
                    <w:rPr>
                      <w:sz w:val="48"/>
                      <w:rFonts w:ascii="Cambria Math" w:hAnsi="Cambria Math" w:eastAsia="Cambria Math"/>
                    </w:rPr>
                    <m:t> ≤ ε}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20970089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0">
            <a:extLst xmlns:a="http://schemas.openxmlformats.org/drawingml/2006/main">
              <a:ext uri="{FF2B5EF4-FFF2-40B4-BE49-F238E27FC236}">
                <a16:creationId xmlns:a16="http://schemas.microsoft.com/office/drawing/2014/main" id="{34A5236E-DF5B-4FEB-AC48-D2338BCB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C536C997-F060-4673-A333-913BAC81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A4 网络参数量与训练证据清单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3B01225A-1D45-4C4D-90F1-8F6D522E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03F5AF24-BE45-4DE5-917C-0053C336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F263B85-BF43-40A7-80A0-089397EC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PointNetClassifier；本轮parameterCount；Origin训练代码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807DBA5-A864-47B0-AB23-7A08E839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38 / 44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56469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层／证据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参数量／状态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56469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Conv1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2×128＋128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Conv2 / Conv3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16,512 / 16,512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128×128＋128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6469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BN×3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每层gamma与beta各128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FC1 / FC2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16,512 / 645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128→128；128→5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6469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总可训练参数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51,333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实际模型求和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当前权重独立评估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未核实完整记录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数据划分、日志、混淆矩阵待补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6342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E79B48B5-4019-4B9C-AA2F-7A391EE0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475D2A3E-A38A-4300-862D-6CEC151B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A5 空间相关性与高度不确定性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08DEBCFC-FCEB-46C9-B5D6-3FF89508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C9A9AF2-BE65-4876-936C-92CE10B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C006E656-C587-4476-807A-E79A9E77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airspace_analysis.py；engine.py空间作用域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CD9EB52F-0D50-4598-9569-13461FE2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39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030BEB74-7D46-4456-8C1F-41D04BC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55D92228-3A06-44A3-98B4-C0A86084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圈层、法定禁飞区、设施分别有标识；主区域与设施关联不可混用。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空间处理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下游语义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命中有效区域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relevant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同一主上下文判读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区域外且接近外warning边界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按关联范围筛选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不使用全图任意最近设施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已知超出关联范围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irrelevant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本地评分限制；不做本地ETA/分配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地图不足／高度不可比较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unavailable或uncertain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保守复核，避免错误低档化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多个设施但未明确绑定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不猜测设施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设施ETA可能为空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7167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o0">
            <a:extLst xmlns:a="http://schemas.openxmlformats.org/drawingml/2006/main">
              <a:ext uri="{FF2B5EF4-FFF2-40B4-BE49-F238E27FC236}">
                <a16:creationId xmlns:a16="http://schemas.microsoft.com/office/drawing/2014/main" id="{C9C6ADB6-232B-4D98-8844-C0664463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0CA084B6-00B6-442C-B996-1C70D16F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A6 启用规则与原始定义差异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CBAF5133-B01D-4F4F-8E07-459AE269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DACEFE93-73F6-4A43-8455-F2F675A0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35FC9EA-615D-4D0F-ACB0-F9500207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§8.2、§14.3；原需求与当前行为分列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C5D54E9-1EF6-481A-929A-D0FB440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40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8B0211FC-E39E-4831-ACFF-087258A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30项目录 ≠ 30项已经实现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6F5DB2C5-11A1-4953-BEB7-9AB8F349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启用：01、02、03、05、08、10、11、12、13、14、15、17、18、21、22、24、26、29、30</a:t>
            </a:r>
          </a:p>
        </p:txBody>
      </p:sp>
      <p:sp>
        <p:nvSpPr>
          <p:cNvPr id="9" name="line-6">
            <a:extLst xmlns:a="http://schemas.openxmlformats.org/drawingml/2006/main">
              <a:ext uri="{FF2B5EF4-FFF2-40B4-BE49-F238E27FC236}">
                <a16:creationId xmlns:a16="http://schemas.microsoft.com/office/drawing/2014/main" id="{8DAE4AAF-2B02-41DA-A1F6-F148890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BE78A9BB-6CC3-44D0-AC8D-D328EC8A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保留原始定义，追加实际行为；目录名称不等于真实动机已被证实。</a:t>
            </a:r>
          </a:p>
        </p:txBody>
      </p:sp>
      <p:graphicFrame xmlns:a="http://schemas.openxmlformats.org/drawingml/2006/main">
        <p:nvGraphicFramePr>
          <p:cNvPr id="7001" name="Table 11"/>
          <p:cNvGraphicFramePr>
            <a:graphicFrameLocks noGrp="1"/>
          </p:cNvGraphicFramePr>
          <p:nvPr/>
        </p:nvGraphicFramePr>
        <p:xfrm>
          <a:off x="609600" y="2628900"/>
          <a:ext cx="10972800" cy="271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72384"/>
                <a:gridCol w="5705856"/>
              </a:tblGrid>
              <a:tr h="5429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差异条目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原始定义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当前实际行为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悬停时间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旧表各自阈值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I-05／10／15统一10秒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I-28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目录兜底意图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禁用；无候选时空意图并复核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飞手偏置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负3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全部low为−4；任一high为＋5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R3高度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高于130米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130至180米，含端点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3837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o0">
            <a:extLst xmlns:a="http://schemas.openxmlformats.org/drawingml/2006/main">
              <a:ext uri="{FF2B5EF4-FFF2-40B4-BE49-F238E27FC236}">
                <a16:creationId xmlns:a16="http://schemas.microsoft.com/office/drawing/2014/main" id="{62A21B61-53F4-4AD2-941C-7C8CBEA9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32D0198F-869D-4E22-85D8-AA61A106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A7 评分公式、修正顺序与空间约束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C645249-7113-4CED-844E-D3C650B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F97661F-338F-413F-8DD9-7D244A87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46DCC11F-AB53-4B49-ABB1-FF69CC45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§9.2–§9.3；F09–F11；原生Office Math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DE97CC8A-5B37-48F8-91D0-1F956070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41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87678A66-FE31-478C-906F-DC78397A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加权与置信修正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32BCC59B-245D-43C6-9812-559F650E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取整、抬底与空间限制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9BE37F53-1467-460B-8A97-040FD4C1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参数和边界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E37F7F73-D46E-4C41-B60D-EE4D8D2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E32786C1-BA5E-41CE-8557-ECE6EAF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28850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默认等级线36／66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3677D39A-584E-4BE9-B5C6-CC42F3F0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62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525ED15A-5A47-4761-B2E3-2E9181AF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52725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置信扣分：6／3／0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9ED7D0EF-FA87-40BD-8F1C-A41A5CFB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C749C3FD-6CEB-40BB-89A3-FB76848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区间：&lt;0.70／&lt;0.85／其余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1B7BCEB5-8485-4D2E-8F56-C48BC8C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DEB37E3E-5B50-4404-AE3F-1D2B746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00475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飞手：任一high＋5</a:t>
            </a:r>
          </a:p>
        </p:txBody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BB6E9662-3897-4CAE-85E1-7593B29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FA7A231E-E313-46CC-BC13-C63C1DE8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全部low−4，其余0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8EA968E5-BEA8-4DA5-9C44-98325D0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E9C10760-77E8-45BE-B001-49B9A299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48225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66在部分规则中为下限</a:t>
            </a:r>
          </a:p>
        </p:txBody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19D2E0A7-E788-459D-A3EE-99C786A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53075"/>
            <a:ext cx="3733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空间不相关：封顶35</a:t>
            </a:r>
          </a:p>
          <a:p xmlns:a="http://schemas.openxmlformats.org/drawingml/2006/main">
            <a: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空间未知：不套此封顶</a:t>
            </a:r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1" name="native-equation-srawA"/>
          <p:cNvSpPr txBox="1">
            <a:spLocks noGrp="1"/>
          </p:cNvSpPr>
          <p:nvPr/>
        </p:nvSpPr>
        <p:spPr>
          <a:xfrm>
            <a:off x="609600" y="2181225"/>
            <a:ext cx="66675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raw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1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nary>
                    <m:naryPr>
                      <m:chr m:val="∑"/>
                      <m:limLoc m:val="undOvr"/>
                      <m:grow m:val="off"/>
                      <m:subHide m:val="off"/>
                      <m:supHide m:val="off"/>
                      <m:ctrl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</m:ctrlPr>
                    </m:naryPr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w:rPr>
                          <w:sz w:val="42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  <m:sup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</m:t>
                      </m:r>
                    </m:sup>
                    <m:e>
                      <m:sSub>
                        <m:e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</m:e>
                  </m:nary>
                  <m:r>
                    <w:rPr>
                      <w:sz w:val="42"/>
                      <w:rFonts w:ascii="Cambria Math" w:hAnsi="Cambria Math" w:eastAsia="Cambria Math"/>
                    </w:rPr>
                    <m:rPr>
                      <m:sty m:val="p"/>
                    </m:rPr>
                    <a:rPr lang="zh-CN" sz="2100" dirty="0">
                      <a:solidFill>
                        <a:srgbClr val="1C2530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pilot</m:t>
                      </m:r>
                    </m:sub>
                  </m:sSub>
                </m:oMath>
              </m:oMathPara>
            </a14:m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2" name="native-equation-confidence"/>
          <p:cNvSpPr txBox="1">
            <a:spLocks noGrp="1"/>
          </p:cNvSpPr>
          <p:nvPr/>
        </p:nvSpPr>
        <p:spPr>
          <a:xfrm>
            <a:off x="609600" y="3009900"/>
            <a:ext cx="66675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r>
                    <w:rPr>
                      <w:sz w:val="44"/>
                      <w:rFonts w:ascii="Cambria Math" w:hAnsi="Cambria Math" w:eastAsia="Cambria Math"/>
                    </w:rPr>
                    <m:t>C = clip[0,1](0.70 q̄ + 0.20 </m:t>
                  </m:r>
                  <m:sSub>
                    <m:e>
                      <m:r>
                        <w:rPr>
                          <w:sz w:val="44"/>
                          <w:rFonts w:ascii="Cambria Math" w:hAnsi="Cambria Math" w:eastAsia="Cambria Math"/>
                        </w:rPr>
                        <m:t>c</m:t>
                      </m:r>
                    </m:e>
                    <m:sub>
                      <m:r>
                        <w:rPr>
                          <w:sz w:val="44"/>
                          <w:rFonts w:ascii="Cambria Math" w:hAnsi="Cambria Math" w:eastAsia="Cambria Math"/>
                        </w:rPr>
                        <m:t>I</m:t>
                      </m:r>
                    </m:sub>
                  </m:sSub>
                  <m:r>
                    <w:rPr>
                      <w:sz w:val="44"/>
                      <w:rFonts w:ascii="Cambria Math" w:hAnsi="Cambria Math" w:eastAsia="Cambria Math"/>
                    </w:rPr>
                    <m:t> + 0.10u)</m:t>
                  </m:r>
                </m:oMath>
              </m:oMathPara>
            </a14:m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3" name="native-equation-round"/>
          <p:cNvSpPr txBox="1">
            <a:spLocks noGrp="1"/>
          </p:cNvSpPr>
          <p:nvPr/>
        </p:nvSpPr>
        <p:spPr>
          <a:xfrm>
            <a:off x="609600" y="4362450"/>
            <a:ext cx="6667500" cy="4667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m:t>S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t>0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t> = round(clip[0,100](</m:t>
                  </m:r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m:t>S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t>raw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t> + </m:t>
                  </m:r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m:t>Δ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t>C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t>))</m:t>
                  </m:r>
                </m:oMath>
              </m:oMathPara>
            </a14:m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4" name="native-equation-floor"/>
          <p:cNvSpPr txBox="1">
            <a:spLocks noGrp="1"/>
          </p:cNvSpPr>
          <p:nvPr/>
        </p:nvSpPr>
        <p:spPr>
          <a:xfrm>
            <a:off x="609600" y="489585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m:t>S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t>1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t> = max(</m:t>
                  </m:r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m:t>S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t>0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t>, F)</m:t>
                  </m:r>
                </m:oMath>
              </m:oMathPara>
            </a14:m>
          </a:p>
        </p:txBody>
      </p:sp>
      <p:sp xmlns:a="http://schemas.openxmlformats.org/drawingml/2006/main" xmlns:m="http://schemas.openxmlformats.org/officeDocument/2006/math" xmlns:w="http://schemas.openxmlformats.org/wordprocessingml/2006/main" xmlns:a14="http://schemas.microsoft.com/office/drawing/2010/main" xmlns:c="http://schemas.openxmlformats.org/drawingml/2006/chart">
        <p:nvSpPr>
          <p:cNvPr id="7005" name="native-equation-scope"/>
          <p:cNvSpPr txBox="1">
            <a:spLocks noGrp="1"/>
          </p:cNvSpPr>
          <p:nvPr/>
        </p:nvSpPr>
        <p:spPr>
          <a:xfrm>
            <a:off x="609600" y="541972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ctr">
            <a:noAutofit/>
          </a:bodyPr>
          <a:lstStyle/>
          <a:p>
            <a:pPr algn="ctr"/>
            <a14:m>
              <m:oMathPara>
                <m:oMath>
                  <m:r>
                    <w:rPr>
                      <w:sz w:val="42"/>
                      <w:rFonts w:ascii="Cambria Math" w:hAnsi="Cambria Math" w:eastAsia="Cambria Math"/>
                    </w:rPr>
                    <m:t>S = min(</m:t>
                  </m:r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m:t>S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t>1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t>, </m:t>
                  </m:r>
                  <m:sSub>
                    <m:e>
                      <m:r>
                        <w:rPr>
                          <w:sz w:val="42"/>
                          <w:rFonts w:ascii="Cambria Math" w:hAnsi="Cambria Math" w:eastAsia="Cambria Math"/>
                        </w:rPr>
                        <m:t>T</m:t>
                      </m:r>
                    </m:e>
                    <m:sub>
                      <m:r>
                        <w:rPr>
                          <w:sz w:val="42"/>
                          <w:rFonts w:ascii="Cambria Math" w:hAnsi="Cambria Math" w:eastAsia="Cambria Math"/>
                        </w:rPr>
                        <m:t>m</m:t>
                      </m:r>
                    </m:sub>
                  </m:sSub>
                  <m:r>
                    <w:rPr>
                      <w:sz w:val="42"/>
                      <w:rFonts w:ascii="Cambria Math" w:hAnsi="Cambria Math" w:eastAsia="Cambria Math"/>
                    </w:rPr>
                    <m:t> − 1)   [irrelevant]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86709692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4746B5D1-370D-4F71-94A6-BCE2444F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6CB4D8FB-E917-4D62-83A8-D230EF7C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A8 辅助评估字段的实际语义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13647BAB-4B07-4A47-A892-A41A7D43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4F207C9-9F58-477F-BFE7-9C54E02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D4B5A16-D8B4-451B-BDFF-7778EBEF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defense_analysis.py；代码代数核对与已有回归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1EE5C0CF-A6CE-4232-917B-56113074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42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ACA42CA4-D770-4480-9E42-ECC3A348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5E268078-65BC-48BB-8462-99DB6867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当前数量约束下，多成员足量分支化简为平均输入概率；仅作模型定义解释。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61118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字段／方法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实际含义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61118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combinedDetectionProbability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覆盖代表点的输入概率组合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独立事件形式，未校准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allocatedResourceCount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本次请求内分配数量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不跨请求持久扣库存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1118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responseTimeSeconds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已分配资源响应时间汇总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ETA缺失时不受ETA门控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successRate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旧模型公式适配值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不等于实测效能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11188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available / partial / unavailable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输入与可计算状态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不等同能力足够／不足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3929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0">
            <a:extLst xmlns:a="http://schemas.openxmlformats.org/drawingml/2006/main">
              <a:ext uri="{FF2B5EF4-FFF2-40B4-BE49-F238E27FC236}">
                <a16:creationId xmlns:a16="http://schemas.microsoft.com/office/drawing/2014/main" id="{8DBAA5F5-5FEE-4291-B385-2F4EABD8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A8705F88-F7A2-4A38-B738-C161A632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A9 完整性能矩阵与缓存一致性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AE46C57F-EB80-4308-8EBA-9325C1B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7E7D10F-617F-439F-B66D-33974D7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3EC875AF-5791-4518-8F15-7CD9BD8C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results.json/api；cache_difference_audit.json；单位ms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A076050-D876-4B5F-A566-1338F9E4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43 / 44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12AB3611-1740-4EDB-9BDC-F2D63EBE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分散布局（中位／P95，ms）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2115ACD2-866E-4140-893B-F8D7C5D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密集布局（中位／P95，ms）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69EF2C1D-65C5-444E-857D-354D2BF1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缓存计算次数：3400 → 1700（各17次请求）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1EBA9486-2571-4E27-A2CD-4D4F732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False复核仅为debug.generatedAt；排除调试时间后算法data一致</a:t>
            </a:r>
          </a:p>
        </p:txBody>
      </p:sp>
      <p:sp>
        <p:nvSpPr>
          <p:cNvPr id="11" name="line-8">
            <a:extLst xmlns:a="http://schemas.openxmlformats.org/drawingml/2006/main">
              <a:ext uri="{FF2B5EF4-FFF2-40B4-BE49-F238E27FC236}">
                <a16:creationId xmlns:a16="http://schemas.microsoft.com/office/drawing/2014/main" id="{D9DC7FDB-0CB8-4151-8704-D93BFFB4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0102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F84D1985-0E71-490D-AFE7-B7E6915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240输入点仅保留121意图点；真实并发、冷启动和高频240有效点未测。</a:t>
            </a:r>
          </a:p>
        </p:txBody>
      </p:sp>
      <p:graphicFrame xmlns:a="http://schemas.openxmlformats.org/drawingml/2006/main">
        <p:nvGraphicFramePr>
          <p:cNvPr id="7001" name="Table 13"/>
          <p:cNvGraphicFramePr>
            <a:graphicFrameLocks noGrp="1"/>
          </p:cNvGraphicFramePr>
          <p:nvPr/>
        </p:nvGraphicFramePr>
        <p:xfrm>
          <a:off x="609600" y="2171700"/>
          <a:ext cx="5238748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975"/>
                <a:gridCol w="1430178"/>
                <a:gridCol w="1430178"/>
                <a:gridCol w="1435417"/>
              </a:tblGrid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目标数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120点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39.69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40.93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56.07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65.82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57.45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61.05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177.24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180.21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246.25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280.91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258.94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272.12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342.42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453.55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461.26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579.88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506.79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578.46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644.89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776.91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911.64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1181.71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1003.80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1308.94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  <p:graphicFrame xmlns:a="http://schemas.openxmlformats.org/drawingml/2006/main">
        <p:nvGraphicFramePr>
          <p:cNvPr id="7002" name="Table 14"/>
          <p:cNvGraphicFramePr>
            <a:graphicFrameLocks noGrp="1"/>
          </p:cNvGraphicFramePr>
          <p:nvPr/>
        </p:nvGraphicFramePr>
        <p:xfrm>
          <a:off x="6324600" y="2171700"/>
          <a:ext cx="5238748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975"/>
                <a:gridCol w="1430178"/>
                <a:gridCol w="1430178"/>
                <a:gridCol w="1435417"/>
              </a:tblGrid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目标数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120点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40.84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45.43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58.52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67.78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63.23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66.40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173.57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183.72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240.32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247.18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278.64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334.01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316.76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362.24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430.90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466.34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507.25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550.78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4483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595.16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628.59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859.13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935.11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964.60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1006.75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9778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62CC543D-A27D-4763-9AFC-F3EC4834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CC24E72-46FE-4173-9346-5A9AD378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A10 独立效果验证与复现实验设计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4E5560A3-768D-490D-8622-E0E259E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893AF7B-4429-470E-98F6-DCD1E5E6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6053DB0-D612-48C6-B133-EB685462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§12.3–§12.5；不填写未测准确率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5270720D-7EB9-43B8-983E-56660991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44 / 44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B063C0B4-E3CB-4840-99B2-4C708D9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377F5DAF-C81C-4867-903C-5F3B7773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生产并发、网络、完整冷启动和长时间尾部仍待验证。</a:t>
            </a:r>
          </a:p>
        </p:txBody>
      </p:sp>
      <p:graphicFrame xmlns:a="http://schemas.openxmlformats.org/drawingml/2006/main">
        <p:nvGraphicFramePr>
          <p:cNvPr id="7001" name="Table 9"/>
          <p:cNvGraphicFramePr>
            <a:graphicFrameLocks noGrp="1"/>
          </p:cNvGraphicFramePr>
          <p:nvPr/>
        </p:nvGraphicFramePr>
        <p:xfrm>
          <a:off x="609600" y="1752600"/>
          <a:ext cx="109728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3072384"/>
                <a:gridCol w="3730752"/>
                <a:gridCol w="2852928"/>
              </a:tblGrid>
              <a:tr h="5170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独立依据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170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聚类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成员归属标签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成对P/R、分组合并拆分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功能回归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170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队形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独立轨迹与群规模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混淆矩阵、macro-F1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功能回归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170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意图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专家标注与正常样本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精确率／召回率、误报漏报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规则回归＋案例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170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威胁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专家等级与解释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等级一致、排序合理性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规则回归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170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ETA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真实抵达事件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误差、偏差、无效比例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基础功能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  <a:tr h="51707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性能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固定设备／窗口／规模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中位数／P95、内存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24组串行＋局部对照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186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2026-10-25T08:48:35.9920000Z</dcterms:created>
  <dcterms:modified xsi:type="dcterms:W3CDTF">2026-10-25T08:48:35.9920000Z</dcterms:modified>
</coreProperties>
</file>